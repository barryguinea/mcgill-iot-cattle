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toutes et tous. Je m'appelle Aliou Barry, je suis étudiant à la maîtrise en informatique à l'UQAM. Mon mémoire porte sur la détection de boiterie bovine probable à partir de données capteurs IoT. Aujourd'hui je vais vous présenter le travail que j'ai réalisé, les résultats obtenus, et comment ça peut s'appliquer à votre projet sur le comportement bovin et l'exercice.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plan. Je vais d'abord situer la problématique, puis décrire les données et le capteur utilisé. Ensuite l'architecture du système, les résultats de validation à deux niveaux, l'interface que j'ai développée, et les contributions. En dernier, je ferai le pont avec votre projet McGill pour qu'on discute de comment mon travail peut vous être utile.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la problématique.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boiterie est la 2e cause de réforme en élevage laitier. Elle touche entre 20 et 55% des vaches selon les études. Le problème est que la détection repose souvent sur l'observation visuelle, qui est subjective et tardive. Les capteurs IoT comme les accéléromètres permettent un suivi continu, mais on n'a pas de labels cliniques — pas de vétérinaire qui confirme chaque cas. D'où mon approche : utiliser la détection d'anomalies non supervisée. L'objectif est un système reproductible, interprétable et défendable scientifiquement.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 viennent de capteurs IceQube, des accéléromètres tri-axiaux fixés à la patte arrière des vaches. Ils mesurent le Motion Index, les pas, le temps couché et debout, et les transitions. Tout est agrégé par tranches de 15 minutes. Mon corpus fait 37 839 lignes, 28 vaches, 41 jours. J'ai vérifié que les données exportées du capteur correspondent exactement à ce qu'affiche la plateforme CowAlert — corrélation parfaite de 1.000. Le capteur est similaire à l'IceTag que vous utilisez dans vos expériences.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Voyons comment le système est construit.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cœur du système est une architecture hybride à deux couches. La première couche, c'est Isolation Forest, un algorithme non supervisé qui isole les points rares dans l'espace des features. Je calcule des z-scores roulants sur 5 variables comportementales. La deuxième couche, ce sont des règles métier explicites : persistance temporelle — un épisode doit durer au moins 7 heures pour être retenu — cohérence multi-signaux — il faut que plusieurs familles de signaux soient affectées — et un cooldown pour éviter de spammer l'éleveur. L'idée est que IF détecte les anomalies, et les règles filtrent les faux positifs. Le résultat final, ce sont des notifications actionnables.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pipeline de bout en bout. On part des CSV bruts du capteur. On nettoie et rééchantillonne. On calcule les z-scores roulants comme features. Isolation Forest produit un score d'anomalie par bin de 15 minutes. Les règles métier filtrent : persistance de 7 heures minimum, cohérence multi-signaux, et cooldown entre notifications. En sortie, on a des épisodes de boiterie probable accompagnés d'un score de confiance. Tout ce pipeline est modulaire, reproductible, et exécutable en ligne de commande ou via l'interface Streamlit.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Passons aux résultats. J'ai validé le système à deux niveaux complémentaires.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validation manuelle consiste à injecter des perturbations synthétiques dans les données d'une vache et vérifier que le système détecte correctement. Résultat : les deux événements détectables sont récupérés avec un recouvrement IoU supérieur à 0.35. L'événement volontairement non détectable reste silencieux. Et surtout, l'impact est localisé : seule la vache cible est affectée, les 27 autres restent parfaitement stables. Ça montre la spécificité du système.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validation robuste, c'est l'épreuve du feu. 9 500 runs sur 336 configurations, 8 seeds différentes, 3 profils d'injection. Résultat : 100% de détection sur les cas forts, zéro fuite sur les cas non détectables, et 0.105 fausses alertes par vache et par jour. L'accord entre deux campagnes indépendantes v5.1 et v5.2 atteint 91.7%, ce qui confirme la stabilité. Et le système tourne en environ 0.6 seconde par vache, donc c'est scalable pour un troupeau de taille réelle.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L'étude d'ablation montre que chaque composante est nécessaire. Si on enlève les règles et qu'on garde IF seul, on détecte tout mais sans aucune précision. Si on enlève IF et qu'on garde les règles seules, on a 3.2 fois plus de fausses alertes. Fait intéressant : LOF + règles obtient un meilleur score sur les faux positifs, ce qui ouvre une piste d'amélioration avec un ensemble hybride IF-LOF. Le point important : je montre honnêtement les alternatives, je ne masque pas qu'il y a des variantes potentiellement meilleures sur certains critères.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J'ai développé une interface Streamlit pour rendre le système accessible à un éleveur ou un technicien. 4 onglets : analyse individuelle d'une vache, classement du troupeau par risque, carte de chaleur des alertes, et export CSV. Tous les paramètres sont ajustables en temps réel. Un point important pour vous : l'interface est strictement séparée de la logique scientifique. Elle appelle les mêmes fonctions que les scripts de validation. Ce pattern de séparation est directement transposable à d'autres projets.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Voyons ce que ce travail apporte et ses limites.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contributions, le mémoire délivre un pipeline complet et modulaire, une validation à deux niveaux avec plus de 9 500 runs, une ablation honnête, une traçabilité expérimentale complète, et le code est open source. Les limites principales : pas de validation clinique au sens strict — je travaille avec des injections synthétiques, pas des cas confirmés par un vétérinaire. Et le système n'a été testé que sur un seul corpus, une seule ferme. C'est justement là que votre projet McGill est intéressant : vous avez des données multi-fermes, multi-essais, et surtout un contexte scientifique avec des observations terrain.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la partie qui nous réunit : en quoi ce travail peut aider sur votre projet McGill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j'apporte concrètement : j'ai déjà construit un pipeline complet sur des données capteurs bovines. Les capteurs sont similaires — IceQube dans mon mémoire, IceTag dans vos essais. Mon expérience en nettoyage, harmonisation, feature engineering et visualisation est directement transférable. Votre projet pose une question différente — pas la détection de boiterie, mais l'effet de l'environnement et des conditions d'exercice sur la locomotion. J'ai déjà fait un audit initial de vos 6 fichiers CSV. J'ai identifié les hétérogénéités de schéma, les doublons, les questions à clarifier.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progression que je propose. Phase 1, l'audit, est déjà en cours. Phase 2, reproduire les résultats de l'article de Marjorie pour établir une base fiable. Phase 3, c'est le cœur : intégrer les données environnementales pour répondre à la vraie question. Mais ça dépend de la disponibilité de ces données. Phase 4, on va plus loin analytiquement si les signaux bruts le permettent. Phase 5, le livrable final : un notebook Jupyter utilisable de façon autonome par l'équipe. L'approche est progressive et réaliste — je ne promets pas du deep learning avant d'avoir validé que les données le justifient.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questions dont j'ai besoin de vos réponses pour avancer. Les plus critiques : est-ce que les signaux IceTag bruts à 1 minute existent ? Les données de température et humidité, à quelle fréquence ? Et les observations comportementales, sous quel format ? Vos réponses vont directement conditionner ce qu'on peut faire dans les phases 3 et 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pour votre attention. Je suis ouvert à toutes vos questions. Le code est disponible sur GitHub si vous voulez le consulter. Je suis très motivé par ce projet et j'ai hâte de collaborer avec vous.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1371600" y="1280160"/>
            <a:ext cx="6400800" cy="914400"/>
          </a:xfrm>
          <a:prstGeom prst="rect">
            <a:avLst/>
          </a:prstGeom>
          <a:noFill/>
        </p:spPr>
        <p:txBody>
          <a:bodyPr wrap="square">
            <a:spAutoFit/>
          </a:bodyPr>
          <a:lstStyle/>
          <a:p>
            <a:pPr algn="ctr">
              <a:defRPr sz="2200" b="1">
                <a:solidFill>
                  <a:srgbClr val="333333"/>
                </a:solidFill>
                <a:latin typeface="Comfortaa"/>
              </a:defRPr>
            </a:pPr>
            <a:r>
              <a:t>Détection de boiterie bovine probable</a:t>
            </a:r>
            <a:br/>
            <a:r>
              <a:t>à partir de données capteurs IoT</a:t>
            </a:r>
          </a:p>
        </p:txBody>
      </p:sp>
      <p:sp>
        <p:nvSpPr>
          <p:cNvPr id="4" name="TextBox 3"/>
          <p:cNvSpPr txBox="1"/>
          <p:nvPr/>
        </p:nvSpPr>
        <p:spPr>
          <a:xfrm>
            <a:off x="1371600" y="2377440"/>
            <a:ext cx="6400800" cy="365760"/>
          </a:xfrm>
          <a:prstGeom prst="rect">
            <a:avLst/>
          </a:prstGeom>
          <a:noFill/>
        </p:spPr>
        <p:txBody>
          <a:bodyPr wrap="square">
            <a:spAutoFit/>
          </a:bodyPr>
          <a:lstStyle/>
          <a:p>
            <a:pPr algn="ctr">
              <a:defRPr sz="1300" b="0">
                <a:solidFill>
                  <a:srgbClr val="666666"/>
                </a:solidFill>
                <a:latin typeface="Comfortaa"/>
              </a:defRPr>
            </a:pPr>
            <a:r>
              <a:t>Mémoire de maîtrise en informatique — UQAM</a:t>
            </a:r>
          </a:p>
        </p:txBody>
      </p:sp>
      <p:sp>
        <p:nvSpPr>
          <p:cNvPr id="5" name="TextBox 4"/>
          <p:cNvSpPr txBox="1"/>
          <p:nvPr/>
        </p:nvSpPr>
        <p:spPr>
          <a:xfrm>
            <a:off x="1371600" y="2926080"/>
            <a:ext cx="6400800" cy="274320"/>
          </a:xfrm>
          <a:prstGeom prst="rect">
            <a:avLst/>
          </a:prstGeom>
          <a:noFill/>
        </p:spPr>
        <p:txBody>
          <a:bodyPr wrap="square">
            <a:spAutoFit/>
          </a:bodyPr>
          <a:lstStyle/>
          <a:p>
            <a:pPr algn="ctr">
              <a:defRPr sz="1200" b="0">
                <a:solidFill>
                  <a:srgbClr val="666666"/>
                </a:solidFill>
                <a:latin typeface="Comfortaa"/>
              </a:defRPr>
            </a:pPr>
            <a:r>
              <a:t>Aliou Barry  ·  Avril 2026</a:t>
            </a:r>
          </a:p>
        </p:txBody>
      </p:sp>
      <p:sp>
        <p:nvSpPr>
          <p:cNvPr id="6" name="TextBox 5"/>
          <p:cNvSpPr txBox="1"/>
          <p:nvPr/>
        </p:nvSpPr>
        <p:spPr>
          <a:xfrm>
            <a:off x="1371600" y="3383280"/>
            <a:ext cx="6400800" cy="274320"/>
          </a:xfrm>
          <a:prstGeom prst="rect">
            <a:avLst/>
          </a:prstGeom>
          <a:noFill/>
        </p:spPr>
        <p:txBody>
          <a:bodyPr wrap="square">
            <a:spAutoFit/>
          </a:bodyPr>
          <a:lstStyle/>
          <a:p>
            <a:pPr algn="ctr">
              <a:defRPr sz="900" b="0">
                <a:solidFill>
                  <a:srgbClr val="999999"/>
                </a:solidFill>
                <a:latin typeface="Comfortaa"/>
              </a:defRPr>
            </a:pPr>
            <a:r>
              <a:t>Dir. : Abdoulaye Baniré Diallo  |  Codir. : Zakaria El Alaoui Ismaili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Plan de la présentation</a:t>
            </a:r>
          </a:p>
        </p:txBody>
      </p:sp>
      <p:sp>
        <p:nvSpPr>
          <p:cNvPr id="4" name="TextBox 3"/>
          <p:cNvSpPr txBox="1"/>
          <p:nvPr/>
        </p:nvSpPr>
        <p:spPr>
          <a:xfrm>
            <a:off x="731520" y="1371600"/>
            <a:ext cx="7315200" cy="3200400"/>
          </a:xfrm>
          <a:prstGeom prst="rect">
            <a:avLst/>
          </a:prstGeom>
          <a:noFill/>
        </p:spPr>
        <p:txBody>
          <a:bodyPr wrap="square">
            <a:spAutoFit/>
          </a:bodyPr>
          <a:lstStyle/>
          <a:p>
            <a:pPr algn="l">
              <a:spcAft>
                <a:spcPts val="400"/>
              </a:spcAft>
              <a:defRPr sz="1400" b="0">
                <a:solidFill>
                  <a:srgbClr val="333333"/>
                </a:solidFill>
                <a:latin typeface="Comfortaa"/>
              </a:defRPr>
            </a:pPr>
            <a:r>
              <a:t>1.  Problématique et objectifs</a:t>
            </a:r>
          </a:p>
          <a:p>
            <a:pPr algn="l">
              <a:spcAft>
                <a:spcPts val="400"/>
              </a:spcAft>
              <a:defRPr sz="1400" b="0">
                <a:solidFill>
                  <a:srgbClr val="333333"/>
                </a:solidFill>
                <a:latin typeface="Comfortaa"/>
              </a:defRPr>
            </a:pPr>
            <a:r>
              <a:t>2.  Données et capteurs IoT</a:t>
            </a:r>
          </a:p>
          <a:p>
            <a:pPr algn="l">
              <a:spcAft>
                <a:spcPts val="400"/>
              </a:spcAft>
              <a:defRPr sz="1400" b="0">
                <a:solidFill>
                  <a:srgbClr val="333333"/>
                </a:solidFill>
                <a:latin typeface="Comfortaa"/>
              </a:defRPr>
            </a:pPr>
            <a:r>
              <a:t>3.  Architecture du système</a:t>
            </a:r>
          </a:p>
          <a:p>
            <a:pPr algn="l">
              <a:spcAft>
                <a:spcPts val="400"/>
              </a:spcAft>
              <a:defRPr sz="1400" b="0">
                <a:solidFill>
                  <a:srgbClr val="333333"/>
                </a:solidFill>
                <a:latin typeface="Comfortaa"/>
              </a:defRPr>
            </a:pPr>
            <a:r>
              <a:t>4.  Résultats de validation</a:t>
            </a:r>
          </a:p>
          <a:p>
            <a:pPr algn="l">
              <a:spcAft>
                <a:spcPts val="400"/>
              </a:spcAft>
              <a:defRPr sz="1400" b="0">
                <a:solidFill>
                  <a:srgbClr val="333333"/>
                </a:solidFill>
                <a:latin typeface="Comfortaa"/>
              </a:defRPr>
            </a:pPr>
            <a:r>
              <a:t>5.  Interface Streamlit</a:t>
            </a:r>
          </a:p>
          <a:p>
            <a:pPr algn="l">
              <a:spcAft>
                <a:spcPts val="400"/>
              </a:spcAft>
              <a:defRPr sz="1400" b="0">
                <a:solidFill>
                  <a:srgbClr val="333333"/>
                </a:solidFill>
                <a:latin typeface="Comfortaa"/>
              </a:defRPr>
            </a:pPr>
            <a:r>
              <a:t>6.  Contributions et limites</a:t>
            </a:r>
          </a:p>
          <a:p>
            <a:pPr algn="l">
              <a:spcAft>
                <a:spcPts val="400"/>
              </a:spcAft>
              <a:defRPr sz="1400" b="0">
                <a:solidFill>
                  <a:srgbClr val="0070C0"/>
                </a:solidFill>
                <a:latin typeface="Comfortaa"/>
              </a:defRPr>
            </a:pPr>
            <a:r>
              <a:t>7.  Pont vers le projet McGill</a:t>
            </a:r>
          </a:p>
          <a:p>
            <a:pPr algn="l">
              <a:spcAft>
                <a:spcPts val="400"/>
              </a:spcAft>
              <a:defRPr sz="1400" b="0">
                <a:solidFill>
                  <a:srgbClr val="333333"/>
                </a:solidFill>
                <a:latin typeface="Comfortaa"/>
              </a:defRPr>
            </a:pPr>
            <a:r>
              <a:t>8.  Discussion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914400" y="1828800"/>
            <a:ext cx="7315200" cy="731520"/>
          </a:xfrm>
          <a:prstGeom prst="rect">
            <a:avLst/>
          </a:prstGeom>
          <a:noFill/>
        </p:spPr>
        <p:txBody>
          <a:bodyPr wrap="square">
            <a:spAutoFit/>
          </a:bodyPr>
          <a:lstStyle/>
          <a:p>
            <a:pPr algn="ctr">
              <a:defRPr sz="2600" b="1">
                <a:solidFill>
                  <a:srgbClr val="FFFFFF"/>
                </a:solidFill>
                <a:latin typeface="Comfortaa"/>
              </a:defRPr>
            </a:pPr>
            <a:r>
              <a:t>1. Problématique et objectifs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Problématique</a:t>
            </a:r>
          </a:p>
        </p:txBody>
      </p:sp>
      <p:sp>
        <p:nvSpPr>
          <p:cNvPr id="4" name="TextBox 3"/>
          <p:cNvSpPr txBox="1"/>
          <p:nvPr/>
        </p:nvSpPr>
        <p:spPr>
          <a:xfrm>
            <a:off x="731520" y="1325880"/>
            <a:ext cx="7772400" cy="3474720"/>
          </a:xfrm>
          <a:prstGeom prst="rect">
            <a:avLst/>
          </a:prstGeom>
          <a:noFill/>
        </p:spPr>
        <p:txBody>
          <a:bodyPr wrap="square">
            <a:spAutoFit/>
          </a:bodyPr>
          <a:lstStyle/>
          <a:p>
            <a:pPr algn="l">
              <a:spcAft>
                <a:spcPts val="400"/>
              </a:spcAft>
              <a:defRPr sz="1300" b="1">
                <a:solidFill>
                  <a:srgbClr val="333333"/>
                </a:solidFill>
                <a:latin typeface="Comfortaa"/>
              </a:defRPr>
            </a:pPr>
            <a:r>
              <a:t>La boiterie :</a:t>
            </a:r>
          </a:p>
          <a:p>
            <a:pPr algn="l">
              <a:spcAft>
                <a:spcPts val="300"/>
              </a:spcAft>
              <a:defRPr sz="1100" b="0">
                <a:solidFill>
                  <a:srgbClr val="333333"/>
                </a:solidFill>
                <a:latin typeface="Comfortaa"/>
              </a:defRPr>
            </a:pPr>
            <a:r>
              <a:t>  •  2e cause de réforme en élevage laitier</a:t>
            </a:r>
          </a:p>
          <a:p>
            <a:pPr algn="l">
              <a:spcAft>
                <a:spcPts val="300"/>
              </a:spcAft>
              <a:defRPr sz="1100" b="0">
                <a:solidFill>
                  <a:srgbClr val="333333"/>
                </a:solidFill>
                <a:latin typeface="Comfortaa"/>
              </a:defRPr>
            </a:pPr>
            <a:r>
              <a:t>  •  Prévalence : 20–55% selon les études</a:t>
            </a:r>
          </a:p>
          <a:p>
            <a:pPr algn="l">
              <a:spcAft>
                <a:spcPts val="300"/>
              </a:spcAft>
              <a:defRPr sz="1100" b="0">
                <a:solidFill>
                  <a:srgbClr val="333333"/>
                </a:solidFill>
                <a:latin typeface="Comfortaa"/>
              </a:defRPr>
            </a:pPr>
            <a:r>
              <a:t>  •  Détection tardive → pertes économiques et souffrance animale</a:t>
            </a:r>
          </a:p>
          <a:p>
            <a:pPr algn="l">
              <a:spcAft>
                <a:spcPts val="300"/>
              </a:spcAft>
              <a:defRPr sz="1100" b="0">
                <a:solidFill>
                  <a:srgbClr val="333333"/>
                </a:solidFill>
                <a:latin typeface="Comfortaa"/>
              </a:defRPr>
            </a:pPr>
            <a:r>
              <a:t>  •  Observation visuelle subjective et chronophage</a:t>
            </a:r>
          </a:p>
          <a:p>
            <a:pPr algn="l">
              <a:spcAft>
                <a:spcPts val="200"/>
              </a:spcAft>
              <a:defRPr sz="600" b="0">
                <a:solidFill>
                  <a:srgbClr val="333333"/>
                </a:solidFill>
                <a:latin typeface="Comfortaa"/>
              </a:defRPr>
            </a:pPr>
          </a:p>
          <a:p>
            <a:pPr algn="l">
              <a:spcAft>
                <a:spcPts val="400"/>
              </a:spcAft>
              <a:defRPr sz="1300" b="1">
                <a:solidFill>
                  <a:srgbClr val="0070C0"/>
                </a:solidFill>
                <a:latin typeface="Comfortaa"/>
              </a:defRPr>
            </a:pPr>
            <a:r>
              <a:t>Opportunité IoT :</a:t>
            </a:r>
          </a:p>
          <a:p>
            <a:pPr algn="l">
              <a:spcAft>
                <a:spcPts val="300"/>
              </a:spcAft>
              <a:defRPr sz="1100" b="0">
                <a:solidFill>
                  <a:srgbClr val="333333"/>
                </a:solidFill>
                <a:latin typeface="Comfortaa"/>
              </a:defRPr>
            </a:pPr>
            <a:r>
              <a:t>  •  Capteurs accéléromètres → données comportementales continues</a:t>
            </a:r>
          </a:p>
          <a:p>
            <a:pPr algn="l">
              <a:spcAft>
                <a:spcPts val="300"/>
              </a:spcAft>
              <a:defRPr sz="1100" b="0">
                <a:solidFill>
                  <a:srgbClr val="333333"/>
                </a:solidFill>
                <a:latin typeface="Comfortaa"/>
              </a:defRPr>
            </a:pPr>
            <a:r>
              <a:t>  •  Mais : pas de labels cliniques disponibles</a:t>
            </a:r>
          </a:p>
          <a:p>
            <a:pPr algn="l">
              <a:spcAft>
                <a:spcPts val="300"/>
              </a:spcAft>
              <a:defRPr sz="1100" b="1">
                <a:solidFill>
                  <a:srgbClr val="C1272D"/>
                </a:solidFill>
                <a:latin typeface="Comfortaa"/>
              </a:defRPr>
            </a:pPr>
            <a:r>
              <a:t>  •  → approche non supervisée nécessaire</a:t>
            </a:r>
          </a:p>
          <a:p>
            <a:pPr algn="l">
              <a:spcAft>
                <a:spcPts val="200"/>
              </a:spcAft>
              <a:defRPr sz="600" b="0">
                <a:solidFill>
                  <a:srgbClr val="333333"/>
                </a:solidFill>
                <a:latin typeface="Comfortaa"/>
              </a:defRPr>
            </a:pPr>
          </a:p>
          <a:p>
            <a:pPr algn="l">
              <a:spcAft>
                <a:spcPts val="400"/>
              </a:spcAft>
              <a:defRPr sz="1300" b="1">
                <a:solidFill>
                  <a:srgbClr val="2E7D32"/>
                </a:solidFill>
                <a:latin typeface="Comfortaa"/>
              </a:defRPr>
            </a:pPr>
            <a:r>
              <a:t>Objectif du mémoire :</a:t>
            </a:r>
          </a:p>
          <a:p>
            <a:pPr algn="l">
              <a:spcAft>
                <a:spcPts val="400"/>
              </a:spcAft>
              <a:defRPr sz="1200" b="1">
                <a:solidFill>
                  <a:srgbClr val="333333"/>
                </a:solidFill>
                <a:latin typeface="Comfortaa"/>
              </a:defRPr>
            </a:pPr>
            <a:r>
              <a:t>  Concevoir un système reproductible de détection de boiterie probable</a:t>
            </a:r>
          </a:p>
          <a:p>
            <a:pPr algn="l">
              <a:spcAft>
                <a:spcPts val="400"/>
              </a:spcAft>
              <a:defRPr sz="1200" b="0">
                <a:solidFill>
                  <a:srgbClr val="333333"/>
                </a:solidFill>
                <a:latin typeface="Comfortaa"/>
              </a:defRPr>
            </a:pPr>
            <a:r>
              <a:t>  à partir de données capteurs, interprétable et scientifiquement défendable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Données et capteurs IoT</a:t>
            </a:r>
          </a:p>
        </p:txBody>
      </p:sp>
      <p:sp>
        <p:nvSpPr>
          <p:cNvPr id="4" name="TextBox 3"/>
          <p:cNvSpPr txBox="1"/>
          <p:nvPr/>
        </p:nvSpPr>
        <p:spPr>
          <a:xfrm>
            <a:off x="731520" y="1325880"/>
            <a:ext cx="3840480" cy="3200400"/>
          </a:xfrm>
          <a:prstGeom prst="rect">
            <a:avLst/>
          </a:prstGeom>
          <a:noFill/>
        </p:spPr>
        <p:txBody>
          <a:bodyPr wrap="square">
            <a:spAutoFit/>
          </a:bodyPr>
          <a:lstStyle/>
          <a:p>
            <a:pPr algn="l">
              <a:spcAft>
                <a:spcPts val="400"/>
              </a:spcAft>
              <a:defRPr sz="1300" b="1">
                <a:solidFill>
                  <a:srgbClr val="333333"/>
                </a:solidFill>
                <a:latin typeface="Comfortaa"/>
              </a:defRPr>
            </a:pPr>
            <a:r>
              <a:t>Capteur IceQube (IceRobotics)</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Accéléromètre tri-axial</a:t>
            </a:r>
          </a:p>
          <a:p>
            <a:pPr algn="l">
              <a:spcAft>
                <a:spcPts val="300"/>
              </a:spcAft>
              <a:defRPr sz="1100" b="0">
                <a:solidFill>
                  <a:srgbClr val="333333"/>
                </a:solidFill>
                <a:latin typeface="Comfortaa"/>
              </a:defRPr>
            </a:pPr>
            <a:r>
              <a:t>  •  Fixé à la patte arrière</a:t>
            </a:r>
          </a:p>
          <a:p>
            <a:pPr algn="l">
              <a:spcAft>
                <a:spcPts val="300"/>
              </a:spcAft>
              <a:defRPr sz="1100" b="0">
                <a:solidFill>
                  <a:srgbClr val="333333"/>
                </a:solidFill>
                <a:latin typeface="Comfortaa"/>
              </a:defRPr>
            </a:pPr>
            <a:r>
              <a:t>  •  Agrégation : 15 min</a:t>
            </a:r>
          </a:p>
          <a:p>
            <a:pPr algn="l">
              <a:spcAft>
                <a:spcPts val="200"/>
              </a:spcAft>
              <a:defRPr sz="600" b="0">
                <a:solidFill>
                  <a:srgbClr val="333333"/>
                </a:solidFill>
                <a:latin typeface="Comfortaa"/>
              </a:defRPr>
            </a:pPr>
          </a:p>
          <a:p>
            <a:pPr algn="l">
              <a:spcAft>
                <a:spcPts val="400"/>
              </a:spcAft>
              <a:defRPr sz="1200" b="1">
                <a:solidFill>
                  <a:srgbClr val="0070C0"/>
                </a:solidFill>
                <a:latin typeface="Comfortaa"/>
              </a:defRPr>
            </a:pPr>
            <a:r>
              <a:t>Variables mesurées :</a:t>
            </a:r>
          </a:p>
          <a:p>
            <a:pPr algn="l">
              <a:spcAft>
                <a:spcPts val="300"/>
              </a:spcAft>
              <a:defRPr sz="1100" b="0">
                <a:solidFill>
                  <a:srgbClr val="333333"/>
                </a:solidFill>
                <a:latin typeface="Comfortaa"/>
              </a:defRPr>
            </a:pPr>
            <a:r>
              <a:t>  •  Motion Index</a:t>
            </a:r>
          </a:p>
          <a:p>
            <a:pPr algn="l">
              <a:spcAft>
                <a:spcPts val="300"/>
              </a:spcAft>
              <a:defRPr sz="1100" b="0">
                <a:solidFill>
                  <a:srgbClr val="333333"/>
                </a:solidFill>
                <a:latin typeface="Comfortaa"/>
              </a:defRPr>
            </a:pPr>
            <a:r>
              <a:t>  •  Nombre de pas</a:t>
            </a:r>
          </a:p>
          <a:p>
            <a:pPr algn="l">
              <a:spcAft>
                <a:spcPts val="300"/>
              </a:spcAft>
              <a:defRPr sz="1100" b="0">
                <a:solidFill>
                  <a:srgbClr val="333333"/>
                </a:solidFill>
                <a:latin typeface="Comfortaa"/>
              </a:defRPr>
            </a:pPr>
            <a:r>
              <a:t>  •  Temps couché / debout</a:t>
            </a:r>
          </a:p>
          <a:p>
            <a:pPr algn="l">
              <a:spcAft>
                <a:spcPts val="300"/>
              </a:spcAft>
              <a:defRPr sz="1100" b="0">
                <a:solidFill>
                  <a:srgbClr val="333333"/>
                </a:solidFill>
                <a:latin typeface="Comfortaa"/>
              </a:defRPr>
            </a:pPr>
            <a:r>
              <a:t>  •  Transitions (lever/coucher)</a:t>
            </a:r>
          </a:p>
        </p:txBody>
      </p:sp>
      <p:sp>
        <p:nvSpPr>
          <p:cNvPr id="5" name="TextBox 4"/>
          <p:cNvSpPr txBox="1"/>
          <p:nvPr/>
        </p:nvSpPr>
        <p:spPr>
          <a:xfrm>
            <a:off x="4846320" y="1325880"/>
            <a:ext cx="3840480" cy="3200400"/>
          </a:xfrm>
          <a:prstGeom prst="rect">
            <a:avLst/>
          </a:prstGeom>
          <a:noFill/>
        </p:spPr>
        <p:txBody>
          <a:bodyPr wrap="square">
            <a:spAutoFit/>
          </a:bodyPr>
          <a:lstStyle/>
          <a:p>
            <a:pPr algn="l">
              <a:spcAft>
                <a:spcPts val="400"/>
              </a:spcAft>
              <a:defRPr sz="1300" b="1">
                <a:solidFill>
                  <a:srgbClr val="333333"/>
                </a:solidFill>
                <a:latin typeface="Comfortaa"/>
              </a:defRPr>
            </a:pPr>
            <a:r>
              <a:t>Corpus du mémoire</a:t>
            </a:r>
          </a:p>
          <a:p>
            <a:pPr algn="l">
              <a:spcAft>
                <a:spcPts val="100"/>
              </a:spcAft>
              <a:defRPr sz="400" b="0">
                <a:solidFill>
                  <a:srgbClr val="333333"/>
                </a:solidFill>
                <a:latin typeface="Comfortaa"/>
              </a:defRPr>
            </a:pPr>
          </a:p>
          <a:p>
            <a:pPr algn="l">
              <a:spcAft>
                <a:spcPts val="400"/>
              </a:spcAft>
              <a:defRPr sz="1200" b="1">
                <a:solidFill>
                  <a:srgbClr val="2E7D32"/>
                </a:solidFill>
                <a:latin typeface="Comfortaa"/>
              </a:defRPr>
            </a:pPr>
            <a:r>
              <a:t>  •  37 839 lignes</a:t>
            </a:r>
          </a:p>
          <a:p>
            <a:pPr algn="l">
              <a:spcAft>
                <a:spcPts val="400"/>
              </a:spcAft>
              <a:defRPr sz="1200" b="0">
                <a:solidFill>
                  <a:srgbClr val="333333"/>
                </a:solidFill>
                <a:latin typeface="Comfortaa"/>
              </a:defRPr>
            </a:pPr>
            <a:r>
              <a:t>  •  28 vaches</a:t>
            </a:r>
          </a:p>
          <a:p>
            <a:pPr algn="l">
              <a:spcAft>
                <a:spcPts val="400"/>
              </a:spcAft>
              <a:defRPr sz="1200" b="0">
                <a:solidFill>
                  <a:srgbClr val="333333"/>
                </a:solidFill>
                <a:latin typeface="Comfortaa"/>
              </a:defRPr>
            </a:pPr>
            <a:r>
              <a:t>  •  41 jours</a:t>
            </a:r>
          </a:p>
          <a:p>
            <a:pPr algn="l">
              <a:spcAft>
                <a:spcPts val="400"/>
              </a:spcAft>
              <a:defRPr sz="1200" b="0">
                <a:solidFill>
                  <a:srgbClr val="333333"/>
                </a:solidFill>
                <a:latin typeface="Comfortaa"/>
              </a:defRPr>
            </a:pPr>
            <a:r>
              <a:t>  •  Oct.–Nov. 2023</a:t>
            </a:r>
          </a:p>
          <a:p>
            <a:pPr algn="l">
              <a:spcAft>
                <a:spcPts val="200"/>
              </a:spcAft>
              <a:defRPr sz="600" b="0">
                <a:solidFill>
                  <a:srgbClr val="333333"/>
                </a:solidFill>
                <a:latin typeface="Comfortaa"/>
              </a:defRPr>
            </a:pPr>
          </a:p>
          <a:p>
            <a:pPr algn="l">
              <a:spcAft>
                <a:spcPts val="400"/>
              </a:spcAft>
              <a:defRPr sz="1200" b="1">
                <a:solidFill>
                  <a:srgbClr val="0070C0"/>
                </a:solidFill>
                <a:latin typeface="Comfortaa"/>
              </a:defRPr>
            </a:pPr>
            <a:r>
              <a:t>Vérifications :</a:t>
            </a:r>
          </a:p>
          <a:p>
            <a:pPr algn="l">
              <a:spcAft>
                <a:spcPts val="300"/>
              </a:spcAft>
              <a:defRPr sz="1100" b="0">
                <a:solidFill>
                  <a:srgbClr val="333333"/>
                </a:solidFill>
                <a:latin typeface="Comfortaa"/>
              </a:defRPr>
            </a:pPr>
            <a:r>
              <a:t>  •  Corrélation CSV/CowAlert :</a:t>
            </a:r>
          </a:p>
          <a:p>
            <a:pPr algn="l">
              <a:spcAft>
                <a:spcPts val="300"/>
              </a:spcAft>
              <a:defRPr sz="1100" b="1">
                <a:solidFill>
                  <a:srgbClr val="2E7D32"/>
                </a:solidFill>
                <a:latin typeface="Comfortaa"/>
              </a:defRPr>
            </a:pPr>
            <a:r>
              <a:t>     r = 1.000</a:t>
            </a:r>
          </a:p>
          <a:p>
            <a:pPr algn="l">
              <a:spcAft>
                <a:spcPts val="300"/>
              </a:spcAft>
              <a:defRPr sz="1100" b="0">
                <a:solidFill>
                  <a:srgbClr val="333333"/>
                </a:solidFill>
                <a:latin typeface="Comfortaa"/>
              </a:defRPr>
            </a:pPr>
            <a:r>
              <a:t>  •  Fuseau UTC → EST corrigé</a:t>
            </a:r>
          </a:p>
          <a:p>
            <a:pPr algn="l">
              <a:spcAft>
                <a:spcPts val="300"/>
              </a:spcAft>
              <a:defRPr sz="1100" b="0">
                <a:solidFill>
                  <a:srgbClr val="333333"/>
                </a:solidFill>
                <a:latin typeface="Comfortaa"/>
              </a:defRPr>
            </a:pPr>
            <a:r>
              <a:t>  •  0 valeur manquante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914400" y="1828800"/>
            <a:ext cx="7315200" cy="731520"/>
          </a:xfrm>
          <a:prstGeom prst="rect">
            <a:avLst/>
          </a:prstGeom>
          <a:noFill/>
        </p:spPr>
        <p:txBody>
          <a:bodyPr wrap="square">
            <a:spAutoFit/>
          </a:bodyPr>
          <a:lstStyle/>
          <a:p>
            <a:pPr algn="ctr">
              <a:defRPr sz="2600" b="1">
                <a:solidFill>
                  <a:srgbClr val="FFFFFF"/>
                </a:solidFill>
                <a:latin typeface="Comfortaa"/>
              </a:defRPr>
            </a:pPr>
            <a:r>
              <a:t>3. Architecture du système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Architecture hybride : IF + règles métier</a:t>
            </a:r>
          </a:p>
        </p:txBody>
      </p:sp>
      <p:sp>
        <p:nvSpPr>
          <p:cNvPr id="4" name="TextBox 3"/>
          <p:cNvSpPr txBox="1"/>
          <p:nvPr/>
        </p:nvSpPr>
        <p:spPr>
          <a:xfrm>
            <a:off x="731520" y="1325880"/>
            <a:ext cx="7772400" cy="3657600"/>
          </a:xfrm>
          <a:prstGeom prst="rect">
            <a:avLst/>
          </a:prstGeom>
          <a:noFill/>
        </p:spPr>
        <p:txBody>
          <a:bodyPr wrap="square">
            <a:spAutoFit/>
          </a:bodyPr>
          <a:lstStyle/>
          <a:p>
            <a:pPr algn="l">
              <a:spcAft>
                <a:spcPts val="400"/>
              </a:spcAft>
              <a:defRPr sz="1300" b="1">
                <a:solidFill>
                  <a:srgbClr val="0070C0"/>
                </a:solidFill>
                <a:latin typeface="Comfortaa"/>
              </a:defRPr>
            </a:pPr>
            <a:r>
              <a:t>Couche 1 — Détection d'anomalies (Isolation Forest)</a:t>
            </a:r>
          </a:p>
          <a:p>
            <a:pPr algn="l">
              <a:spcAft>
                <a:spcPts val="300"/>
              </a:spcAft>
              <a:defRPr sz="1100" b="0">
                <a:solidFill>
                  <a:srgbClr val="333333"/>
                </a:solidFill>
                <a:latin typeface="Comfortaa"/>
              </a:defRPr>
            </a:pPr>
            <a:r>
              <a:t>  •  Algorithme non supervisé : isole les points « rares » dans l'espace des features</a:t>
            </a:r>
          </a:p>
          <a:p>
            <a:pPr algn="l">
              <a:spcAft>
                <a:spcPts val="300"/>
              </a:spcAft>
              <a:defRPr sz="1100" b="0">
                <a:solidFill>
                  <a:srgbClr val="333333"/>
                </a:solidFill>
                <a:latin typeface="Comfortaa"/>
              </a:defRPr>
            </a:pPr>
            <a:r>
              <a:t>  •  Features : z-scores roulants sur Motion Index, pas, temps couché, debout, transitions</a:t>
            </a:r>
          </a:p>
          <a:p>
            <a:pPr algn="l">
              <a:spcAft>
                <a:spcPts val="300"/>
              </a:spcAft>
              <a:defRPr sz="1000" b="0">
                <a:solidFill>
                  <a:srgbClr val="666666"/>
                </a:solidFill>
                <a:latin typeface="Comfortaa"/>
              </a:defRPr>
            </a:pPr>
            <a:r>
              <a:t>  •  Contamination = 0.06, baseline ratio = 0.5</a:t>
            </a:r>
          </a:p>
          <a:p>
            <a:pPr algn="l">
              <a:spcAft>
                <a:spcPts val="100"/>
              </a:spcAft>
              <a:defRPr sz="500" b="0">
                <a:solidFill>
                  <a:srgbClr val="333333"/>
                </a:solidFill>
                <a:latin typeface="Comfortaa"/>
              </a:defRPr>
            </a:pPr>
          </a:p>
          <a:p>
            <a:pPr algn="l">
              <a:spcAft>
                <a:spcPts val="400"/>
              </a:spcAft>
              <a:defRPr sz="1300" b="1">
                <a:solidFill>
                  <a:srgbClr val="0070C0"/>
                </a:solidFill>
                <a:latin typeface="Comfortaa"/>
              </a:defRPr>
            </a:pPr>
            <a:r>
              <a:t>Couche 2 — Règles métier explicites</a:t>
            </a:r>
          </a:p>
          <a:p>
            <a:pPr algn="l">
              <a:spcAft>
                <a:spcPts val="300"/>
              </a:spcAft>
              <a:defRPr sz="1100" b="0">
                <a:solidFill>
                  <a:srgbClr val="333333"/>
                </a:solidFill>
                <a:latin typeface="Comfortaa"/>
              </a:defRPr>
            </a:pPr>
            <a:r>
              <a:t>  •  Persistance temporelle : un épisode doit durer ≥ 7h (28 bins) pour être retenu</a:t>
            </a:r>
          </a:p>
          <a:p>
            <a:pPr algn="l">
              <a:spcAft>
                <a:spcPts val="300"/>
              </a:spcAft>
              <a:defRPr sz="1100" b="0">
                <a:solidFill>
                  <a:srgbClr val="333333"/>
                </a:solidFill>
                <a:latin typeface="Comfortaa"/>
              </a:defRPr>
            </a:pPr>
            <a:r>
              <a:t>  •  Cohérence multi-signaux (mode MIX) : au moins 2 familles de signaux doivent</a:t>
            </a:r>
          </a:p>
          <a:p>
            <a:pPr algn="l">
              <a:spcAft>
                <a:spcPts val="300"/>
              </a:spcAft>
              <a:defRPr sz="1100" b="0">
                <a:solidFill>
                  <a:srgbClr val="333333"/>
                </a:solidFill>
                <a:latin typeface="Comfortaa"/>
              </a:defRPr>
            </a:pPr>
            <a:r>
              <a:t>     être cohérentes (ex : pas ET temps couché)</a:t>
            </a:r>
          </a:p>
          <a:p>
            <a:pPr algn="l">
              <a:spcAft>
                <a:spcPts val="300"/>
              </a:spcAft>
              <a:defRPr sz="1100" b="0">
                <a:solidFill>
                  <a:srgbClr val="333333"/>
                </a:solidFill>
                <a:latin typeface="Comfortaa"/>
              </a:defRPr>
            </a:pPr>
            <a:r>
              <a:t>  •  Cooldown entre notifications : évite les alertes répétitives</a:t>
            </a:r>
          </a:p>
          <a:p>
            <a:pPr algn="l">
              <a:spcAft>
                <a:spcPts val="100"/>
              </a:spcAft>
              <a:defRPr sz="500" b="0">
                <a:solidFill>
                  <a:srgbClr val="333333"/>
                </a:solidFill>
                <a:latin typeface="Comfortaa"/>
              </a:defRPr>
            </a:pPr>
          </a:p>
          <a:p>
            <a:pPr algn="l">
              <a:spcAft>
                <a:spcPts val="400"/>
              </a:spcAft>
              <a:defRPr sz="1200" b="1">
                <a:solidFill>
                  <a:srgbClr val="2E7D32"/>
                </a:solidFill>
                <a:latin typeface="Comfortaa"/>
              </a:defRPr>
            </a:pPr>
            <a:r>
              <a:t>Résultat : signaux bruts → épisodes de boiterie probable → notifications actionnables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Pipeline complet</a:t>
            </a:r>
          </a:p>
        </p:txBody>
      </p:sp>
      <p:sp>
        <p:nvSpPr>
          <p:cNvPr id="4" name="TextBox 3"/>
          <p:cNvSpPr txBox="1"/>
          <p:nvPr/>
        </p:nvSpPr>
        <p:spPr>
          <a:xfrm>
            <a:off x="731520" y="1325880"/>
            <a:ext cx="7772400" cy="3657600"/>
          </a:xfrm>
          <a:prstGeom prst="rect">
            <a:avLst/>
          </a:prstGeom>
          <a:noFill/>
        </p:spPr>
        <p:txBody>
          <a:bodyPr wrap="square">
            <a:spAutoFit/>
          </a:bodyPr>
          <a:lstStyle/>
          <a:p>
            <a:pPr algn="l">
              <a:spcAft>
                <a:spcPts val="400"/>
              </a:spcAft>
              <a:defRPr sz="1300" b="1">
                <a:solidFill>
                  <a:srgbClr val="333333"/>
                </a:solidFill>
                <a:latin typeface="Comfortaa"/>
              </a:defRPr>
            </a:pPr>
            <a:r>
              <a:t>Données CSV brutes</a:t>
            </a:r>
          </a:p>
          <a:p>
            <a:pPr algn="l">
              <a:spcAft>
                <a:spcPts val="400"/>
              </a:spcAft>
              <a:defRPr sz="1200" b="0">
                <a:solidFill>
                  <a:srgbClr val="999999"/>
                </a:solidFill>
                <a:latin typeface="Comfortaa"/>
              </a:defRPr>
            </a:pPr>
            <a:r>
              <a:t>    ↓</a:t>
            </a:r>
          </a:p>
          <a:p>
            <a:pPr algn="l">
              <a:spcAft>
                <a:spcPts val="400"/>
              </a:spcAft>
              <a:defRPr sz="1200" b="0">
                <a:solidFill>
                  <a:srgbClr val="333333"/>
                </a:solidFill>
                <a:latin typeface="Comfortaa"/>
              </a:defRPr>
            </a:pPr>
            <a:r>
              <a:t>Nettoyage &amp; rééchantillonnage (15 min → 1h)</a:t>
            </a:r>
          </a:p>
          <a:p>
            <a:pPr algn="l">
              <a:spcAft>
                <a:spcPts val="400"/>
              </a:spcAft>
              <a:defRPr sz="1200" b="0">
                <a:solidFill>
                  <a:srgbClr val="999999"/>
                </a:solidFill>
                <a:latin typeface="Comfortaa"/>
              </a:defRPr>
            </a:pPr>
            <a:r>
              <a:t>    ↓</a:t>
            </a:r>
          </a:p>
          <a:p>
            <a:pPr algn="l">
              <a:spcAft>
                <a:spcPts val="400"/>
              </a:spcAft>
              <a:defRPr sz="1200" b="0">
                <a:solidFill>
                  <a:srgbClr val="333333"/>
                </a:solidFill>
                <a:latin typeface="Comfortaa"/>
              </a:defRPr>
            </a:pPr>
            <a:r>
              <a:t>Feature engineering : z-scores roulants (fenêtre glissante)</a:t>
            </a:r>
          </a:p>
          <a:p>
            <a:pPr algn="l">
              <a:spcAft>
                <a:spcPts val="400"/>
              </a:spcAft>
              <a:defRPr sz="1200" b="0">
                <a:solidFill>
                  <a:srgbClr val="999999"/>
                </a:solidFill>
                <a:latin typeface="Comfortaa"/>
              </a:defRPr>
            </a:pPr>
            <a:r>
              <a:t>    ↓</a:t>
            </a:r>
          </a:p>
          <a:p>
            <a:pPr algn="l">
              <a:spcAft>
                <a:spcPts val="400"/>
              </a:spcAft>
              <a:defRPr sz="1200" b="0">
                <a:solidFill>
                  <a:srgbClr val="0070C0"/>
                </a:solidFill>
                <a:latin typeface="Comfortaa"/>
              </a:defRPr>
            </a:pPr>
            <a:r>
              <a:t>Isolation Forest → score d'anomalie par bin</a:t>
            </a:r>
          </a:p>
          <a:p>
            <a:pPr algn="l">
              <a:spcAft>
                <a:spcPts val="400"/>
              </a:spcAft>
              <a:defRPr sz="1200" b="0">
                <a:solidFill>
                  <a:srgbClr val="999999"/>
                </a:solidFill>
                <a:latin typeface="Comfortaa"/>
              </a:defRPr>
            </a:pPr>
            <a:r>
              <a:t>    ↓</a:t>
            </a:r>
          </a:p>
          <a:p>
            <a:pPr algn="l">
              <a:spcAft>
                <a:spcPts val="400"/>
              </a:spcAft>
              <a:defRPr sz="1200" b="0">
                <a:solidFill>
                  <a:srgbClr val="0070C0"/>
                </a:solidFill>
                <a:latin typeface="Comfortaa"/>
              </a:defRPr>
            </a:pPr>
            <a:r>
              <a:t>Règles métier : persistance + cohérence MIX + cooldown</a:t>
            </a:r>
          </a:p>
          <a:p>
            <a:pPr algn="l">
              <a:spcAft>
                <a:spcPts val="400"/>
              </a:spcAft>
              <a:defRPr sz="1200" b="0">
                <a:solidFill>
                  <a:srgbClr val="999999"/>
                </a:solidFill>
                <a:latin typeface="Comfortaa"/>
              </a:defRPr>
            </a:pPr>
            <a:r>
              <a:t>    ↓</a:t>
            </a:r>
          </a:p>
          <a:p>
            <a:pPr algn="l">
              <a:spcAft>
                <a:spcPts val="400"/>
              </a:spcAft>
              <a:defRPr sz="1200" b="1">
                <a:solidFill>
                  <a:srgbClr val="C1272D"/>
                </a:solidFill>
                <a:latin typeface="Comfortaa"/>
              </a:defRPr>
            </a:pPr>
            <a:r>
              <a:t>Épisodes de boiterie probable</a:t>
            </a:r>
          </a:p>
          <a:p>
            <a:pPr algn="l">
              <a:spcAft>
                <a:spcPts val="400"/>
              </a:spcAft>
              <a:defRPr sz="1200" b="0">
                <a:solidFill>
                  <a:srgbClr val="999999"/>
                </a:solidFill>
                <a:latin typeface="Comfortaa"/>
              </a:defRPr>
            </a:pPr>
            <a:r>
              <a:t>    ↓</a:t>
            </a:r>
          </a:p>
          <a:p>
            <a:pPr algn="l">
              <a:spcAft>
                <a:spcPts val="400"/>
              </a:spcAft>
              <a:defRPr sz="1200" b="1">
                <a:solidFill>
                  <a:srgbClr val="2E7D32"/>
                </a:solidFill>
                <a:latin typeface="Comfortaa"/>
              </a:defRPr>
            </a:pPr>
            <a:r>
              <a:t>Notifications avec score de confiance (0–100)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914400" y="1828800"/>
            <a:ext cx="7315200" cy="731520"/>
          </a:xfrm>
          <a:prstGeom prst="rect">
            <a:avLst/>
          </a:prstGeom>
          <a:noFill/>
        </p:spPr>
        <p:txBody>
          <a:bodyPr wrap="square">
            <a:spAutoFit/>
          </a:bodyPr>
          <a:lstStyle/>
          <a:p>
            <a:pPr algn="ctr">
              <a:defRPr sz="2600" b="1">
                <a:solidFill>
                  <a:srgbClr val="FFFFFF"/>
                </a:solidFill>
                <a:latin typeface="Comfortaa"/>
              </a:defRPr>
            </a:pPr>
            <a:r>
              <a:t>4. Résultats de validation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Validation manuelle (v2.1)</a:t>
            </a:r>
          </a:p>
        </p:txBody>
      </p:sp>
      <p:sp>
        <p:nvSpPr>
          <p:cNvPr id="4" name="TextBox 3"/>
          <p:cNvSpPr txBox="1"/>
          <p:nvPr/>
        </p:nvSpPr>
        <p:spPr>
          <a:xfrm>
            <a:off x="731520" y="1325880"/>
            <a:ext cx="4114800" cy="1371600"/>
          </a:xfrm>
          <a:prstGeom prst="rect">
            <a:avLst/>
          </a:prstGeom>
          <a:noFill/>
        </p:spPr>
        <p:txBody>
          <a:bodyPr wrap="square">
            <a:spAutoFit/>
          </a:bodyPr>
          <a:lstStyle/>
          <a:p>
            <a:pPr algn="l">
              <a:spcAft>
                <a:spcPts val="400"/>
              </a:spcAft>
              <a:defRPr sz="1200" b="1">
                <a:solidFill>
                  <a:srgbClr val="333333"/>
                </a:solidFill>
                <a:latin typeface="Comfortaa"/>
              </a:defRPr>
            </a:pPr>
            <a:r>
              <a:t>Principe : injection de perturbations synthétiques</a:t>
            </a:r>
          </a:p>
          <a:p>
            <a:pPr algn="l">
              <a:spcAft>
                <a:spcPts val="400"/>
              </a:spcAft>
              <a:defRPr sz="1200" b="0">
                <a:solidFill>
                  <a:srgbClr val="333333"/>
                </a:solidFill>
                <a:latin typeface="Comfortaa"/>
              </a:defRPr>
            </a:pPr>
            <a:r>
              <a:t>dans les données d'une vache (8081)</a:t>
            </a:r>
          </a:p>
        </p:txBody>
      </p:sp>
      <p:graphicFrame>
        <p:nvGraphicFramePr>
          <p:cNvPr id="5" name="Table 4"/>
          <p:cNvGraphicFramePr>
            <a:graphicFrameLocks noGrp="1"/>
          </p:cNvGraphicFramePr>
          <p:nvPr/>
        </p:nvGraphicFramePr>
        <p:xfrm>
          <a:off x="548640" y="2468880"/>
          <a:ext cx="8046720" cy="1097280"/>
        </p:xfrm>
        <a:graphic>
          <a:graphicData uri="http://schemas.openxmlformats.org/drawingml/2006/table">
            <a:tbl>
              <a:tblPr firstRow="1" bandRow="1">
                <a:tableStyleId>{5C22544A-7EE6-4342-B048-85BDC9FD1C3A}</a:tableStyleId>
              </a:tblPr>
              <a:tblGrid>
                <a:gridCol w="1341120"/>
                <a:gridCol w="1341120"/>
                <a:gridCol w="1341120"/>
                <a:gridCol w="1341120"/>
                <a:gridCol w="1341120"/>
                <a:gridCol w="1341120"/>
              </a:tblGrid>
              <a:tr h="274320">
                <a:tc>
                  <a:txBody>
                    <a:bodyPr/>
                    <a:lstStyle/>
                    <a:p>
                      <a:pPr>
                        <a:defRPr sz="1000" b="1">
                          <a:solidFill>
                            <a:srgbClr val="FFFFFF"/>
                          </a:solidFill>
                          <a:latin typeface="Comfortaa"/>
                        </a:defRPr>
                      </a:pPr>
                      <a:r>
                        <a:t>Événement</a:t>
                      </a:r>
                    </a:p>
                  </a:txBody>
                  <a:tcPr>
                    <a:solidFill>
                      <a:srgbClr val="C1272D"/>
                    </a:solidFill>
                  </a:tcPr>
                </a:tc>
                <a:tc>
                  <a:txBody>
                    <a:bodyPr/>
                    <a:lstStyle/>
                    <a:p>
                      <a:pPr>
                        <a:defRPr sz="1000" b="1">
                          <a:solidFill>
                            <a:srgbClr val="FFFFFF"/>
                          </a:solidFill>
                          <a:latin typeface="Comfortaa"/>
                        </a:defRPr>
                      </a:pPr>
                      <a:r>
                        <a:t>Profil</a:t>
                      </a:r>
                    </a:p>
                  </a:txBody>
                  <a:tcPr>
                    <a:solidFill>
                      <a:srgbClr val="C1272D"/>
                    </a:solidFill>
                  </a:tcPr>
                </a:tc>
                <a:tc>
                  <a:txBody>
                    <a:bodyPr/>
                    <a:lstStyle/>
                    <a:p>
                      <a:pPr>
                        <a:defRPr sz="1000" b="1">
                          <a:solidFill>
                            <a:srgbClr val="FFFFFF"/>
                          </a:solidFill>
                          <a:latin typeface="Comfortaa"/>
                        </a:defRPr>
                      </a:pPr>
                      <a:r>
                        <a:t>Overlap</a:t>
                      </a:r>
                    </a:p>
                  </a:txBody>
                  <a:tcPr>
                    <a:solidFill>
                      <a:srgbClr val="C1272D"/>
                    </a:solidFill>
                  </a:tcPr>
                </a:tc>
                <a:tc>
                  <a:txBody>
                    <a:bodyPr/>
                    <a:lstStyle/>
                    <a:p>
                      <a:pPr>
                        <a:defRPr sz="1000" b="1">
                          <a:solidFill>
                            <a:srgbClr val="FFFFFF"/>
                          </a:solidFill>
                          <a:latin typeface="Comfortaa"/>
                        </a:defRPr>
                      </a:pPr>
                      <a:r>
                        <a:t>IoU20</a:t>
                      </a:r>
                    </a:p>
                  </a:txBody>
                  <a:tcPr>
                    <a:solidFill>
                      <a:srgbClr val="C1272D"/>
                    </a:solidFill>
                  </a:tcPr>
                </a:tc>
                <a:tc>
                  <a:txBody>
                    <a:bodyPr/>
                    <a:lstStyle/>
                    <a:p>
                      <a:pPr>
                        <a:defRPr sz="1000" b="1">
                          <a:solidFill>
                            <a:srgbClr val="FFFFFF"/>
                          </a:solidFill>
                          <a:latin typeface="Comfortaa"/>
                        </a:defRPr>
                      </a:pPr>
                      <a:r>
                        <a:t>Best IoU</a:t>
                      </a:r>
                    </a:p>
                  </a:txBody>
                  <a:tcPr>
                    <a:solidFill>
                      <a:srgbClr val="C1272D"/>
                    </a:solidFill>
                  </a:tcPr>
                </a:tc>
                <a:tc>
                  <a:txBody>
                    <a:bodyPr/>
                    <a:lstStyle/>
                    <a:p>
                      <a:pPr>
                        <a:defRPr sz="1000" b="1">
                          <a:solidFill>
                            <a:srgbClr val="FFFFFF"/>
                          </a:solidFill>
                          <a:latin typeface="Comfortaa"/>
                        </a:defRPr>
                      </a:pPr>
                      <a:r>
                        <a:t>Statut</a:t>
                      </a:r>
                    </a:p>
                  </a:txBody>
                  <a:tcPr>
                    <a:solidFill>
                      <a:srgbClr val="C1272D"/>
                    </a:solidFill>
                  </a:tcPr>
                </a:tc>
              </a:tr>
              <a:tr h="274320">
                <a:tc>
                  <a:txBody>
                    <a:bodyPr/>
                    <a:lstStyle/>
                    <a:p>
                      <a:pPr>
                        <a:defRPr sz="1000">
                          <a:solidFill>
                            <a:srgbClr val="333333"/>
                          </a:solidFill>
                          <a:latin typeface="Comfortaa"/>
                        </a:defRPr>
                      </a:pPr>
                      <a:r>
                        <a:t>inj_detect_1</a:t>
                      </a:r>
                    </a:p>
                  </a:txBody>
                  <a:tcPr/>
                </a:tc>
                <a:tc>
                  <a:txBody>
                    <a:bodyPr/>
                    <a:lstStyle/>
                    <a:p>
                      <a:pPr>
                        <a:defRPr sz="1000">
                          <a:solidFill>
                            <a:srgbClr val="333333"/>
                          </a:solidFill>
                          <a:latin typeface="Comfortaa"/>
                        </a:defRPr>
                      </a:pPr>
                      <a:r>
                        <a:t>détectable</a:t>
                      </a:r>
                    </a:p>
                  </a:txBody>
                  <a:tcPr/>
                </a:tc>
                <a:tc>
                  <a:txBody>
                    <a:bodyPr/>
                    <a:lstStyle/>
                    <a:p>
                      <a:pPr>
                        <a:defRPr sz="1000">
                          <a:solidFill>
                            <a:srgbClr val="333333"/>
                          </a:solidFill>
                          <a:latin typeface="Comfortaa"/>
                        </a:defRPr>
                      </a:pPr>
                      <a:r>
                        <a:t>1</a:t>
                      </a:r>
                    </a:p>
                  </a:txBody>
                  <a:tcPr/>
                </a:tc>
                <a:tc>
                  <a:txBody>
                    <a:bodyPr/>
                    <a:lstStyle/>
                    <a:p>
                      <a:pPr>
                        <a:defRPr sz="1000">
                          <a:solidFill>
                            <a:srgbClr val="333333"/>
                          </a:solidFill>
                          <a:latin typeface="Comfortaa"/>
                        </a:defRPr>
                      </a:pPr>
                      <a:r>
                        <a:t>1</a:t>
                      </a:r>
                    </a:p>
                  </a:txBody>
                  <a:tcPr/>
                </a:tc>
                <a:tc>
                  <a:txBody>
                    <a:bodyPr/>
                    <a:lstStyle/>
                    <a:p>
                      <a:pPr>
                        <a:defRPr sz="1000">
                          <a:solidFill>
                            <a:srgbClr val="333333"/>
                          </a:solidFill>
                          <a:latin typeface="Comfortaa"/>
                        </a:defRPr>
                      </a:pPr>
                      <a:r>
                        <a:t>0.404</a:t>
                      </a:r>
                    </a:p>
                  </a:txBody>
                  <a:tcPr/>
                </a:tc>
                <a:tc>
                  <a:txBody>
                    <a:bodyPr/>
                    <a:lstStyle/>
                    <a:p>
                      <a:pPr>
                        <a:defRPr sz="1000">
                          <a:solidFill>
                            <a:srgbClr val="333333"/>
                          </a:solidFill>
                          <a:latin typeface="Comfortaa"/>
                        </a:defRPr>
                      </a:pPr>
                      <a:r>
                        <a:t>détecté ✓</a:t>
                      </a:r>
                    </a:p>
                  </a:txBody>
                  <a:tcPr/>
                </a:tc>
              </a:tr>
              <a:tr h="274320">
                <a:tc>
                  <a:txBody>
                    <a:bodyPr/>
                    <a:lstStyle/>
                    <a:p>
                      <a:pPr>
                        <a:defRPr sz="1000">
                          <a:solidFill>
                            <a:srgbClr val="333333"/>
                          </a:solidFill>
                          <a:latin typeface="Comfortaa"/>
                        </a:defRPr>
                      </a:pPr>
                      <a:r>
                        <a:t>inj_detect_2</a:t>
                      </a:r>
                    </a:p>
                  </a:txBody>
                  <a:tcPr/>
                </a:tc>
                <a:tc>
                  <a:txBody>
                    <a:bodyPr/>
                    <a:lstStyle/>
                    <a:p>
                      <a:pPr>
                        <a:defRPr sz="1000">
                          <a:solidFill>
                            <a:srgbClr val="333333"/>
                          </a:solidFill>
                          <a:latin typeface="Comfortaa"/>
                        </a:defRPr>
                      </a:pPr>
                      <a:r>
                        <a:t>détectable</a:t>
                      </a:r>
                    </a:p>
                  </a:txBody>
                  <a:tcPr/>
                </a:tc>
                <a:tc>
                  <a:txBody>
                    <a:bodyPr/>
                    <a:lstStyle/>
                    <a:p>
                      <a:pPr>
                        <a:defRPr sz="1000">
                          <a:solidFill>
                            <a:srgbClr val="333333"/>
                          </a:solidFill>
                          <a:latin typeface="Comfortaa"/>
                        </a:defRPr>
                      </a:pPr>
                      <a:r>
                        <a:t>1</a:t>
                      </a:r>
                    </a:p>
                  </a:txBody>
                  <a:tcPr/>
                </a:tc>
                <a:tc>
                  <a:txBody>
                    <a:bodyPr/>
                    <a:lstStyle/>
                    <a:p>
                      <a:pPr>
                        <a:defRPr sz="1000">
                          <a:solidFill>
                            <a:srgbClr val="333333"/>
                          </a:solidFill>
                          <a:latin typeface="Comfortaa"/>
                        </a:defRPr>
                      </a:pPr>
                      <a:r>
                        <a:t>1</a:t>
                      </a:r>
                    </a:p>
                  </a:txBody>
                  <a:tcPr/>
                </a:tc>
                <a:tc>
                  <a:txBody>
                    <a:bodyPr/>
                    <a:lstStyle/>
                    <a:p>
                      <a:pPr>
                        <a:defRPr sz="1000">
                          <a:solidFill>
                            <a:srgbClr val="333333"/>
                          </a:solidFill>
                          <a:latin typeface="Comfortaa"/>
                        </a:defRPr>
                      </a:pPr>
                      <a:r>
                        <a:t>0.351</a:t>
                      </a:r>
                    </a:p>
                  </a:txBody>
                  <a:tcPr/>
                </a:tc>
                <a:tc>
                  <a:txBody>
                    <a:bodyPr/>
                    <a:lstStyle/>
                    <a:p>
                      <a:pPr>
                        <a:defRPr sz="1000">
                          <a:solidFill>
                            <a:srgbClr val="333333"/>
                          </a:solidFill>
                          <a:latin typeface="Comfortaa"/>
                        </a:defRPr>
                      </a:pPr>
                      <a:r>
                        <a:t>détecté ✓</a:t>
                      </a:r>
                    </a:p>
                  </a:txBody>
                  <a:tcPr/>
                </a:tc>
              </a:tr>
              <a:tr h="274320">
                <a:tc>
                  <a:txBody>
                    <a:bodyPr/>
                    <a:lstStyle/>
                    <a:p>
                      <a:pPr>
                        <a:defRPr sz="1000">
                          <a:solidFill>
                            <a:srgbClr val="333333"/>
                          </a:solidFill>
                          <a:latin typeface="Comfortaa"/>
                        </a:defRPr>
                      </a:pPr>
                      <a:r>
                        <a:t>inj_hidden_1</a:t>
                      </a:r>
                    </a:p>
                  </a:txBody>
                  <a:tcPr/>
                </a:tc>
                <a:tc>
                  <a:txBody>
                    <a:bodyPr/>
                    <a:lstStyle/>
                    <a:p>
                      <a:pPr>
                        <a:defRPr sz="1000">
                          <a:solidFill>
                            <a:srgbClr val="333333"/>
                          </a:solidFill>
                          <a:latin typeface="Comfortaa"/>
                        </a:defRPr>
                      </a:pPr>
                      <a:r>
                        <a:t>non-détectable</a:t>
                      </a:r>
                    </a:p>
                  </a:txBody>
                  <a:tcPr/>
                </a:tc>
                <a:tc>
                  <a:txBody>
                    <a:bodyPr/>
                    <a:lstStyle/>
                    <a:p>
                      <a:pPr>
                        <a:defRPr sz="1000">
                          <a:solidFill>
                            <a:srgbClr val="333333"/>
                          </a:solidFill>
                          <a:latin typeface="Comfortaa"/>
                        </a:defRPr>
                      </a:pPr>
                      <a:r>
                        <a:t>0</a:t>
                      </a:r>
                    </a:p>
                  </a:txBody>
                  <a:tcPr/>
                </a:tc>
                <a:tc>
                  <a:txBody>
                    <a:bodyPr/>
                    <a:lstStyle/>
                    <a:p>
                      <a:pPr>
                        <a:defRPr sz="1000">
                          <a:solidFill>
                            <a:srgbClr val="333333"/>
                          </a:solidFill>
                          <a:latin typeface="Comfortaa"/>
                        </a:defRPr>
                      </a:pPr>
                      <a:r>
                        <a:t>0</a:t>
                      </a:r>
                    </a:p>
                  </a:txBody>
                  <a:tcPr/>
                </a:tc>
                <a:tc>
                  <a:txBody>
                    <a:bodyPr/>
                    <a:lstStyle/>
                    <a:p>
                      <a:pPr>
                        <a:defRPr sz="1000">
                          <a:solidFill>
                            <a:srgbClr val="333333"/>
                          </a:solidFill>
                          <a:latin typeface="Comfortaa"/>
                        </a:defRPr>
                      </a:pPr>
                      <a:r>
                        <a:t>0.000</a:t>
                      </a:r>
                    </a:p>
                  </a:txBody>
                  <a:tcPr/>
                </a:tc>
                <a:tc>
                  <a:txBody>
                    <a:bodyPr/>
                    <a:lstStyle/>
                    <a:p>
                      <a:pPr>
                        <a:defRPr sz="1000">
                          <a:solidFill>
                            <a:srgbClr val="333333"/>
                          </a:solidFill>
                          <a:latin typeface="Comfortaa"/>
                        </a:defRPr>
                      </a:pPr>
                      <a:r>
                        <a:t>silencieux ✓</a:t>
                      </a:r>
                    </a:p>
                  </a:txBody>
                  <a:tcPr/>
                </a:tc>
              </a:tr>
            </a:tbl>
          </a:graphicData>
        </a:graphic>
      </p:graphicFrame>
      <p:sp>
        <p:nvSpPr>
          <p:cNvPr id="6" name="TextBox 5"/>
          <p:cNvSpPr txBox="1"/>
          <p:nvPr/>
        </p:nvSpPr>
        <p:spPr>
          <a:xfrm>
            <a:off x="731520" y="3749039"/>
            <a:ext cx="7772400" cy="1097280"/>
          </a:xfrm>
          <a:prstGeom prst="rect">
            <a:avLst/>
          </a:prstGeom>
          <a:noFill/>
        </p:spPr>
        <p:txBody>
          <a:bodyPr wrap="square">
            <a:spAutoFit/>
          </a:bodyPr>
          <a:lstStyle/>
          <a:p>
            <a:pPr algn="l">
              <a:spcAft>
                <a:spcPts val="300"/>
              </a:spcAft>
              <a:defRPr sz="1100" b="1">
                <a:solidFill>
                  <a:srgbClr val="2E7D32"/>
                </a:solidFill>
                <a:latin typeface="Comfortaa"/>
              </a:defRPr>
            </a:pPr>
            <a:r>
              <a:t>Isolation du signal : seule la vache cible est affectée (+2 notifications)</a:t>
            </a:r>
          </a:p>
          <a:p>
            <a:pPr algn="l">
              <a:spcAft>
                <a:spcPts val="300"/>
              </a:spcAft>
              <a:defRPr sz="1100" b="0">
                <a:solidFill>
                  <a:srgbClr val="333333"/>
                </a:solidFill>
                <a:latin typeface="Comfortaa"/>
              </a:defRPr>
            </a:pPr>
            <a:r>
              <a:t>Les 27 autres animaux restent strictement stables (Δ = 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Validation robuste (9 500+ runs)</a:t>
            </a:r>
          </a:p>
        </p:txBody>
      </p:sp>
      <p:sp>
        <p:nvSpPr>
          <p:cNvPr id="4" name="TextBox 3"/>
          <p:cNvSpPr txBox="1"/>
          <p:nvPr/>
        </p:nvSpPr>
        <p:spPr>
          <a:xfrm>
            <a:off x="731520" y="1325880"/>
            <a:ext cx="3840480" cy="3200400"/>
          </a:xfrm>
          <a:prstGeom prst="rect">
            <a:avLst/>
          </a:prstGeom>
          <a:noFill/>
        </p:spPr>
        <p:txBody>
          <a:bodyPr wrap="square">
            <a:spAutoFit/>
          </a:bodyPr>
          <a:lstStyle/>
          <a:p>
            <a:pPr algn="l">
              <a:spcAft>
                <a:spcPts val="400"/>
              </a:spcAft>
              <a:defRPr sz="1300" b="1">
                <a:solidFill>
                  <a:srgbClr val="0070C0"/>
                </a:solidFill>
                <a:latin typeface="Comfortaa"/>
              </a:defRPr>
            </a:pPr>
            <a:r>
              <a:t>Protocole :</a:t>
            </a:r>
          </a:p>
          <a:p>
            <a:pPr algn="l">
              <a:spcAft>
                <a:spcPts val="300"/>
              </a:spcAft>
              <a:defRPr sz="1100" b="0">
                <a:solidFill>
                  <a:srgbClr val="333333"/>
                </a:solidFill>
                <a:latin typeface="Comfortaa"/>
              </a:defRPr>
            </a:pPr>
            <a:r>
              <a:t>  •  336 configurations testées</a:t>
            </a:r>
          </a:p>
          <a:p>
            <a:pPr algn="l">
              <a:spcAft>
                <a:spcPts val="300"/>
              </a:spcAft>
              <a:defRPr sz="1100" b="0">
                <a:solidFill>
                  <a:srgbClr val="333333"/>
                </a:solidFill>
                <a:latin typeface="Comfortaa"/>
              </a:defRPr>
            </a:pPr>
            <a:r>
              <a:t>  •  3 scénarios par configuration</a:t>
            </a:r>
          </a:p>
          <a:p>
            <a:pPr algn="l">
              <a:spcAft>
                <a:spcPts val="300"/>
              </a:spcAft>
              <a:defRPr sz="1100" b="0">
                <a:solidFill>
                  <a:srgbClr val="333333"/>
                </a:solidFill>
                <a:latin typeface="Comfortaa"/>
              </a:defRPr>
            </a:pPr>
            <a:r>
              <a:t>  •  8 seeds aléatoires</a:t>
            </a:r>
          </a:p>
          <a:p>
            <a:pPr algn="l">
              <a:spcAft>
                <a:spcPts val="300"/>
              </a:spcAft>
              <a:defRPr sz="1100" b="0">
                <a:solidFill>
                  <a:srgbClr val="333333"/>
                </a:solidFill>
                <a:latin typeface="Comfortaa"/>
              </a:defRPr>
            </a:pPr>
            <a:r>
              <a:t>  •  3 profils d'injection :</a:t>
            </a:r>
          </a:p>
          <a:p>
            <a:pPr algn="l">
              <a:spcAft>
                <a:spcPts val="300"/>
              </a:spcAft>
              <a:defRPr sz="1000" b="0">
                <a:solidFill>
                  <a:srgbClr val="666666"/>
                </a:solidFill>
                <a:latin typeface="Comfortaa"/>
              </a:defRPr>
            </a:pPr>
            <a:r>
              <a:t>     fort, moyen, borderline</a:t>
            </a:r>
          </a:p>
          <a:p>
            <a:pPr algn="l">
              <a:spcAft>
                <a:spcPts val="300"/>
              </a:spcAft>
              <a:defRPr sz="1100" b="1">
                <a:solidFill>
                  <a:srgbClr val="333333"/>
                </a:solidFill>
                <a:latin typeface="Comfortaa"/>
              </a:defRPr>
            </a:pPr>
            <a:r>
              <a:t>  •  9 500+ runs au total</a:t>
            </a:r>
          </a:p>
          <a:p>
            <a:pPr algn="l">
              <a:spcAft>
                <a:spcPts val="100"/>
              </a:spcAft>
              <a:defRPr sz="400" b="0">
                <a:solidFill>
                  <a:srgbClr val="333333"/>
                </a:solidFill>
                <a:latin typeface="Comfortaa"/>
              </a:defRPr>
            </a:pPr>
          </a:p>
          <a:p>
            <a:pPr algn="l">
              <a:spcAft>
                <a:spcPts val="400"/>
              </a:spcAft>
              <a:defRPr sz="1200" b="1">
                <a:solidFill>
                  <a:srgbClr val="2E7D32"/>
                </a:solidFill>
                <a:latin typeface="Comfortaa"/>
              </a:defRPr>
            </a:pPr>
            <a:r>
              <a:t>Critères GO (retenus) :</a:t>
            </a:r>
          </a:p>
          <a:p>
            <a:pPr algn="l">
              <a:spcAft>
                <a:spcPts val="300"/>
              </a:spcAft>
              <a:defRPr sz="1100" b="0">
                <a:solidFill>
                  <a:srgbClr val="333333"/>
                </a:solidFill>
                <a:latin typeface="Comfortaa"/>
              </a:defRPr>
            </a:pPr>
            <a:r>
              <a:t>  •  Détection forte = 100%</a:t>
            </a:r>
          </a:p>
          <a:p>
            <a:pPr algn="l">
              <a:spcAft>
                <a:spcPts val="300"/>
              </a:spcAft>
              <a:defRPr sz="1100" b="0">
                <a:solidFill>
                  <a:srgbClr val="333333"/>
                </a:solidFill>
                <a:latin typeface="Comfortaa"/>
              </a:defRPr>
            </a:pPr>
            <a:r>
              <a:t>  •  Fuite = 0</a:t>
            </a:r>
          </a:p>
          <a:p>
            <a:pPr algn="l">
              <a:spcAft>
                <a:spcPts val="300"/>
              </a:spcAft>
              <a:defRPr sz="1100" b="0">
                <a:solidFill>
                  <a:srgbClr val="333333"/>
                </a:solidFill>
                <a:latin typeface="Comfortaa"/>
              </a:defRPr>
            </a:pPr>
            <a:r>
              <a:t>  •  Faux/cow-day ≤ 0.20</a:t>
            </a:r>
          </a:p>
        </p:txBody>
      </p:sp>
      <p:sp>
        <p:nvSpPr>
          <p:cNvPr id="5" name="TextBox 4"/>
          <p:cNvSpPr txBox="1"/>
          <p:nvPr/>
        </p:nvSpPr>
        <p:spPr>
          <a:xfrm>
            <a:off x="4846320" y="1325880"/>
            <a:ext cx="3840480" cy="3200400"/>
          </a:xfrm>
          <a:prstGeom prst="rect">
            <a:avLst/>
          </a:prstGeom>
          <a:noFill/>
        </p:spPr>
        <p:txBody>
          <a:bodyPr wrap="square">
            <a:spAutoFit/>
          </a:bodyPr>
          <a:lstStyle/>
          <a:p>
            <a:pPr algn="l">
              <a:spcAft>
                <a:spcPts val="400"/>
              </a:spcAft>
              <a:defRPr sz="1300" b="1">
                <a:solidFill>
                  <a:srgbClr val="C1272D"/>
                </a:solidFill>
                <a:latin typeface="Comfortaa"/>
              </a:defRPr>
            </a:pPr>
            <a:r>
              <a:t>Résultats clés :</a:t>
            </a:r>
          </a:p>
          <a:p>
            <a:pPr algn="l">
              <a:spcAft>
                <a:spcPts val="100"/>
              </a:spcAft>
              <a:defRPr sz="400" b="0">
                <a:solidFill>
                  <a:srgbClr val="333333"/>
                </a:solidFill>
                <a:latin typeface="Comfortaa"/>
              </a:defRPr>
            </a:pPr>
          </a:p>
          <a:p>
            <a:pPr algn="l">
              <a:spcAft>
                <a:spcPts val="400"/>
              </a:spcAft>
              <a:defRPr sz="1300" b="1">
                <a:solidFill>
                  <a:srgbClr val="2E7D32"/>
                </a:solidFill>
                <a:latin typeface="Comfortaa"/>
              </a:defRPr>
            </a:pPr>
            <a:r>
              <a:t>  Détection cas forts : 100%</a:t>
            </a:r>
          </a:p>
          <a:p>
            <a:pPr algn="l">
              <a:spcAft>
                <a:spcPts val="100"/>
              </a:spcAft>
              <a:defRPr sz="400" b="0">
                <a:solidFill>
                  <a:srgbClr val="333333"/>
                </a:solidFill>
                <a:latin typeface="Comfortaa"/>
              </a:defRPr>
            </a:pPr>
          </a:p>
          <a:p>
            <a:pPr algn="l">
              <a:spcAft>
                <a:spcPts val="400"/>
              </a:spcAft>
              <a:defRPr sz="1200" b="0">
                <a:solidFill>
                  <a:srgbClr val="333333"/>
                </a:solidFill>
                <a:latin typeface="Comfortaa"/>
              </a:defRPr>
            </a:pPr>
            <a:r>
              <a:t>  IoU20 cas forts : 0.667</a:t>
            </a:r>
          </a:p>
          <a:p>
            <a:pPr algn="l">
              <a:spcAft>
                <a:spcPts val="100"/>
              </a:spcAft>
              <a:defRPr sz="400" b="0">
                <a:solidFill>
                  <a:srgbClr val="333333"/>
                </a:solidFill>
                <a:latin typeface="Comfortaa"/>
              </a:defRPr>
            </a:pPr>
          </a:p>
          <a:p>
            <a:pPr algn="l">
              <a:spcAft>
                <a:spcPts val="400"/>
              </a:spcAft>
              <a:defRPr sz="1200" b="1">
                <a:solidFill>
                  <a:srgbClr val="2E7D32"/>
                </a:solidFill>
                <a:latin typeface="Comfortaa"/>
              </a:defRPr>
            </a:pPr>
            <a:r>
              <a:t>  Fuite cas non-détectables : 0</a:t>
            </a:r>
          </a:p>
          <a:p>
            <a:pPr algn="l">
              <a:spcAft>
                <a:spcPts val="100"/>
              </a:spcAft>
              <a:defRPr sz="400" b="0">
                <a:solidFill>
                  <a:srgbClr val="333333"/>
                </a:solidFill>
                <a:latin typeface="Comfortaa"/>
              </a:defRPr>
            </a:pPr>
          </a:p>
          <a:p>
            <a:pPr algn="l">
              <a:spcAft>
                <a:spcPts val="400"/>
              </a:spcAft>
              <a:defRPr sz="1200" b="0">
                <a:solidFill>
                  <a:srgbClr val="333333"/>
                </a:solidFill>
                <a:latin typeface="Comfortaa"/>
              </a:defRPr>
            </a:pPr>
            <a:r>
              <a:t>  Faux/cow-day : 0.105</a:t>
            </a:r>
          </a:p>
          <a:p>
            <a:pPr algn="l">
              <a:spcAft>
                <a:spcPts val="100"/>
              </a:spcAft>
              <a:defRPr sz="400" b="0">
                <a:solidFill>
                  <a:srgbClr val="333333"/>
                </a:solidFill>
                <a:latin typeface="Comfortaa"/>
              </a:defRPr>
            </a:pPr>
          </a:p>
          <a:p>
            <a:pPr algn="l">
              <a:spcAft>
                <a:spcPts val="400"/>
              </a:spcAft>
              <a:defRPr sz="1200" b="0">
                <a:solidFill>
                  <a:srgbClr val="333333"/>
                </a:solidFill>
                <a:latin typeface="Comfortaa"/>
              </a:defRPr>
            </a:pPr>
            <a:r>
              <a:t>  Accord v5.1 ↔ v5.2 : 91.7%</a:t>
            </a:r>
          </a:p>
          <a:p>
            <a:pPr algn="l">
              <a:spcAft>
                <a:spcPts val="200"/>
              </a:spcAft>
              <a:defRPr sz="600" b="0">
                <a:solidFill>
                  <a:srgbClr val="333333"/>
                </a:solidFill>
                <a:latin typeface="Comfortaa"/>
              </a:defRPr>
            </a:pPr>
          </a:p>
          <a:p>
            <a:pPr algn="l">
              <a:spcAft>
                <a:spcPts val="300"/>
              </a:spcAft>
              <a:defRPr sz="1100" b="0">
                <a:solidFill>
                  <a:srgbClr val="666666"/>
                </a:solidFill>
                <a:latin typeface="Comfortaa"/>
              </a:defRPr>
            </a:pPr>
            <a:r>
              <a:t>  Scalabilité : ~0.6 sec/vache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Étude d'ablation — Chaque composante compte</a:t>
            </a:r>
          </a:p>
        </p:txBody>
      </p:sp>
      <p:graphicFrame>
        <p:nvGraphicFramePr>
          <p:cNvPr id="4" name="Table 3"/>
          <p:cNvGraphicFramePr>
            <a:graphicFrameLocks noGrp="1"/>
          </p:cNvGraphicFramePr>
          <p:nvPr/>
        </p:nvGraphicFramePr>
        <p:xfrm>
          <a:off x="548640" y="1371600"/>
          <a:ext cx="8046720" cy="1828800"/>
        </p:xfrm>
        <a:graphic>
          <a:graphicData uri="http://schemas.openxmlformats.org/drawingml/2006/table">
            <a:tbl>
              <a:tblPr firstRow="1" bandRow="1">
                <a:tableStyleId>{5C22544A-7EE6-4342-B048-85BDC9FD1C3A}</a:tableStyleId>
              </a:tblPr>
              <a:tblGrid>
                <a:gridCol w="2011680"/>
                <a:gridCol w="2011680"/>
                <a:gridCol w="2011680"/>
                <a:gridCol w="2011680"/>
              </a:tblGrid>
              <a:tr h="365760">
                <a:tc>
                  <a:txBody>
                    <a:bodyPr/>
                    <a:lstStyle/>
                    <a:p>
                      <a:pPr>
                        <a:defRPr sz="1000" b="1">
                          <a:solidFill>
                            <a:srgbClr val="FFFFFF"/>
                          </a:solidFill>
                          <a:latin typeface="Comfortaa"/>
                        </a:defRPr>
                      </a:pPr>
                      <a:r>
                        <a:t>Variante</a:t>
                      </a:r>
                    </a:p>
                  </a:txBody>
                  <a:tcPr>
                    <a:solidFill>
                      <a:srgbClr val="C1272D"/>
                    </a:solidFill>
                  </a:tcPr>
                </a:tc>
                <a:tc>
                  <a:txBody>
                    <a:bodyPr/>
                    <a:lstStyle/>
                    <a:p>
                      <a:pPr>
                        <a:defRPr sz="1000" b="1">
                          <a:solidFill>
                            <a:srgbClr val="FFFFFF"/>
                          </a:solidFill>
                          <a:latin typeface="Comfortaa"/>
                        </a:defRPr>
                      </a:pPr>
                      <a:r>
                        <a:t>Détection any</a:t>
                      </a:r>
                    </a:p>
                  </a:txBody>
                  <a:tcPr>
                    <a:solidFill>
                      <a:srgbClr val="C1272D"/>
                    </a:solidFill>
                  </a:tcPr>
                </a:tc>
                <a:tc>
                  <a:txBody>
                    <a:bodyPr/>
                    <a:lstStyle/>
                    <a:p>
                      <a:pPr>
                        <a:defRPr sz="1000" b="1">
                          <a:solidFill>
                            <a:srgbClr val="FFFFFF"/>
                          </a:solidFill>
                          <a:latin typeface="Comfortaa"/>
                        </a:defRPr>
                      </a:pPr>
                      <a:r>
                        <a:t>Faux/cow-day</a:t>
                      </a:r>
                    </a:p>
                  </a:txBody>
                  <a:tcPr>
                    <a:solidFill>
                      <a:srgbClr val="C1272D"/>
                    </a:solidFill>
                  </a:tcPr>
                </a:tc>
                <a:tc>
                  <a:txBody>
                    <a:bodyPr/>
                    <a:lstStyle/>
                    <a:p>
                      <a:pPr>
                        <a:defRPr sz="1000" b="1">
                          <a:solidFill>
                            <a:srgbClr val="FFFFFF"/>
                          </a:solidFill>
                          <a:latin typeface="Comfortaa"/>
                        </a:defRPr>
                      </a:pPr>
                      <a:r>
                        <a:t>Commentaire</a:t>
                      </a:r>
                    </a:p>
                  </a:txBody>
                  <a:tcPr>
                    <a:solidFill>
                      <a:srgbClr val="C1272D"/>
                    </a:solidFill>
                  </a:tcPr>
                </a:tc>
              </a:tr>
              <a:tr h="365760">
                <a:tc>
                  <a:txBody>
                    <a:bodyPr/>
                    <a:lstStyle/>
                    <a:p>
                      <a:pPr>
                        <a:defRPr sz="1000">
                          <a:solidFill>
                            <a:srgbClr val="333333"/>
                          </a:solidFill>
                          <a:latin typeface="Comfortaa"/>
                        </a:defRPr>
                      </a:pPr>
                      <a:r>
                        <a:t>A. IF + règles (complet)</a:t>
                      </a:r>
                    </a:p>
                  </a:txBody>
                  <a:tcPr/>
                </a:tc>
                <a:tc>
                  <a:txBody>
                    <a:bodyPr/>
                    <a:lstStyle/>
                    <a:p>
                      <a:pPr>
                        <a:defRPr sz="1000">
                          <a:solidFill>
                            <a:srgbClr val="333333"/>
                          </a:solidFill>
                          <a:latin typeface="Comfortaa"/>
                        </a:defRPr>
                      </a:pPr>
                      <a:r>
                        <a:t>48%</a:t>
                      </a:r>
                    </a:p>
                  </a:txBody>
                  <a:tcPr/>
                </a:tc>
                <a:tc>
                  <a:txBody>
                    <a:bodyPr/>
                    <a:lstStyle/>
                    <a:p>
                      <a:pPr>
                        <a:defRPr sz="1000">
                          <a:solidFill>
                            <a:srgbClr val="333333"/>
                          </a:solidFill>
                          <a:latin typeface="Comfortaa"/>
                        </a:defRPr>
                      </a:pPr>
                      <a:r>
                        <a:t>0.088</a:t>
                      </a:r>
                    </a:p>
                  </a:txBody>
                  <a:tcPr/>
                </a:tc>
                <a:tc>
                  <a:txBody>
                    <a:bodyPr/>
                    <a:lstStyle/>
                    <a:p>
                      <a:pPr>
                        <a:defRPr sz="1000">
                          <a:solidFill>
                            <a:srgbClr val="333333"/>
                          </a:solidFill>
                          <a:latin typeface="Comfortaa"/>
                        </a:defRPr>
                      </a:pPr>
                      <a:r>
                        <a:t>Système final</a:t>
                      </a:r>
                    </a:p>
                  </a:txBody>
                  <a:tcPr/>
                </a:tc>
              </a:tr>
              <a:tr h="365760">
                <a:tc>
                  <a:txBody>
                    <a:bodyPr/>
                    <a:lstStyle/>
                    <a:p>
                      <a:pPr>
                        <a:defRPr sz="1000">
                          <a:solidFill>
                            <a:srgbClr val="333333"/>
                          </a:solidFill>
                          <a:latin typeface="Comfortaa"/>
                        </a:defRPr>
                      </a:pPr>
                      <a:r>
                        <a:t>B. Règles seules</a:t>
                      </a:r>
                    </a:p>
                  </a:txBody>
                  <a:tcPr/>
                </a:tc>
                <a:tc>
                  <a:txBody>
                    <a:bodyPr/>
                    <a:lstStyle/>
                    <a:p>
                      <a:pPr>
                        <a:defRPr sz="1000">
                          <a:solidFill>
                            <a:srgbClr val="333333"/>
                          </a:solidFill>
                          <a:latin typeface="Comfortaa"/>
                        </a:defRPr>
                      </a:pPr>
                      <a:r>
                        <a:t>69%</a:t>
                      </a:r>
                    </a:p>
                  </a:txBody>
                  <a:tcPr/>
                </a:tc>
                <a:tc>
                  <a:txBody>
                    <a:bodyPr/>
                    <a:lstStyle/>
                    <a:p>
                      <a:pPr>
                        <a:defRPr sz="1000">
                          <a:solidFill>
                            <a:srgbClr val="333333"/>
                          </a:solidFill>
                          <a:latin typeface="Comfortaa"/>
                        </a:defRPr>
                      </a:pPr>
                      <a:r>
                        <a:t>0.281</a:t>
                      </a:r>
                    </a:p>
                  </a:txBody>
                  <a:tcPr/>
                </a:tc>
                <a:tc>
                  <a:txBody>
                    <a:bodyPr/>
                    <a:lstStyle/>
                    <a:p>
                      <a:pPr>
                        <a:defRPr sz="1000">
                          <a:solidFill>
                            <a:srgbClr val="333333"/>
                          </a:solidFill>
                          <a:latin typeface="Comfortaa"/>
                        </a:defRPr>
                      </a:pPr>
                      <a:r>
                        <a:t>3.2× plus de fausses alertes</a:t>
                      </a:r>
                    </a:p>
                  </a:txBody>
                  <a:tcPr/>
                </a:tc>
              </a:tr>
              <a:tr h="365760">
                <a:tc>
                  <a:txBody>
                    <a:bodyPr/>
                    <a:lstStyle/>
                    <a:p>
                      <a:pPr>
                        <a:defRPr sz="1000">
                          <a:solidFill>
                            <a:srgbClr val="333333"/>
                          </a:solidFill>
                          <a:latin typeface="Comfortaa"/>
                        </a:defRPr>
                      </a:pPr>
                      <a:r>
                        <a:t>C. IF seul (sans règles)</a:t>
                      </a:r>
                    </a:p>
                  </a:txBody>
                  <a:tcPr/>
                </a:tc>
                <a:tc>
                  <a:txBody>
                    <a:bodyPr/>
                    <a:lstStyle/>
                    <a:p>
                      <a:pPr>
                        <a:defRPr sz="1000">
                          <a:solidFill>
                            <a:srgbClr val="333333"/>
                          </a:solidFill>
                          <a:latin typeface="Comfortaa"/>
                        </a:defRPr>
                      </a:pPr>
                      <a:r>
                        <a:t>100%</a:t>
                      </a:r>
                    </a:p>
                  </a:txBody>
                  <a:tcPr/>
                </a:tc>
                <a:tc>
                  <a:txBody>
                    <a:bodyPr/>
                    <a:lstStyle/>
                    <a:p>
                      <a:pPr>
                        <a:defRPr sz="1000">
                          <a:solidFill>
                            <a:srgbClr val="333333"/>
                          </a:solidFill>
                          <a:latin typeface="Comfortaa"/>
                        </a:defRPr>
                      </a:pPr>
                      <a:r>
                        <a:t>N/A</a:t>
                      </a:r>
                    </a:p>
                  </a:txBody>
                  <a:tcPr/>
                </a:tc>
                <a:tc>
                  <a:txBody>
                    <a:bodyPr/>
                    <a:lstStyle/>
                    <a:p>
                      <a:pPr>
                        <a:defRPr sz="1000">
                          <a:solidFill>
                            <a:srgbClr val="333333"/>
                          </a:solidFill>
                          <a:latin typeface="Comfortaa"/>
                        </a:defRPr>
                      </a:pPr>
                      <a:r>
                        <a:t>Détecte tout, aucune précision</a:t>
                      </a:r>
                    </a:p>
                  </a:txBody>
                  <a:tcPr/>
                </a:tc>
              </a:tr>
              <a:tr h="365760">
                <a:tc>
                  <a:txBody>
                    <a:bodyPr/>
                    <a:lstStyle/>
                    <a:p>
                      <a:pPr>
                        <a:defRPr sz="1000">
                          <a:solidFill>
                            <a:srgbClr val="333333"/>
                          </a:solidFill>
                          <a:latin typeface="Comfortaa"/>
                        </a:defRPr>
                      </a:pPr>
                      <a:r>
                        <a:t>D. LOF + règles</a:t>
                      </a:r>
                    </a:p>
                  </a:txBody>
                  <a:tcPr/>
                </a:tc>
                <a:tc>
                  <a:txBody>
                    <a:bodyPr/>
                    <a:lstStyle/>
                    <a:p>
                      <a:pPr>
                        <a:defRPr sz="1000">
                          <a:solidFill>
                            <a:srgbClr val="333333"/>
                          </a:solidFill>
                          <a:latin typeface="Comfortaa"/>
                        </a:defRPr>
                      </a:pPr>
                      <a:r>
                        <a:t>67%</a:t>
                      </a:r>
                    </a:p>
                  </a:txBody>
                  <a:tcPr/>
                </a:tc>
                <a:tc>
                  <a:txBody>
                    <a:bodyPr/>
                    <a:lstStyle/>
                    <a:p>
                      <a:pPr>
                        <a:defRPr sz="1000">
                          <a:solidFill>
                            <a:srgbClr val="333333"/>
                          </a:solidFill>
                          <a:latin typeface="Comfortaa"/>
                        </a:defRPr>
                      </a:pPr>
                      <a:r>
                        <a:t>0.037</a:t>
                      </a:r>
                    </a:p>
                  </a:txBody>
                  <a:tcPr/>
                </a:tc>
                <a:tc>
                  <a:txBody>
                    <a:bodyPr/>
                    <a:lstStyle/>
                    <a:p>
                      <a:pPr>
                        <a:defRPr sz="1000">
                          <a:solidFill>
                            <a:srgbClr val="333333"/>
                          </a:solidFill>
                          <a:latin typeface="Comfortaa"/>
                        </a:defRPr>
                      </a:pPr>
                      <a:r>
                        <a:t>Meilleur sur faux positifs</a:t>
                      </a:r>
                    </a:p>
                  </a:txBody>
                  <a:tcPr/>
                </a:tc>
              </a:tr>
            </a:tbl>
          </a:graphicData>
        </a:graphic>
      </p:graphicFrame>
      <p:sp>
        <p:nvSpPr>
          <p:cNvPr id="5" name="TextBox 4"/>
          <p:cNvSpPr txBox="1"/>
          <p:nvPr/>
        </p:nvSpPr>
        <p:spPr>
          <a:xfrm>
            <a:off x="731520" y="3383280"/>
            <a:ext cx="7772400" cy="1371600"/>
          </a:xfrm>
          <a:prstGeom prst="rect">
            <a:avLst/>
          </a:prstGeom>
          <a:noFill/>
        </p:spPr>
        <p:txBody>
          <a:bodyPr wrap="square">
            <a:spAutoFit/>
          </a:bodyPr>
          <a:lstStyle/>
          <a:p>
            <a:pPr algn="l">
              <a:spcAft>
                <a:spcPts val="400"/>
              </a:spcAft>
              <a:defRPr sz="1200" b="1">
                <a:solidFill>
                  <a:srgbClr val="333333"/>
                </a:solidFill>
                <a:latin typeface="Comfortaa"/>
              </a:defRPr>
            </a:pPr>
            <a:r>
              <a:t>Chaque composante est nécessaire :</a:t>
            </a:r>
          </a:p>
          <a:p>
            <a:pPr algn="l">
              <a:spcAft>
                <a:spcPts val="300"/>
              </a:spcAft>
              <a:defRPr sz="1100" b="0">
                <a:solidFill>
                  <a:srgbClr val="333333"/>
                </a:solidFill>
                <a:latin typeface="Comfortaa"/>
              </a:defRPr>
            </a:pPr>
            <a:r>
              <a:t>  •  IF seul détecte tout mais sans précision temporelle → règles indispensables</a:t>
            </a:r>
          </a:p>
          <a:p>
            <a:pPr algn="l">
              <a:spcAft>
                <a:spcPts val="300"/>
              </a:spcAft>
              <a:defRPr sz="1100" b="0">
                <a:solidFill>
                  <a:srgbClr val="333333"/>
                </a:solidFill>
                <a:latin typeface="Comfortaa"/>
              </a:defRPr>
            </a:pPr>
            <a:r>
              <a:t>  •  Règles seules → 3.2× plus de fausses alertes → IF indispensable</a:t>
            </a:r>
          </a:p>
          <a:p>
            <a:pPr algn="l">
              <a:spcAft>
                <a:spcPts val="300"/>
              </a:spcAft>
              <a:defRPr sz="1100" b="1">
                <a:solidFill>
                  <a:srgbClr val="0070C0"/>
                </a:solidFill>
                <a:latin typeface="Comfortaa"/>
              </a:defRPr>
            </a:pPr>
            <a:r>
              <a:t>  •  LOF + règles : piste d'amélioration crédible (meilleur sur faux positifs)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Interface Streamlit</a:t>
            </a:r>
          </a:p>
        </p:txBody>
      </p:sp>
      <p:sp>
        <p:nvSpPr>
          <p:cNvPr id="4" name="TextBox 3"/>
          <p:cNvSpPr txBox="1"/>
          <p:nvPr/>
        </p:nvSpPr>
        <p:spPr>
          <a:xfrm>
            <a:off x="731520" y="1325880"/>
            <a:ext cx="7772400" cy="3474720"/>
          </a:xfrm>
          <a:prstGeom prst="rect">
            <a:avLst/>
          </a:prstGeom>
          <a:noFill/>
        </p:spPr>
        <p:txBody>
          <a:bodyPr wrap="square">
            <a:spAutoFit/>
          </a:bodyPr>
          <a:lstStyle/>
          <a:p>
            <a:pPr algn="l">
              <a:spcAft>
                <a:spcPts val="400"/>
              </a:spcAft>
              <a:defRPr sz="1200" b="1">
                <a:solidFill>
                  <a:srgbClr val="333333"/>
                </a:solidFill>
                <a:latin typeface="Comfortaa"/>
              </a:defRPr>
            </a:pPr>
            <a:r>
              <a:t>Application web interactive pour utilisateurs non techniques</a:t>
            </a:r>
          </a:p>
          <a:p>
            <a:pPr algn="l">
              <a:spcAft>
                <a:spcPts val="100"/>
              </a:spcAft>
              <a:defRPr sz="400" b="0">
                <a:solidFill>
                  <a:srgbClr val="333333"/>
                </a:solidFill>
                <a:latin typeface="Comfortaa"/>
              </a:defRPr>
            </a:pPr>
          </a:p>
          <a:p>
            <a:pPr algn="l">
              <a:spcAft>
                <a:spcPts val="400"/>
              </a:spcAft>
              <a:defRPr sz="1200" b="1">
                <a:solidFill>
                  <a:srgbClr val="0070C0"/>
                </a:solidFill>
                <a:latin typeface="Comfortaa"/>
              </a:defRPr>
            </a:pPr>
            <a:r>
              <a:t>4 onglets :</a:t>
            </a:r>
          </a:p>
          <a:p>
            <a:pPr algn="l">
              <a:spcAft>
                <a:spcPts val="300"/>
              </a:spcAft>
              <a:defRPr sz="1100" b="0">
                <a:solidFill>
                  <a:srgbClr val="333333"/>
                </a:solidFill>
                <a:latin typeface="Comfortaa"/>
              </a:defRPr>
            </a:pPr>
            <a:r>
              <a:t>  •  Analyse individuelle : graphiques multi-variables, marqueurs d'anomalies</a:t>
            </a:r>
          </a:p>
          <a:p>
            <a:pPr algn="l">
              <a:spcAft>
                <a:spcPts val="300"/>
              </a:spcAft>
              <a:defRPr sz="1100" b="0">
                <a:solidFill>
                  <a:srgbClr val="333333"/>
                </a:solidFill>
                <a:latin typeface="Comfortaa"/>
              </a:defRPr>
            </a:pPr>
            <a:r>
              <a:t>  •  Classement troupeau : vue d'ensemble triée par risque</a:t>
            </a:r>
          </a:p>
          <a:p>
            <a:pPr algn="l">
              <a:spcAft>
                <a:spcPts val="300"/>
              </a:spcAft>
              <a:defRPr sz="1100" b="0">
                <a:solidFill>
                  <a:srgbClr val="333333"/>
                </a:solidFill>
                <a:latin typeface="Comfortaa"/>
              </a:defRPr>
            </a:pPr>
            <a:r>
              <a:t>  •  Comparaison journalière : carte de chaleur des alertes</a:t>
            </a:r>
          </a:p>
          <a:p>
            <a:pPr algn="l">
              <a:spcAft>
                <a:spcPts val="300"/>
              </a:spcAft>
              <a:defRPr sz="1100" b="0">
                <a:solidFill>
                  <a:srgbClr val="333333"/>
                </a:solidFill>
                <a:latin typeface="Comfortaa"/>
              </a:defRPr>
            </a:pPr>
            <a:r>
              <a:t>  •  Export CSV pour intégration dans logiciel de gestion</a:t>
            </a:r>
          </a:p>
          <a:p>
            <a:pPr algn="l">
              <a:spcAft>
                <a:spcPts val="100"/>
              </a:spcAft>
              <a:defRPr sz="400" b="0">
                <a:solidFill>
                  <a:srgbClr val="333333"/>
                </a:solidFill>
                <a:latin typeface="Comfortaa"/>
              </a:defRPr>
            </a:pPr>
          </a:p>
          <a:p>
            <a:pPr algn="l">
              <a:spcAft>
                <a:spcPts val="400"/>
              </a:spcAft>
              <a:defRPr sz="1200" b="1">
                <a:solidFill>
                  <a:srgbClr val="0070C0"/>
                </a:solidFill>
                <a:latin typeface="Comfortaa"/>
              </a:defRPr>
            </a:pPr>
            <a:r>
              <a:t>Caractéristiques :</a:t>
            </a:r>
          </a:p>
          <a:p>
            <a:pPr algn="l">
              <a:spcAft>
                <a:spcPts val="300"/>
              </a:spcAft>
              <a:defRPr sz="1100" b="0">
                <a:solidFill>
                  <a:srgbClr val="333333"/>
                </a:solidFill>
                <a:latin typeface="Comfortaa"/>
              </a:defRPr>
            </a:pPr>
            <a:r>
              <a:t>  •  Tous les paramètres ajustables en temps réel</a:t>
            </a:r>
          </a:p>
          <a:p>
            <a:pPr algn="l">
              <a:spcAft>
                <a:spcPts val="300"/>
              </a:spcAft>
              <a:defRPr sz="1100" b="0">
                <a:solidFill>
                  <a:srgbClr val="333333"/>
                </a:solidFill>
                <a:latin typeface="Comfortaa"/>
              </a:defRPr>
            </a:pPr>
            <a:r>
              <a:t>  •  Score de confiance (0–100) pour chaque épisode</a:t>
            </a:r>
          </a:p>
          <a:p>
            <a:pPr algn="l">
              <a:spcAft>
                <a:spcPts val="300"/>
              </a:spcAft>
              <a:defRPr sz="1100" b="0">
                <a:solidFill>
                  <a:srgbClr val="333333"/>
                </a:solidFill>
                <a:latin typeface="Comfortaa"/>
              </a:defRPr>
            </a:pPr>
            <a:r>
              <a:t>  •  Base de connaissances clinique intégrée (Merck, DairyNZ, AHDB)</a:t>
            </a:r>
          </a:p>
          <a:p>
            <a:pPr algn="l">
              <a:spcAft>
                <a:spcPts val="300"/>
              </a:spcAft>
              <a:defRPr sz="1100" b="0">
                <a:solidFill>
                  <a:srgbClr val="333333"/>
                </a:solidFill>
                <a:latin typeface="Comfortaa"/>
              </a:defRPr>
            </a:pPr>
            <a:r>
              <a:t>  •  Séparation stricte interface / logique scientifique</a:t>
            </a:r>
          </a:p>
          <a:p>
            <a:pPr algn="l">
              <a:spcAft>
                <a:spcPts val="300"/>
              </a:spcAft>
              <a:defRPr sz="1100" b="1">
                <a:solidFill>
                  <a:srgbClr val="2E7D32"/>
                </a:solidFill>
                <a:latin typeface="Comfortaa"/>
              </a:defRPr>
            </a:pPr>
            <a:r>
              <a:t>  •  Résultats identiques en CLI et dans l'interface (bit à bit)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914400" y="1828800"/>
            <a:ext cx="7315200" cy="731520"/>
          </a:xfrm>
          <a:prstGeom prst="rect">
            <a:avLst/>
          </a:prstGeom>
          <a:noFill/>
        </p:spPr>
        <p:txBody>
          <a:bodyPr wrap="square">
            <a:spAutoFit/>
          </a:bodyPr>
          <a:lstStyle/>
          <a:p>
            <a:pPr algn="ctr">
              <a:defRPr sz="2600" b="1">
                <a:solidFill>
                  <a:srgbClr val="FFFFFF"/>
                </a:solidFill>
                <a:latin typeface="Comfortaa"/>
              </a:defRPr>
            </a:pPr>
            <a:r>
              <a:t>6. Contributions et limites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Contributions et limites</a:t>
            </a:r>
          </a:p>
        </p:txBody>
      </p:sp>
      <p:sp>
        <p:nvSpPr>
          <p:cNvPr id="4" name="TextBox 3"/>
          <p:cNvSpPr txBox="1"/>
          <p:nvPr/>
        </p:nvSpPr>
        <p:spPr>
          <a:xfrm>
            <a:off x="731520" y="1325880"/>
            <a:ext cx="3840480" cy="3474720"/>
          </a:xfrm>
          <a:prstGeom prst="rect">
            <a:avLst/>
          </a:prstGeom>
          <a:noFill/>
        </p:spPr>
        <p:txBody>
          <a:bodyPr wrap="square">
            <a:spAutoFit/>
          </a:bodyPr>
          <a:lstStyle/>
          <a:p>
            <a:pPr algn="l">
              <a:spcAft>
                <a:spcPts val="400"/>
              </a:spcAft>
              <a:defRPr sz="1300" b="1">
                <a:solidFill>
                  <a:srgbClr val="2E7D32"/>
                </a:solidFill>
                <a:latin typeface="Comfortaa"/>
              </a:defRPr>
            </a:pPr>
            <a:r>
              <a:t>Contributions :</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1. Pipeline complet et modulaire</a:t>
            </a:r>
          </a:p>
          <a:p>
            <a:pPr algn="l">
              <a:spcAft>
                <a:spcPts val="300"/>
              </a:spcAft>
              <a:defRPr sz="1100" b="0">
                <a:solidFill>
                  <a:srgbClr val="666666"/>
                </a:solidFill>
                <a:latin typeface="Comfortaa"/>
              </a:defRPr>
            </a:pPr>
            <a:r>
              <a:t>     (ingestion → notifications)</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2. Validation à deux niveaux</a:t>
            </a:r>
          </a:p>
          <a:p>
            <a:pPr algn="l">
              <a:spcAft>
                <a:spcPts val="300"/>
              </a:spcAft>
              <a:defRPr sz="1100" b="0">
                <a:solidFill>
                  <a:srgbClr val="666666"/>
                </a:solidFill>
                <a:latin typeface="Comfortaa"/>
              </a:defRPr>
            </a:pPr>
            <a:r>
              <a:t>     (manuelle + robuste 9 500 runs)</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3. Ablation honnête avec</a:t>
            </a:r>
          </a:p>
          <a:p>
            <a:pPr algn="l">
              <a:spcAft>
                <a:spcPts val="300"/>
              </a:spcAft>
              <a:defRPr sz="1100" b="0">
                <a:solidFill>
                  <a:srgbClr val="666666"/>
                </a:solidFill>
                <a:latin typeface="Comfortaa"/>
              </a:defRPr>
            </a:pPr>
            <a:r>
              <a:t>     alternatives documentées</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4. Traçabilité complète</a:t>
            </a:r>
          </a:p>
          <a:p>
            <a:pPr algn="l">
              <a:spcAft>
                <a:spcPts val="300"/>
              </a:spcAft>
              <a:defRPr sz="1100" b="0">
                <a:solidFill>
                  <a:srgbClr val="666666"/>
                </a:solidFill>
                <a:latin typeface="Comfortaa"/>
              </a:defRPr>
            </a:pPr>
            <a:r>
              <a:t>     (SHA-256, seeds, paramètres gelés)</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5. Code open source</a:t>
            </a:r>
          </a:p>
          <a:p>
            <a:pPr algn="l">
              <a:spcAft>
                <a:spcPts val="300"/>
              </a:spcAft>
              <a:defRPr sz="1000" b="0">
                <a:solidFill>
                  <a:srgbClr val="666666"/>
                </a:solidFill>
                <a:latin typeface="Comfortaa"/>
              </a:defRPr>
            </a:pPr>
            <a:r>
              <a:t>     (github.com/Barryguinea/uqamemoire)</a:t>
            </a:r>
          </a:p>
        </p:txBody>
      </p:sp>
      <p:sp>
        <p:nvSpPr>
          <p:cNvPr id="5" name="TextBox 4"/>
          <p:cNvSpPr txBox="1"/>
          <p:nvPr/>
        </p:nvSpPr>
        <p:spPr>
          <a:xfrm>
            <a:off x="4846320" y="1325880"/>
            <a:ext cx="3840480" cy="3474720"/>
          </a:xfrm>
          <a:prstGeom prst="rect">
            <a:avLst/>
          </a:prstGeom>
          <a:noFill/>
        </p:spPr>
        <p:txBody>
          <a:bodyPr wrap="square">
            <a:spAutoFit/>
          </a:bodyPr>
          <a:lstStyle/>
          <a:p>
            <a:pPr algn="l">
              <a:spcAft>
                <a:spcPts val="400"/>
              </a:spcAft>
              <a:defRPr sz="1300" b="1">
                <a:solidFill>
                  <a:srgbClr val="C1272D"/>
                </a:solidFill>
                <a:latin typeface="Comfortaa"/>
              </a:defRPr>
            </a:pPr>
            <a:r>
              <a:t>Limites :</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Pas de validation clinique</a:t>
            </a:r>
          </a:p>
          <a:p>
            <a:pPr algn="l">
              <a:spcAft>
                <a:spcPts val="300"/>
              </a:spcAft>
              <a:defRPr sz="1100" b="0">
                <a:solidFill>
                  <a:srgbClr val="666666"/>
                </a:solidFill>
                <a:latin typeface="Comfortaa"/>
              </a:defRPr>
            </a:pPr>
            <a:r>
              <a:t>     (injections synthétiques, pas</a:t>
            </a:r>
          </a:p>
          <a:p>
            <a:pPr algn="l">
              <a:spcAft>
                <a:spcPts val="300"/>
              </a:spcAft>
              <a:defRPr sz="1100" b="0">
                <a:solidFill>
                  <a:srgbClr val="666666"/>
                </a:solidFill>
                <a:latin typeface="Comfortaa"/>
              </a:defRPr>
            </a:pPr>
            <a:r>
              <a:t>     de diagnostic vétérinaire)</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Un seul corpus / une seule</a:t>
            </a:r>
          </a:p>
          <a:p>
            <a:pPr algn="l">
              <a:spcAft>
                <a:spcPts val="300"/>
              </a:spcAft>
              <a:defRPr sz="1100" b="0">
                <a:solidFill>
                  <a:srgbClr val="666666"/>
                </a:solidFill>
                <a:latin typeface="Comfortaa"/>
              </a:defRPr>
            </a:pPr>
            <a:r>
              <a:t>     ferme / un seul capteur</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Fragilité sur cas borderline</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Seuils calibrés sur un</a:t>
            </a:r>
          </a:p>
          <a:p>
            <a:pPr algn="l">
              <a:spcAft>
                <a:spcPts val="300"/>
              </a:spcAft>
              <a:defRPr sz="1100" b="0">
                <a:solidFill>
                  <a:srgbClr val="666666"/>
                </a:solidFill>
                <a:latin typeface="Comfortaa"/>
              </a:defRPr>
            </a:pPr>
            <a:r>
              <a:t>     seul jeu de données</a:t>
            </a:r>
          </a:p>
          <a:p>
            <a:pPr algn="l">
              <a:spcAft>
                <a:spcPts val="200"/>
              </a:spcAft>
              <a:defRPr sz="600" b="0">
                <a:solidFill>
                  <a:srgbClr val="333333"/>
                </a:solidFill>
                <a:latin typeface="Comfortaa"/>
              </a:defRPr>
            </a:pPr>
          </a:p>
          <a:p>
            <a:pPr algn="l">
              <a:spcAft>
                <a:spcPts val="300"/>
              </a:spcAft>
              <a:defRPr sz="1000" b="0">
                <a:solidFill>
                  <a:srgbClr val="999999"/>
                </a:solidFill>
                <a:latin typeface="Comfortaa"/>
              </a:defRPr>
            </a:pPr>
            <a:r>
              <a:t>→ Limites partagées par la</a:t>
            </a:r>
          </a:p>
          <a:p>
            <a:pPr algn="l">
              <a:spcAft>
                <a:spcPts val="300"/>
              </a:spcAft>
              <a:defRPr sz="1000" b="0">
                <a:solidFill>
                  <a:srgbClr val="999999"/>
                </a:solidFill>
                <a:latin typeface="Comfortaa"/>
              </a:defRPr>
            </a:pPr>
            <a:r>
              <a:t>  majorité de la littérature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914400" y="1828800"/>
            <a:ext cx="7315200" cy="731520"/>
          </a:xfrm>
          <a:prstGeom prst="rect">
            <a:avLst/>
          </a:prstGeom>
          <a:noFill/>
        </p:spPr>
        <p:txBody>
          <a:bodyPr wrap="square">
            <a:spAutoFit/>
          </a:bodyPr>
          <a:lstStyle/>
          <a:p>
            <a:pPr algn="ctr">
              <a:defRPr sz="2600" b="1">
                <a:solidFill>
                  <a:srgbClr val="FFFFFF"/>
                </a:solidFill>
                <a:latin typeface="Comfortaa"/>
              </a:defRPr>
            </a:pPr>
            <a:r>
              <a:t>7. Pont vers le projet McGill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Ce que mon travail apporte au projet McGill</a:t>
            </a:r>
          </a:p>
        </p:txBody>
      </p:sp>
      <p:sp>
        <p:nvSpPr>
          <p:cNvPr id="4" name="TextBox 3"/>
          <p:cNvSpPr txBox="1"/>
          <p:nvPr/>
        </p:nvSpPr>
        <p:spPr>
          <a:xfrm>
            <a:off x="731520" y="1325880"/>
            <a:ext cx="3840480" cy="3474720"/>
          </a:xfrm>
          <a:prstGeom prst="rect">
            <a:avLst/>
          </a:prstGeom>
          <a:noFill/>
        </p:spPr>
        <p:txBody>
          <a:bodyPr wrap="square">
            <a:spAutoFit/>
          </a:bodyPr>
          <a:lstStyle/>
          <a:p>
            <a:pPr algn="l">
              <a:spcAft>
                <a:spcPts val="400"/>
              </a:spcAft>
              <a:defRPr sz="1300" b="1">
                <a:solidFill>
                  <a:srgbClr val="0070C0"/>
                </a:solidFill>
                <a:latin typeface="Comfortaa"/>
              </a:defRPr>
            </a:pPr>
            <a:r>
              <a:t>Compétences transférables :</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Structuration de données</a:t>
            </a:r>
          </a:p>
          <a:p>
            <a:pPr algn="l">
              <a:spcAft>
                <a:spcPts val="300"/>
              </a:spcAft>
              <a:defRPr sz="1100" b="0">
                <a:solidFill>
                  <a:srgbClr val="666666"/>
                </a:solidFill>
                <a:latin typeface="Comfortaa"/>
              </a:defRPr>
            </a:pPr>
            <a:r>
              <a:t>     capteurs bovines (IceQube/IceTag)</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  Nettoyage, harmonisation,</a:t>
            </a:r>
          </a:p>
          <a:p>
            <a:pPr algn="l">
              <a:spcAft>
                <a:spcPts val="300"/>
              </a:spcAft>
              <a:defRPr sz="1100" b="0">
                <a:solidFill>
                  <a:srgbClr val="666666"/>
                </a:solidFill>
                <a:latin typeface="Comfortaa"/>
              </a:defRPr>
            </a:pPr>
            <a:r>
              <a:t>     contrôle qualité rigoureux</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  Feature engineering sur</a:t>
            </a:r>
          </a:p>
          <a:p>
            <a:pPr algn="l">
              <a:spcAft>
                <a:spcPts val="300"/>
              </a:spcAft>
              <a:defRPr sz="1100" b="0">
                <a:solidFill>
                  <a:srgbClr val="666666"/>
                </a:solidFill>
                <a:latin typeface="Comfortaa"/>
              </a:defRPr>
            </a:pPr>
            <a:r>
              <a:t>     variables comportementales</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  Pipeline reproductible et</a:t>
            </a:r>
          </a:p>
          <a:p>
            <a:pPr algn="l">
              <a:spcAft>
                <a:spcPts val="300"/>
              </a:spcAft>
              <a:defRPr sz="1100" b="0">
                <a:solidFill>
                  <a:srgbClr val="666666"/>
                </a:solidFill>
                <a:latin typeface="Comfortaa"/>
              </a:defRPr>
            </a:pPr>
            <a:r>
              <a:t>     traçable (seeds, SHA-256)</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  Interface de visualisation</a:t>
            </a:r>
          </a:p>
          <a:p>
            <a:pPr algn="l">
              <a:spcAft>
                <a:spcPts val="300"/>
              </a:spcAft>
              <a:defRPr sz="1100" b="0">
                <a:solidFill>
                  <a:srgbClr val="666666"/>
                </a:solidFill>
                <a:latin typeface="Comfortaa"/>
              </a:defRPr>
            </a:pPr>
            <a:r>
              <a:t>     pour non-informaticiens</a:t>
            </a:r>
          </a:p>
        </p:txBody>
      </p:sp>
      <p:sp>
        <p:nvSpPr>
          <p:cNvPr id="5" name="TextBox 4"/>
          <p:cNvSpPr txBox="1"/>
          <p:nvPr/>
        </p:nvSpPr>
        <p:spPr>
          <a:xfrm>
            <a:off x="4846320" y="1325880"/>
            <a:ext cx="3840480" cy="3474720"/>
          </a:xfrm>
          <a:prstGeom prst="rect">
            <a:avLst/>
          </a:prstGeom>
          <a:noFill/>
        </p:spPr>
        <p:txBody>
          <a:bodyPr wrap="square">
            <a:spAutoFit/>
          </a:bodyPr>
          <a:lstStyle/>
          <a:p>
            <a:pPr algn="l">
              <a:spcAft>
                <a:spcPts val="400"/>
              </a:spcAft>
              <a:defRPr sz="1300" b="1">
                <a:solidFill>
                  <a:srgbClr val="2E7D32"/>
                </a:solidFill>
                <a:latin typeface="Comfortaa"/>
              </a:defRPr>
            </a:pPr>
            <a:r>
              <a:t>Votre projet McGill :</a:t>
            </a:r>
          </a:p>
          <a:p>
            <a:pPr algn="l">
              <a:spcAft>
                <a:spcPts val="100"/>
              </a:spcAft>
              <a:defRPr sz="400" b="0">
                <a:solidFill>
                  <a:srgbClr val="333333"/>
                </a:solidFill>
                <a:latin typeface="Comfortaa"/>
              </a:defRPr>
            </a:pPr>
          </a:p>
          <a:p>
            <a:pPr algn="l">
              <a:spcAft>
                <a:spcPts val="300"/>
              </a:spcAft>
              <a:defRPr sz="1100" b="0">
                <a:solidFill>
                  <a:srgbClr val="333333"/>
                </a:solidFill>
                <a:latin typeface="Comfortaa"/>
              </a:defRPr>
            </a:pPr>
            <a:r>
              <a:t>  •  Question différente :</a:t>
            </a:r>
          </a:p>
          <a:p>
            <a:pPr algn="l">
              <a:spcAft>
                <a:spcPts val="300"/>
              </a:spcAft>
              <a:defRPr sz="1100" b="0">
                <a:solidFill>
                  <a:srgbClr val="666666"/>
                </a:solidFill>
                <a:latin typeface="Comfortaa"/>
              </a:defRPr>
            </a:pPr>
            <a:r>
              <a:t>     effet environnement sur</a:t>
            </a:r>
          </a:p>
          <a:p>
            <a:pPr algn="l">
              <a:spcAft>
                <a:spcPts val="300"/>
              </a:spcAft>
              <a:defRPr sz="1100" b="0">
                <a:solidFill>
                  <a:srgbClr val="666666"/>
                </a:solidFill>
                <a:latin typeface="Comfortaa"/>
              </a:defRPr>
            </a:pPr>
            <a:r>
              <a:t>     comportement locomoteur</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  Données : 6 essais, 2 214 obs,</a:t>
            </a:r>
          </a:p>
          <a:p>
            <a:pPr algn="l">
              <a:spcAft>
                <a:spcPts val="300"/>
              </a:spcAft>
              <a:defRPr sz="1100" b="0">
                <a:solidFill>
                  <a:srgbClr val="666666"/>
                </a:solidFill>
                <a:latin typeface="Comfortaa"/>
              </a:defRPr>
            </a:pPr>
            <a:r>
              <a:t>     90 vaches, IceTag</a:t>
            </a:r>
          </a:p>
          <a:p>
            <a:pPr algn="l">
              <a:spcAft>
                <a:spcPts val="100"/>
              </a:spcAft>
              <a:defRPr sz="300" b="0">
                <a:solidFill>
                  <a:srgbClr val="333333"/>
                </a:solidFill>
                <a:latin typeface="Comfortaa"/>
              </a:defRPr>
            </a:pPr>
          </a:p>
          <a:p>
            <a:pPr algn="l">
              <a:spcAft>
                <a:spcPts val="300"/>
              </a:spcAft>
              <a:defRPr sz="1100" b="0">
                <a:solidFill>
                  <a:srgbClr val="333333"/>
                </a:solidFill>
                <a:latin typeface="Comfortaa"/>
              </a:defRPr>
            </a:pPr>
            <a:r>
              <a:t>  •  Variables manquantes pour</a:t>
            </a:r>
          </a:p>
          <a:p>
            <a:pPr algn="l">
              <a:spcAft>
                <a:spcPts val="300"/>
              </a:spcAft>
              <a:defRPr sz="1100" b="0">
                <a:solidFill>
                  <a:srgbClr val="666666"/>
                </a:solidFill>
                <a:latin typeface="Comfortaa"/>
              </a:defRPr>
            </a:pPr>
            <a:r>
              <a:t>     aller plus loin : température,</a:t>
            </a:r>
          </a:p>
          <a:p>
            <a:pPr algn="l">
              <a:spcAft>
                <a:spcPts val="300"/>
              </a:spcAft>
              <a:defRPr sz="1100" b="0">
                <a:solidFill>
                  <a:srgbClr val="666666"/>
                </a:solidFill>
                <a:latin typeface="Comfortaa"/>
              </a:defRPr>
            </a:pPr>
            <a:r>
              <a:t>     humidité, observations terrain</a:t>
            </a:r>
          </a:p>
          <a:p>
            <a:pPr algn="l">
              <a:spcAft>
                <a:spcPts val="100"/>
              </a:spcAft>
              <a:defRPr sz="300" b="0">
                <a:solidFill>
                  <a:srgbClr val="333333"/>
                </a:solidFill>
                <a:latin typeface="Comfortaa"/>
              </a:defRPr>
            </a:pPr>
          </a:p>
          <a:p>
            <a:pPr algn="l">
              <a:spcAft>
                <a:spcPts val="300"/>
              </a:spcAft>
              <a:defRPr sz="1100" b="1">
                <a:solidFill>
                  <a:srgbClr val="2E7D32"/>
                </a:solidFill>
                <a:latin typeface="Comfortaa"/>
              </a:defRPr>
            </a:pPr>
            <a:r>
              <a:t>  •  Mon audit initial est déjà fait</a:t>
            </a:r>
          </a:p>
          <a:p>
            <a:pPr algn="l">
              <a:spcAft>
                <a:spcPts val="300"/>
              </a:spcAft>
              <a:defRPr sz="1100" b="0">
                <a:solidFill>
                  <a:srgbClr val="2E7D32"/>
                </a:solidFill>
                <a:latin typeface="Comfortaa"/>
              </a:defRPr>
            </a:pPr>
            <a:r>
              <a:t>     (notebook + rapport livré)</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Méthodologie proposée pour la suite</a:t>
            </a:r>
          </a:p>
        </p:txBody>
      </p:sp>
      <p:sp>
        <p:nvSpPr>
          <p:cNvPr id="4" name="TextBox 3"/>
          <p:cNvSpPr txBox="1"/>
          <p:nvPr/>
        </p:nvSpPr>
        <p:spPr>
          <a:xfrm>
            <a:off x="731520" y="1325880"/>
            <a:ext cx="7772400" cy="3474720"/>
          </a:xfrm>
          <a:prstGeom prst="rect">
            <a:avLst/>
          </a:prstGeom>
          <a:noFill/>
        </p:spPr>
        <p:txBody>
          <a:bodyPr wrap="square">
            <a:spAutoFit/>
          </a:bodyPr>
          <a:lstStyle/>
          <a:p>
            <a:pPr algn="l">
              <a:spcAft>
                <a:spcPts val="400"/>
              </a:spcAft>
              <a:defRPr sz="1200" b="1">
                <a:solidFill>
                  <a:srgbClr val="333333"/>
                </a:solidFill>
                <a:latin typeface="Comfortaa"/>
              </a:defRPr>
            </a:pPr>
            <a:r>
              <a:t>Phase 1  Audit &amp; harmonisation des 6 jeux de données</a:t>
            </a:r>
          </a:p>
          <a:p>
            <a:pPr algn="l">
              <a:spcAft>
                <a:spcPts val="300"/>
              </a:spcAft>
              <a:defRPr sz="1000" b="0">
                <a:solidFill>
                  <a:srgbClr val="666666"/>
                </a:solidFill>
                <a:latin typeface="Comfortaa"/>
              </a:defRPr>
            </a:pPr>
            <a:r>
              <a:t>             → dictionnaire de variables, nettoyage, schéma unifié</a:t>
            </a:r>
          </a:p>
          <a:p>
            <a:pPr algn="l">
              <a:spcAft>
                <a:spcPts val="300"/>
              </a:spcAft>
              <a:defRPr sz="1000" b="1">
                <a:solidFill>
                  <a:srgbClr val="2E7D32"/>
                </a:solidFill>
                <a:latin typeface="Comfortaa"/>
              </a:defRPr>
            </a:pPr>
            <a:r>
              <a:t>             ✓ En cours — audit initial livré</a:t>
            </a:r>
          </a:p>
          <a:p>
            <a:pPr algn="l">
              <a:spcAft>
                <a:spcPts val="100"/>
              </a:spcAft>
              <a:defRPr sz="400" b="0">
                <a:solidFill>
                  <a:srgbClr val="333333"/>
                </a:solidFill>
                <a:latin typeface="Comfortaa"/>
              </a:defRPr>
            </a:pPr>
          </a:p>
          <a:p>
            <a:pPr algn="l">
              <a:spcAft>
                <a:spcPts val="400"/>
              </a:spcAft>
              <a:defRPr sz="1200" b="1">
                <a:solidFill>
                  <a:srgbClr val="333333"/>
                </a:solidFill>
                <a:latin typeface="Comfortaa"/>
              </a:defRPr>
            </a:pPr>
            <a:r>
              <a:t>Phase 2  Reproduction des résultats de Cellier et al. (2025)</a:t>
            </a:r>
          </a:p>
          <a:p>
            <a:pPr algn="l">
              <a:spcAft>
                <a:spcPts val="300"/>
              </a:spcAft>
              <a:defRPr sz="1000" b="0">
                <a:solidFill>
                  <a:srgbClr val="666666"/>
                </a:solidFill>
                <a:latin typeface="Comfortaa"/>
              </a:defRPr>
            </a:pPr>
            <a:r>
              <a:t>             → valider la base avant d'aller plus loin</a:t>
            </a:r>
          </a:p>
          <a:p>
            <a:pPr algn="l">
              <a:spcAft>
                <a:spcPts val="100"/>
              </a:spcAft>
              <a:defRPr sz="400" b="0">
                <a:solidFill>
                  <a:srgbClr val="333333"/>
                </a:solidFill>
                <a:latin typeface="Comfortaa"/>
              </a:defRPr>
            </a:pPr>
          </a:p>
          <a:p>
            <a:pPr algn="l">
              <a:spcAft>
                <a:spcPts val="400"/>
              </a:spcAft>
              <a:defRPr sz="1200" b="1">
                <a:solidFill>
                  <a:srgbClr val="333333"/>
                </a:solidFill>
                <a:latin typeface="Comfortaa"/>
              </a:defRPr>
            </a:pPr>
            <a:r>
              <a:t>Phase 3  Intégration multi-sources (environnement + observations)</a:t>
            </a:r>
          </a:p>
          <a:p>
            <a:pPr algn="l">
              <a:spcAft>
                <a:spcPts val="300"/>
              </a:spcAft>
              <a:defRPr sz="1000" b="0">
                <a:solidFill>
                  <a:srgbClr val="666666"/>
                </a:solidFill>
                <a:latin typeface="Comfortaa"/>
              </a:defRPr>
            </a:pPr>
            <a:r>
              <a:t>             → la vraie question : contexte → comportement</a:t>
            </a:r>
          </a:p>
          <a:p>
            <a:pPr algn="l">
              <a:spcAft>
                <a:spcPts val="300"/>
              </a:spcAft>
              <a:defRPr sz="1000" b="1">
                <a:solidFill>
                  <a:srgbClr val="C1272D"/>
                </a:solidFill>
                <a:latin typeface="Comfortaa"/>
              </a:defRPr>
            </a:pPr>
            <a:r>
              <a:t>             ⚠ dépend de la disponibilité des données</a:t>
            </a:r>
          </a:p>
          <a:p>
            <a:pPr algn="l">
              <a:spcAft>
                <a:spcPts val="100"/>
              </a:spcAft>
              <a:defRPr sz="400" b="0">
                <a:solidFill>
                  <a:srgbClr val="333333"/>
                </a:solidFill>
                <a:latin typeface="Comfortaa"/>
              </a:defRPr>
            </a:pPr>
          </a:p>
          <a:p>
            <a:pPr algn="l">
              <a:spcAft>
                <a:spcPts val="400"/>
              </a:spcAft>
              <a:defRPr sz="1200" b="1">
                <a:solidFill>
                  <a:srgbClr val="333333"/>
                </a:solidFill>
                <a:latin typeface="Comfortaa"/>
              </a:defRPr>
            </a:pPr>
            <a:r>
              <a:t>Phase 4  Enrichissement analytique (si signaux bruts disponibles)</a:t>
            </a:r>
          </a:p>
          <a:p>
            <a:pPr algn="l">
              <a:spcAft>
                <a:spcPts val="300"/>
              </a:spcAft>
              <a:defRPr sz="1000" b="0">
                <a:solidFill>
                  <a:srgbClr val="666666"/>
                </a:solidFill>
                <a:latin typeface="Comfortaa"/>
              </a:defRPr>
            </a:pPr>
            <a:r>
              <a:t>             → clustering, modèles mixtes, ML si justifié</a:t>
            </a:r>
          </a:p>
          <a:p>
            <a:pPr algn="l">
              <a:spcAft>
                <a:spcPts val="100"/>
              </a:spcAft>
              <a:defRPr sz="400" b="0">
                <a:solidFill>
                  <a:srgbClr val="333333"/>
                </a:solidFill>
                <a:latin typeface="Comfortaa"/>
              </a:defRPr>
            </a:pPr>
          </a:p>
          <a:p>
            <a:pPr algn="l">
              <a:spcAft>
                <a:spcPts val="400"/>
              </a:spcAft>
              <a:defRPr sz="1200" b="1">
                <a:solidFill>
                  <a:srgbClr val="333333"/>
                </a:solidFill>
                <a:latin typeface="Comfortaa"/>
              </a:defRPr>
            </a:pPr>
            <a:r>
              <a:t>Phase 5  Notebook Jupyter final reproductible et transférable</a:t>
            </a:r>
          </a:p>
          <a:p>
            <a:pPr algn="l">
              <a:spcAft>
                <a:spcPts val="300"/>
              </a:spcAft>
              <a:defRPr sz="1000" b="0">
                <a:solidFill>
                  <a:srgbClr val="666666"/>
                </a:solidFill>
                <a:latin typeface="Comfortaa"/>
              </a:defRPr>
            </a:pPr>
            <a:r>
              <a:t>             → livrable autonome pour l'équipe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548640" y="777240"/>
            <a:ext cx="7315200" cy="411480"/>
          </a:xfrm>
          <a:prstGeom prst="rect">
            <a:avLst/>
          </a:prstGeom>
          <a:noFill/>
        </p:spPr>
        <p:txBody>
          <a:bodyPr wrap="square">
            <a:spAutoFit/>
          </a:bodyPr>
          <a:lstStyle/>
          <a:p>
            <a:pPr algn="l">
              <a:defRPr sz="1800" b="1">
                <a:solidFill>
                  <a:srgbClr val="C1272D"/>
                </a:solidFill>
                <a:latin typeface="Comfortaa"/>
              </a:defRPr>
            </a:pPr>
            <a:r>
              <a:t>Questions pour l'équipe</a:t>
            </a:r>
          </a:p>
        </p:txBody>
      </p:sp>
      <p:sp>
        <p:nvSpPr>
          <p:cNvPr id="4" name="TextBox 3"/>
          <p:cNvSpPr txBox="1"/>
          <p:nvPr/>
        </p:nvSpPr>
        <p:spPr>
          <a:xfrm>
            <a:off x="731520" y="1325880"/>
            <a:ext cx="3840480" cy="3474720"/>
          </a:xfrm>
          <a:prstGeom prst="rect">
            <a:avLst/>
          </a:prstGeom>
          <a:noFill/>
        </p:spPr>
        <p:txBody>
          <a:bodyPr wrap="square">
            <a:spAutoFit/>
          </a:bodyPr>
          <a:lstStyle/>
          <a:p>
            <a:pPr algn="l">
              <a:spcAft>
                <a:spcPts val="400"/>
              </a:spcAft>
              <a:defRPr sz="1300" b="1">
                <a:solidFill>
                  <a:srgbClr val="0070C0"/>
                </a:solidFill>
                <a:latin typeface="Comfortaa"/>
              </a:defRPr>
            </a:pPr>
            <a:r>
              <a:t>Sur les données :</a:t>
            </a:r>
          </a:p>
          <a:p>
            <a:pPr algn="l">
              <a:spcAft>
                <a:spcPts val="300"/>
              </a:spcAft>
              <a:defRPr sz="1100" b="0">
                <a:solidFill>
                  <a:srgbClr val="333333"/>
                </a:solidFill>
                <a:latin typeface="Comfortaa"/>
              </a:defRPr>
            </a:pPr>
            <a:r>
              <a:t>  •  90 vs 141 vaches : où sont</a:t>
            </a:r>
          </a:p>
          <a:p>
            <a:pPr algn="l">
              <a:spcAft>
                <a:spcPts val="300"/>
              </a:spcAft>
              <a:defRPr sz="1100" b="0">
                <a:solidFill>
                  <a:srgbClr val="333333"/>
                </a:solidFill>
                <a:latin typeface="Comfortaa"/>
              </a:defRPr>
            </a:pPr>
            <a:r>
              <a:t>     les 51 manquantes ?</a:t>
            </a:r>
          </a:p>
          <a:p>
            <a:pPr algn="l">
              <a:spcAft>
                <a:spcPts val="300"/>
              </a:spcAft>
              <a:defRPr sz="1100" b="0">
                <a:solidFill>
                  <a:srgbClr val="333333"/>
                </a:solidFill>
                <a:latin typeface="Comfortaa"/>
              </a:defRPr>
            </a:pPr>
            <a:r>
              <a:t>  •  Signaux IceTag bruts</a:t>
            </a:r>
          </a:p>
          <a:p>
            <a:pPr algn="l">
              <a:spcAft>
                <a:spcPts val="300"/>
              </a:spcAft>
              <a:defRPr sz="1100" b="0">
                <a:solidFill>
                  <a:srgbClr val="333333"/>
                </a:solidFill>
                <a:latin typeface="Comfortaa"/>
              </a:defRPr>
            </a:pPr>
            <a:r>
              <a:t>     (1-min) disponibles ?</a:t>
            </a:r>
          </a:p>
          <a:p>
            <a:pPr algn="l">
              <a:spcAft>
                <a:spcPts val="300"/>
              </a:spcAft>
              <a:defRPr sz="1100" b="0">
                <a:solidFill>
                  <a:srgbClr val="333333"/>
                </a:solidFill>
                <a:latin typeface="Comfortaa"/>
              </a:defRPr>
            </a:pPr>
            <a:r>
              <a:t>  •  Données température /</a:t>
            </a:r>
          </a:p>
          <a:p>
            <a:pPr algn="l">
              <a:spcAft>
                <a:spcPts val="300"/>
              </a:spcAft>
              <a:defRPr sz="1100" b="0">
                <a:solidFill>
                  <a:srgbClr val="333333"/>
                </a:solidFill>
                <a:latin typeface="Comfortaa"/>
              </a:defRPr>
            </a:pPr>
            <a:r>
              <a:t>     humidité : format, fréquence ?</a:t>
            </a:r>
          </a:p>
          <a:p>
            <a:pPr algn="l">
              <a:spcAft>
                <a:spcPts val="300"/>
              </a:spcAft>
              <a:defRPr sz="1100" b="0">
                <a:solidFill>
                  <a:srgbClr val="333333"/>
                </a:solidFill>
                <a:latin typeface="Comfortaa"/>
              </a:defRPr>
            </a:pPr>
            <a:r>
              <a:t>  •  Observations comportement. :</a:t>
            </a:r>
          </a:p>
          <a:p>
            <a:pPr algn="l">
              <a:spcAft>
                <a:spcPts val="300"/>
              </a:spcAft>
              <a:defRPr sz="1100" b="0">
                <a:solidFill>
                  <a:srgbClr val="333333"/>
                </a:solidFill>
                <a:latin typeface="Comfortaa"/>
              </a:defRPr>
            </a:pPr>
            <a:r>
              <a:t>     éthogramme codé ? vidéo ?</a:t>
            </a:r>
          </a:p>
        </p:txBody>
      </p:sp>
      <p:sp>
        <p:nvSpPr>
          <p:cNvPr id="5" name="TextBox 4"/>
          <p:cNvSpPr txBox="1"/>
          <p:nvPr/>
        </p:nvSpPr>
        <p:spPr>
          <a:xfrm>
            <a:off x="4846320" y="1325880"/>
            <a:ext cx="3840480" cy="3474720"/>
          </a:xfrm>
          <a:prstGeom prst="rect">
            <a:avLst/>
          </a:prstGeom>
          <a:noFill/>
        </p:spPr>
        <p:txBody>
          <a:bodyPr wrap="square">
            <a:spAutoFit/>
          </a:bodyPr>
          <a:lstStyle/>
          <a:p>
            <a:pPr algn="l">
              <a:spcAft>
                <a:spcPts val="400"/>
              </a:spcAft>
              <a:defRPr sz="1300" b="1">
                <a:solidFill>
                  <a:srgbClr val="0070C0"/>
                </a:solidFill>
                <a:latin typeface="Comfortaa"/>
              </a:defRPr>
            </a:pPr>
            <a:r>
              <a:t>Sur le projet :</a:t>
            </a:r>
          </a:p>
          <a:p>
            <a:pPr algn="l">
              <a:spcAft>
                <a:spcPts val="300"/>
              </a:spcAft>
              <a:defRPr sz="1100" b="0">
                <a:solidFill>
                  <a:srgbClr val="333333"/>
                </a:solidFill>
                <a:latin typeface="Comfortaa"/>
              </a:defRPr>
            </a:pPr>
            <a:r>
              <a:t>  •  Objectif explicatif,</a:t>
            </a:r>
          </a:p>
          <a:p>
            <a:pPr algn="l">
              <a:spcAft>
                <a:spcPts val="300"/>
              </a:spcAft>
              <a:defRPr sz="1100" b="0">
                <a:solidFill>
                  <a:srgbClr val="333333"/>
                </a:solidFill>
                <a:latin typeface="Comfortaa"/>
              </a:defRPr>
            </a:pPr>
            <a:r>
              <a:t>     prédictif, ou les deux ?</a:t>
            </a:r>
          </a:p>
          <a:p>
            <a:pPr algn="l">
              <a:spcAft>
                <a:spcPts val="300"/>
              </a:spcAft>
              <a:defRPr sz="1100" b="0">
                <a:solidFill>
                  <a:srgbClr val="333333"/>
                </a:solidFill>
                <a:latin typeface="Comfortaa"/>
              </a:defRPr>
            </a:pPr>
            <a:r>
              <a:t>  •  Public cible du notebook ?</a:t>
            </a:r>
          </a:p>
          <a:p>
            <a:pPr algn="l">
              <a:spcAft>
                <a:spcPts val="300"/>
              </a:spcAft>
              <a:defRPr sz="1100" b="0">
                <a:solidFill>
                  <a:srgbClr val="333333"/>
                </a:solidFill>
                <a:latin typeface="Comfortaa"/>
              </a:defRPr>
            </a:pPr>
            <a:r>
              <a:t>  •  Priorités de l'équipe ?</a:t>
            </a:r>
          </a:p>
          <a:p>
            <a:pPr algn="l">
              <a:spcAft>
                <a:spcPts val="200"/>
              </a:spcAft>
              <a:defRPr sz="600" b="0">
                <a:solidFill>
                  <a:srgbClr val="333333"/>
                </a:solidFill>
                <a:latin typeface="Comfortaa"/>
              </a:defRPr>
            </a:pPr>
          </a:p>
          <a:p>
            <a:pPr algn="l">
              <a:spcAft>
                <a:spcPts val="400"/>
              </a:spcAft>
              <a:defRPr sz="1300" b="1">
                <a:solidFill>
                  <a:srgbClr val="0070C0"/>
                </a:solidFill>
                <a:latin typeface="Comfortaa"/>
              </a:defRPr>
            </a:pPr>
            <a:r>
              <a:t>Sur le design :</a:t>
            </a:r>
          </a:p>
          <a:p>
            <a:pPr algn="l">
              <a:spcAft>
                <a:spcPts val="300"/>
              </a:spcAft>
              <a:defRPr sz="1100" b="0">
                <a:solidFill>
                  <a:srgbClr val="333333"/>
                </a:solidFill>
                <a:latin typeface="Comfortaa"/>
              </a:defRPr>
            </a:pPr>
            <a:r>
              <a:t>  •  « Alternatif » / « Conventionnel »</a:t>
            </a:r>
          </a:p>
          <a:p>
            <a:pPr algn="l">
              <a:spcAft>
                <a:spcPts val="300"/>
              </a:spcAft>
              <a:defRPr sz="1100" b="0">
                <a:solidFill>
                  <a:srgbClr val="333333"/>
                </a:solidFill>
                <a:latin typeface="Comfortaa"/>
              </a:defRPr>
            </a:pPr>
            <a:r>
              <a:t>     dans Summer 2021 ?</a:t>
            </a:r>
          </a:p>
          <a:p>
            <a:pPr algn="l">
              <a:spcAft>
                <a:spcPts val="300"/>
              </a:spcAft>
              <a:defRPr sz="1100" b="0">
                <a:solidFill>
                  <a:srgbClr val="333333"/>
                </a:solidFill>
                <a:latin typeface="Comfortaa"/>
              </a:defRPr>
            </a:pPr>
            <a:r>
              <a:t>  •  Durée de washout entre</a:t>
            </a:r>
          </a:p>
          <a:p>
            <a:pPr algn="l">
              <a:spcAft>
                <a:spcPts val="300"/>
              </a:spcAft>
              <a:defRPr sz="1100" b="0">
                <a:solidFill>
                  <a:srgbClr val="333333"/>
                </a:solidFill>
                <a:latin typeface="Comfortaa"/>
              </a:defRPr>
            </a:pPr>
            <a:r>
              <a:t>     traitements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_bg.jpg"/>
          <p:cNvPicPr>
            <a:picLocks noChangeAspect="1"/>
          </p:cNvPicPr>
          <p:nvPr/>
        </p:nvPicPr>
        <p:blipFill>
          <a:blip r:embed="rId2"/>
          <a:stretch>
            <a:fillRect/>
          </a:stretch>
        </p:blipFill>
        <p:spPr>
          <a:xfrm>
            <a:off x="0" y="0"/>
            <a:ext cx="9144000" cy="5143500"/>
          </a:xfrm>
          <a:prstGeom prst="rect">
            <a:avLst/>
          </a:prstGeom>
        </p:spPr>
      </p:pic>
      <p:sp>
        <p:nvSpPr>
          <p:cNvPr id="3" name="TextBox 2"/>
          <p:cNvSpPr txBox="1"/>
          <p:nvPr/>
        </p:nvSpPr>
        <p:spPr>
          <a:xfrm>
            <a:off x="1371600" y="1463040"/>
            <a:ext cx="6400800" cy="731520"/>
          </a:xfrm>
          <a:prstGeom prst="rect">
            <a:avLst/>
          </a:prstGeom>
          <a:noFill/>
        </p:spPr>
        <p:txBody>
          <a:bodyPr wrap="square">
            <a:spAutoFit/>
          </a:bodyPr>
          <a:lstStyle/>
          <a:p>
            <a:pPr algn="ctr">
              <a:defRPr sz="2800" b="1">
                <a:solidFill>
                  <a:srgbClr val="333333"/>
                </a:solidFill>
                <a:latin typeface="Comfortaa"/>
              </a:defRPr>
            </a:pPr>
            <a:r>
              <a:t>Merci !</a:t>
            </a:r>
          </a:p>
        </p:txBody>
      </p:sp>
      <p:sp>
        <p:nvSpPr>
          <p:cNvPr id="4" name="TextBox 3"/>
          <p:cNvSpPr txBox="1"/>
          <p:nvPr/>
        </p:nvSpPr>
        <p:spPr>
          <a:xfrm>
            <a:off x="1371600" y="2286000"/>
            <a:ext cx="6400800" cy="457200"/>
          </a:xfrm>
          <a:prstGeom prst="rect">
            <a:avLst/>
          </a:prstGeom>
          <a:noFill/>
        </p:spPr>
        <p:txBody>
          <a:bodyPr wrap="square">
            <a:spAutoFit/>
          </a:bodyPr>
          <a:lstStyle/>
          <a:p>
            <a:pPr algn="ctr">
              <a:defRPr sz="1600" b="0">
                <a:solidFill>
                  <a:srgbClr val="666666"/>
                </a:solidFill>
                <a:latin typeface="Comfortaa"/>
              </a:defRPr>
            </a:pPr>
            <a:r>
              <a:t>Questions et discussion</a:t>
            </a:r>
          </a:p>
        </p:txBody>
      </p:sp>
      <p:sp>
        <p:nvSpPr>
          <p:cNvPr id="5" name="TextBox 4"/>
          <p:cNvSpPr txBox="1"/>
          <p:nvPr/>
        </p:nvSpPr>
        <p:spPr>
          <a:xfrm>
            <a:off x="1371600" y="3017520"/>
            <a:ext cx="6400800" cy="365760"/>
          </a:xfrm>
          <a:prstGeom prst="rect">
            <a:avLst/>
          </a:prstGeom>
          <a:noFill/>
        </p:spPr>
        <p:txBody>
          <a:bodyPr wrap="square">
            <a:spAutoFit/>
          </a:bodyPr>
          <a:lstStyle/>
          <a:p>
            <a:pPr algn="ctr">
              <a:defRPr sz="1100" b="0">
                <a:solidFill>
                  <a:srgbClr val="666666"/>
                </a:solidFill>
                <a:latin typeface="Comfortaa"/>
              </a:defRPr>
            </a:pPr>
            <a:r>
              <a:t>Aliou Barry  ·  aliou.barry@uqam.ca</a:t>
            </a:r>
          </a:p>
        </p:txBody>
      </p:sp>
      <p:sp>
        <p:nvSpPr>
          <p:cNvPr id="6" name="TextBox 5"/>
          <p:cNvSpPr txBox="1"/>
          <p:nvPr/>
        </p:nvSpPr>
        <p:spPr>
          <a:xfrm>
            <a:off x="1371600" y="3474720"/>
            <a:ext cx="6400800" cy="274320"/>
          </a:xfrm>
          <a:prstGeom prst="rect">
            <a:avLst/>
          </a:prstGeom>
          <a:noFill/>
        </p:spPr>
        <p:txBody>
          <a:bodyPr wrap="square">
            <a:spAutoFit/>
          </a:bodyPr>
          <a:lstStyle/>
          <a:p>
            <a:pPr algn="ctr">
              <a:defRPr sz="1000" b="0">
                <a:solidFill>
                  <a:srgbClr val="999999"/>
                </a:solidFill>
                <a:latin typeface="Comfortaa"/>
              </a:defRPr>
            </a:pPr>
            <a:r>
              <a:t>Code : github.com/Barryguinea/uqamemoire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