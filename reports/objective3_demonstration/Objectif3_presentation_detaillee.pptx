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659f302710f467d" Type="http://schemas.openxmlformats.org/package/2006/relationships/metadata/core-properties" Target="docProps/core.xml"/><Relationship Id="R78f8c0d29c5f4ed3" Type="http://schemas.openxmlformats.org/officeDocument/2006/relationships/extended-properties" Target="docProps/app.xml"/><Relationship Id="Ra6e921fda6354c7a"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e2d41215c13e4fdc"/>
  </p:sldMasterIdLst>
  <p:notesMasterIdLst>
    <p:notesMasterId xmlns:r="http://schemas.openxmlformats.org/officeDocument/2006/relationships" r:id="R7f930df2f9804382"/>
  </p:notesMasterIdLst>
  <p:sldIdLst>
    <p:sldId xmlns:r="http://schemas.openxmlformats.org/officeDocument/2006/relationships" id="256" r:id="R03f18d8160ac4f15"/>
    <p:sldId xmlns:r="http://schemas.openxmlformats.org/officeDocument/2006/relationships" id="257" r:id="Rb1469acdcf7c4119"/>
    <p:sldId xmlns:r="http://schemas.openxmlformats.org/officeDocument/2006/relationships" id="258" r:id="R5368ef8a919e4143"/>
    <p:sldId xmlns:r="http://schemas.openxmlformats.org/officeDocument/2006/relationships" id="259" r:id="R67f03862a8054b23"/>
    <p:sldId xmlns:r="http://schemas.openxmlformats.org/officeDocument/2006/relationships" id="260" r:id="Rc1001adb322c45e5"/>
    <p:sldId xmlns:r="http://schemas.openxmlformats.org/officeDocument/2006/relationships" id="261" r:id="R71c9ba4ac265434d"/>
    <p:sldId xmlns:r="http://schemas.openxmlformats.org/officeDocument/2006/relationships" id="262" r:id="R065783d084444561"/>
    <p:sldId xmlns:r="http://schemas.openxmlformats.org/officeDocument/2006/relationships" id="263" r:id="R5ac48a552d1b4e69"/>
    <p:sldId xmlns:r="http://schemas.openxmlformats.org/officeDocument/2006/relationships" id="264" r:id="Rc23ce67f8f92407a"/>
    <p:sldId xmlns:r="http://schemas.openxmlformats.org/officeDocument/2006/relationships" id="265" r:id="Ra5b264636a1d498f"/>
    <p:sldId xmlns:r="http://schemas.openxmlformats.org/officeDocument/2006/relationships" id="266" r:id="R5bd1a5d3ae254400"/>
    <p:sldId xmlns:r="http://schemas.openxmlformats.org/officeDocument/2006/relationships" id="267" r:id="R2fe9799a224844c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f18d8160ac4f15" Type="http://schemas.openxmlformats.org/officeDocument/2006/relationships/slide" Target="slides/slide1.xml"/><Relationship Id="R065783d084444561" Type="http://schemas.openxmlformats.org/officeDocument/2006/relationships/slide" Target="slides/slide7.xml"/><Relationship Id="R0d1f1be7d304429d" Type="http://schemas.openxmlformats.org/officeDocument/2006/relationships/tableStyles" Target="tableStyles.xml"/><Relationship Id="R2fe9799a224844c9" Type="http://schemas.openxmlformats.org/officeDocument/2006/relationships/slide" Target="slides/slide12.xml"/><Relationship Id="R5368ef8a919e4143" Type="http://schemas.openxmlformats.org/officeDocument/2006/relationships/slide" Target="slides/slide3.xml"/><Relationship Id="R5ac48a552d1b4e69" Type="http://schemas.openxmlformats.org/officeDocument/2006/relationships/slide" Target="slides/slide8.xml"/><Relationship Id="R5bd1a5d3ae254400" Type="http://schemas.openxmlformats.org/officeDocument/2006/relationships/slide" Target="slides/slide11.xml"/><Relationship Id="R67f03862a8054b23" Type="http://schemas.openxmlformats.org/officeDocument/2006/relationships/slide" Target="slides/slide4.xml"/><Relationship Id="R71c9ba4ac265434d" Type="http://schemas.openxmlformats.org/officeDocument/2006/relationships/slide" Target="slides/slide6.xml"/><Relationship Id="R7f930df2f9804382" Type="http://schemas.openxmlformats.org/officeDocument/2006/relationships/notesMaster" Target="notesMasters/notesMaster1.xml"/><Relationship Id="Ra5b264636a1d498f" Type="http://schemas.openxmlformats.org/officeDocument/2006/relationships/slide" Target="slides/slide10.xml"/><Relationship Id="Rb1469acdcf7c4119" Type="http://schemas.openxmlformats.org/officeDocument/2006/relationships/slide" Target="slides/slide2.xml"/><Relationship Id="Rc1001adb322c45e5" Type="http://schemas.openxmlformats.org/officeDocument/2006/relationships/slide" Target="slides/slide5.xml"/><Relationship Id="Rc23ce67f8f92407a" Type="http://schemas.openxmlformats.org/officeDocument/2006/relationships/slide" Target="slides/slide9.xml"/><Relationship Id="Rc2922905543146b3" Type="http://schemas.openxmlformats.org/officeDocument/2006/relationships/presProps" Target="presProps.xml"/><Relationship Id="Re2d41215c13e4fdc" Type="http://schemas.openxmlformats.org/officeDocument/2006/relationships/slideMaster" Target="slideMasters/slideMaster1.xml"/><Relationship Id="Rf125e7abcc1c4ee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3c5c926162494e6e"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cGill WELL-E">
  <a:themeElements>
    <a:clrScheme name="McGill WELL-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McGill WEL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28bcbdaa0694a41" Type="http://schemas.openxmlformats.org/officeDocument/2006/relationships/slide" Target="../slides/slide1.xml"/><Relationship Id="Ra4cb319151c943d0"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bdecf19ae12a4f55" Type="http://schemas.openxmlformats.org/officeDocument/2006/relationships/notesMaster" Target="../notesMasters/notesMaster1.xml"/><Relationship Id="Rec72c2fca3d04930"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6a3057c6dade45ce" Type="http://schemas.openxmlformats.org/officeDocument/2006/relationships/slide" Target="../slides/slide3.xml"/><Relationship Id="Rb2965d322ae7469a"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42f5b8308e294065" Type="http://schemas.openxmlformats.org/officeDocument/2006/relationships/slide" Target="../slides/slide4.xml"/><Relationship Id="R467b252bd1fa4ea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6f555ee038bc49e9" Type="http://schemas.openxmlformats.org/officeDocument/2006/relationships/slide" Target="../slides/slide5.xml"/><Relationship Id="Rda437f2bdc1a4cff"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3ad5f68790454a94" Type="http://schemas.openxmlformats.org/officeDocument/2006/relationships/slide" Target="../slides/slide6.xml"/><Relationship Id="Ra161c247be3c4689"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6f79a430d060471c" Type="http://schemas.openxmlformats.org/officeDocument/2006/relationships/notesMaster" Target="../notesMasters/notesMaster1.xml"/><Relationship Id="Rc5a1b269d3ae48b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95ffc916b4e94c9d" Type="http://schemas.openxmlformats.org/officeDocument/2006/relationships/slide" Target="../slides/slide8.xml"/><Relationship Id="Rc12226859a764be3"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2b96fdae641f4bb3" Type="http://schemas.openxmlformats.org/officeDocument/2006/relationships/notesMaster" Target="../notesMasters/notesMaster1.xml"/><Relationship Id="R4e1273d9ad56497e"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21c21261fac8467a" Type="http://schemas.openxmlformats.org/officeDocument/2006/relationships/slide" Target="../slides/slide10.xml"/><Relationship Id="R347c69edf4054914"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34b4460268234ee3" Type="http://schemas.openxmlformats.org/officeDocument/2006/relationships/notesMaster" Target="../notesMasters/notesMaster1.xml"/><Relationship Id="R6a42ac578dbf4828"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0ac195384cde49af" Type="http://schemas.openxmlformats.org/officeDocument/2006/relationships/notesMaster" Target="../notesMasters/notesMaster1.xml"/><Relationship Id="R0c6504548c65418b" Type="http://schemas.openxmlformats.org/officeDocument/2006/relationships/slide" Target="../slides/slide12.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présentation explique l’Objectif 3 du projet McGill / WELL-E. Le SOW demande un notebook de démonstration IoT structuré pour des applications en élevage laitier, accompagné de sa documentation.</a:t>
            </a:r>
          </a:p>
          <a:p xmlns:a="http://schemas.openxmlformats.org/drawingml/2006/main">
            <a:r>
              <a:t>Le PowerPoint est un support explicatif supplémentaire. Les livrables contractuels restent le notebook final et sa documentation; le diaporama sert à montrer ce que le notebook fait, où se trouvent les fichiers et comment interpréter les résultats.</a:t>
            </a:r>
          </a:p>
          <a:p xmlns:a="http://schemas.openxmlformats.org/drawingml/2006/main">
            <a:r>
              <a:t>Le message d’ouverture est simple : le notebook est fonctionnel, autonome et reproductible. Il relie les travaux déjà réalisés sur les données IceTag, les alertes multi-saisons, le THI et les comportements.</a:t>
            </a:r>
          </a:p>
          <a:p xmlns:a="http://schemas.openxmlformats.org/drawingml/2006/main">
            <a:r>
              <a:t>La présentation doit aussi fixer une limite importante : cette démonstration n’est pas une nouvelle validation clinique de la boiterie ni une preuve causale de l’effet thermique.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réponse exécutive est que l’Objectif 3 est terminé. Le notebook contient neuf cellules de code; les neuf ont été exécutées dans l’ordre et aucune erreur n’a été relevée.</a:t>
            </a:r>
          </a:p>
          <a:p xmlns:a="http://schemas.openxmlformats.org/drawingml/2006/main">
            <a:r>
              <a:t>La reproductibilité a été vérifiée deux fois : d’abord dans le dépôt de travail, puis depuis une copie autonome du dossier livré. Dans ce second cas, le notebook détecte automatiquement le mode de livraison et utilise les données, modules et paramètres inclus dans le paquet.</a:t>
            </a:r>
          </a:p>
          <a:p xmlns:a="http://schemas.openxmlformats.org/drawingml/2006/main">
            <a:r>
              <a:t>La conformité au SOW repose sur quatre blocs visibles : chargement et prétraitement, exécution de la pipeline sur IceTag, visualisations environnement-comportement et guide d’interprétation.</a:t>
            </a:r>
          </a:p>
          <a:p xmlns:a="http://schemas.openxmlformats.org/drawingml/2006/main">
            <a:r>
              <a:t>Il faut présenter le notebook comme une démonstration intégrée. Il montre comment utiliser les données et lire les résultats; il ne transforme pas les alertes en diagnostics cliniques et ne crée pas une preuve causale nouvelle.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diapositive répond directement à la question : quels étaient les livrables de l’Objectif 3? Le SOW indique exactement « Final Notebook + documentation ».</a:t>
            </a:r>
          </a:p>
          <a:p xmlns:a="http://schemas.openxmlformats.org/drawingml/2006/main">
            <a:r>
              <a:t>Le notebook final est le fichier code/12_objectif3_notebook_demonstration.ipynb. La documentation principale est le guide Word Objectif3_guide_utilisation.docx, complété par une note Markdown d’exécution.</a:t>
            </a:r>
          </a:p>
          <a:p xmlns:a="http://schemas.openxmlformats.org/drawingml/2006/main">
            <a:r>
              <a:t>Les dossiers DONNEES_DEMO et RESULTATS ne sont pas des livrables supplémentaires imposés par le SOW. Ils ont été ajoutés pour rendre le notebook autonome et permettre au destinataire de reproduire les figures sans accéder au dépôt de travail complet.</a:t>
            </a:r>
          </a:p>
          <a:p xmlns:a="http://schemas.openxmlformats.org/drawingml/2006/main">
            <a:r>
              <a:t>Le présent PowerPoint est également additionnel. Il ne doit pas être présenté comme la correction d’un manque contractuel, mais comme un support de lecture et de présentation du livrable principal.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paquet est organisé pour qu’une personne extérieure au dépôt comprenne immédiatement quoi ouvrir et où trouver les dépendances.</a:t>
            </a:r>
          </a:p>
          <a:p xmlns:a="http://schemas.openxmlformats.org/drawingml/2006/main">
            <a:r>
              <a:t>Le dossier code contient le notebook, les modules du cœur de pipeline et les paramètres gelés. DONNEES_DEMO contient sept CSV compacts. RESULTATS contient cinq figures générées par le notebook et une synthèse textuelle.</a:t>
            </a:r>
          </a:p>
          <a:p xmlns:a="http://schemas.openxmlformats.org/drawingml/2006/main">
            <a:r>
              <a:t>La documentation existe en deux formats : le guide Word pour la lecture et une note Markdown proche du code pour l’exécution. Le dossier RAPPORTS contient maintenant aussi cette présentation détaillée.</a:t>
            </a:r>
          </a:p>
          <a:p xmlns:a="http://schemas.openxmlformats.org/drawingml/2006/main">
            <a:r>
              <a:t>Le choix d’un échantillon compact est volontaire. L’Objectif 3 est une démonstration reproductible; il n’est pas nécessaire de recopier plusieurs centaines de mégaoctets de prédictions saisonnières dans le paquet pour prouver son fonctionnement.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notebook commence par résoudre automatiquement ses chemins. Il peut fonctionner dans le dépôt de travail ou dans le dossier de livraison sans modifier les cellules.</a:t>
            </a:r>
          </a:p>
          <a:p xmlns:a="http://schemas.openxmlformats.org/drawingml/2006/main">
            <a:r>
              <a:t>Les données sont ensuite chargées et contrôlées : présence des colonnes attendues, conversion des identifiants de vaches en chaînes, parsing des horodatages et vérification du pas de temps médian de quinze minutes.</a:t>
            </a:r>
          </a:p>
          <a:p xmlns:a="http://schemas.openxmlformats.org/drawingml/2006/main">
            <a:r>
              <a:t>Une première visualisation décrit le profil journalier du signal IceTag. La pipeline est ensuite exécutée réellement sur un échantillon, puis les résultats multi-saisons et les analyses THI-comportement sont chargés pour contextualiser la démonstration.</a:t>
            </a:r>
          </a:p>
          <a:p xmlns:a="http://schemas.openxmlformats.org/drawingml/2006/main">
            <a:r>
              <a:t>La dernière section ne se contente pas de résumer les chiffres. Elle explique comment distinguer une alerte comportementale, une association statistique, une validation clinique et une conclusion causale.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L’échantillon de démonstration correspond à la vache 2062 pendant l’été 2019. Il contient 8 922 intervalles allant du 5 juin au 6 septembre, avec un pas de temps médian de quinze minutes.</a:t>
            </a:r>
          </a:p>
          <a:p xmlns:a="http://schemas.openxmlformats.org/drawingml/2006/main">
            <a:r>
              <a:t>L’identifiant de la vache est harmonisé en chaîne de caractères, les horodatages sont convertis en dates et triés, et le notebook confirme que les colonnes requises sont disponibles avant de poursuivre.</a:t>
            </a:r>
          </a:p>
          <a:p xmlns:a="http://schemas.openxmlformats.org/drawingml/2006/main">
            <a:r>
              <a:t>Cette étape corrige le type d’erreur rencontré dans les premières exécutions du projet, par exemple l’absence ou le mauvais nom d’une colonne temporelle. Le notebook doit échouer clairement plutôt que produire silencieusement une analyse mal alignée.</a:t>
            </a:r>
          </a:p>
          <a:p xmlns:a="http://schemas.openxmlformats.org/drawingml/2006/main">
            <a:r>
              <a:t>Le choix d’une seule vache est adapté à une démonstration : il permet d’exécuter la vraie pipeline rapidement tout en conservant la structure temporelle, les données brutes nécessaires et des alertes observables.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diapositive démontre que le notebook n’est pas un simple lecteur de résultats. Il appelle réellement la pipeline IceTag sur les 8 922 intervalles de la vache 2062.</a:t>
            </a:r>
          </a:p>
          <a:p xmlns:a="http://schemas.openxmlformats.org/drawingml/2006/main">
            <a:r>
              <a:t>L’Isolation Forest produit 582 points atypiques. Les règles métier appliquent ensuite la persistance, les seuils et la logique d’alerte; dix-sept alertes brutes subsistent sur cette vache de démonstration.</a:t>
            </a:r>
          </a:p>
          <a:p xmlns:a="http://schemas.openxmlformats.org/drawingml/2006/main">
            <a:r>
              <a:t>La figure montre une fenêtre autour de la première alerte. Les points rouges indiquent les moments où la notification est active; ils servent à illustrer le passage du signal d’activité vers une alerte exploitable.</a:t>
            </a:r>
          </a:p>
          <a:p xmlns:a="http://schemas.openxmlformats.org/drawingml/2006/main">
            <a:r>
              <a:t>Il faut insister sur la portée : dix-sept alertes ne signifient pas dix-sept épisodes de boiterie confirmés. Une alerte est un signal comportemental à vérifier par observation ou par labels cliniques synchronisés.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notebook replace la démonstration individuelle dans les résultats de l’Objectif 1. Au total, la pipeline initiale a produit 385 alertes brutes sur les quatre saisons McGill.</a:t>
            </a:r>
          </a:p>
          <a:p xmlns:a="http://schemas.openxmlformats.org/drawingml/2006/main">
            <a:r>
              <a:t>Le renforcement scientifique classe ces alertes en trois catégories : 37 alertes A prioritaires, 195 alertes B à vérifier et 153 alertes C probablement associées à un contexte collectif.</a:t>
            </a:r>
          </a:p>
          <a:p xmlns:a="http://schemas.openxmlformats.org/drawingml/2006/main">
            <a:r>
              <a:t>La catégorie A indique une priorité de vérification individuelle. La catégorie B requiert davantage de contexte. La catégorie C sert à éviter de confondre un événement touchant plusieurs vaches avec un changement propre à une seule vache.</a:t>
            </a:r>
          </a:p>
          <a:p xmlns:a="http://schemas.openxmlformats.org/drawingml/2006/main">
            <a:r>
              <a:t>Ces catégories ne sont pas des classes cliniques de boiterie. Elles organisent le dépistage et réduisent la surcharge d’alertes; elles ne remplacent ni un score locomoteur ni un examen vétérinaire.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figure décrit l’activité moyenne selon quatre catégories de THI. Elle montre une augmentation brute de l’activité lorsque le THI augmente, mais cette comparaison descriptive mélange les différences entre jours et les variations à l’intérieur d’une même journée.</a:t>
            </a:r>
          </a:p>
          <a:p xmlns:a="http://schemas.openxmlformats.org/drawingml/2006/main">
            <a:r>
              <a:t>Au niveau troupeau-horodatage, avec contrôle de l’heure, l’effet estimé est +0,221 et la p-valeur est 6,15 × 10 puissance -8. Ce résultat confirme une association globale positive.</a:t>
            </a:r>
          </a:p>
          <a:p xmlns:a="http://schemas.openxmlformats.org/drawingml/2006/main">
            <a:r>
              <a:t>Après ajout d’une tendance calendaire linéaire, l’effet est atténué à +0,129 avec p = 0,020. L’association globale reste positive sous ce contrôle paramétrique simple.</a:t>
            </a:r>
          </a:p>
          <a:p xmlns:a="http://schemas.openxmlformats.org/drawingml/2006/main">
            <a:r>
              <a:t>Quand chaque journée est contrôlée séparément, l’effet intra-jour devient +0,061 avec p = 0,364 et un intervalle de confiance incluant zéro. Il n’est donc pas concluant.</a:t>
            </a:r>
          </a:p>
          <a:p xmlns:a="http://schemas.openxmlformats.org/drawingml/2006/main">
            <a:r>
              <a:t>La formulation correcte est : association globale positive, fortement dépendante des différences entre jours; aucun effet thermique intra-jour indépendant n’est démontré par ce corpus.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L’analyse comportementale repose sur huit journées indépendantes, même si plusieurs vaches ont été observées au cours de chaque journée. L’unité indépendante pertinente pour le THI quotidien reste donc le jour.</a:t>
            </a:r>
          </a:p>
          <a:p xmlns:a="http://schemas.openxmlformats.org/drawingml/2006/main">
            <a:r>
              <a:t>L’alimentation présente une corrélation de Spearman positive avec le THI : rho = 0,738 et p = 0,037. Ce signal est intéressant mais doit être qualifié de suggestif en raison du faible nombre de jours et des comportements multiples examinés.</a:t>
            </a:r>
          </a:p>
          <a:p xmlns:a="http://schemas.openxmlformats.org/drawingml/2006/main">
            <a:r>
              <a:t>La locomotion, l’exploration et le comportement social ne montrent pas de résultat statistiquement significatif dans ces données. Cela ne prouve pas l’absence d’effet; la puissance statistique est limitée.</a:t>
            </a:r>
          </a:p>
          <a:p xmlns:a="http://schemas.openxmlformats.org/drawingml/2006/main">
            <a:r>
              <a:t>La prochaine étude devrait ajouter davantage de jours, des retards thermiques, la parité, le stade de lactation et un protocole d’exercice mieux séparé. Ces renforcements sont scientifiques et ne constituent pas des livrables manquants de l’Objectif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L’audit final confirme que le notebook et la documentation demandés par le SOW sont présents. Le notebook a été exécuté intégralement dans le dépôt et dans le paquet de livraison.</a:t>
            </a:r>
          </a:p>
          <a:p xmlns:a="http://schemas.openxmlformats.org/drawingml/2006/main">
            <a:r>
              <a:t>Le paquet est autonome parce qu’il inclut les données compactes nécessaires, les modules du cœur de pipeline et les paramètres gelés. Le destinataire n’a pas besoin d’accéder à un autre dépôt pour relancer la démonstration.</a:t>
            </a:r>
          </a:p>
          <a:p xmlns:a="http://schemas.openxmlformats.org/drawingml/2006/main">
            <a:r>
              <a:t>La documentation sépare clairement les résultats démontrés des limites : IceTag mesure l’activité et certaines postures, mais pas l’asymétrie de démarche; les alertes ne sont pas des diagnostics; les résultats THI restent exploratoires.</a:t>
            </a:r>
          </a:p>
          <a:p xmlns:a="http://schemas.openxmlformats.org/drawingml/2006/main">
            <a:r>
              <a:t>Des labels locomoteurs ou SLS mieux synchronisés, davantage de cas positifs et un plus grand nombre de journées renforceraient la validation. Ce sont des recommandations futures et non des éléments requis pour clôturer l’Objectif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verdict final est que l’Objectif 3 satisfait le SOW. Le notebook final et sa documentation sont présents, lisibles et reproductibles; le PowerPoint complète la livraison comme support explicatif.</a:t>
            </a:r>
          </a:p>
          <a:p xmlns:a="http://schemas.openxmlformats.org/drawingml/2006/main">
            <a:r>
              <a:t>Le notebook exécute la pipeline IceTag sur un échantillon réel, produit ses propres figures, reprend les résultats multi-saisons et montre comment relier activité, environnement et comportements.</a:t>
            </a:r>
          </a:p>
          <a:p xmlns:a="http://schemas.openxmlformats.org/drawingml/2006/main">
            <a:r>
              <a:t>La conclusion scientifique doit rester précise : les alertes servent au dépistage et à la priorisation; elles ne constituent pas des diagnostics. L’association THI-activité est positive globalement mais non concluante à l’intérieur des jours. Le signal alimentation-THI est suggestif sur huit jours.</a:t>
            </a:r>
          </a:p>
          <a:p xmlns:a="http://schemas.openxmlformats.org/drawingml/2006/main">
            <a:r>
              <a:t>Le dossier Objectif3_Notebook_demonstration est le dossier à remettre. Il contient le notebook, les données de démonstration, les résultats, la documentation Word et Markdown, ainsi que la présentation détaillée.</a:t>
            </a:r>
          </a:p>
          <a:p xmlns:a="http://schemas.openxmlformats.org/drawingml/2006/main">
            <a:r>
              <a:t>La présentation peut se terminer sur une position claire : objectif contractuel terminé, exécution vérifiée, limites explicites et améliorations futures séparées des obligations du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d799fe9168474d72"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3589a0736b849e7" Type="http://schemas.openxmlformats.org/officeDocument/2006/relationships/theme" Target="theme/theme2.xml"/><Relationship Id="Rd33e51f8b8684357"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3e51f8b86843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McGill WELL-E">
  <a:themeElements>
    <a:clrScheme name="McGill WELL-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McGill WEL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d5b93a838e4e4ffa" Type="http://schemas.openxmlformats.org/officeDocument/2006/relationships/slideLayout" Target="../slideLayouts/slideLayout1.xml"/><Relationship Id="Re7669b85bfca41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29bb0ca7b2d94182" Type="http://schemas.openxmlformats.org/officeDocument/2006/relationships/slideLayout" Target="../slideLayouts/slideLayout1.xml"/><Relationship Id="R431d6110129d429a"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a18968c5bcf4ba1" Type="http://schemas.openxmlformats.org/officeDocument/2006/relationships/notesSlide" Target="../notesSlides/notesSlide3.xml"/><Relationship Id="Rca9676fb76e9421c"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22481629370b4751" Type="http://schemas.openxmlformats.org/officeDocument/2006/relationships/slideLayout" Target="../slideLayouts/slideLayout1.xml"/><Relationship Id="R5914e23c40f045f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3ee50d9ba994781" Type="http://schemas.openxmlformats.org/officeDocument/2006/relationships/slideLayout" Target="../slideLayouts/slideLayout1.xml"/><Relationship Id="Ra6cc37dc29034d8c"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7878acce31704df0" Type="http://schemas.openxmlformats.org/officeDocument/2006/relationships/notesSlide" Target="../notesSlides/notesSlide6.xml"/><Relationship Id="Rf418445a8f9c481a"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1f75822a92ed4867" Type="http://schemas.openxmlformats.org/officeDocument/2006/relationships/notesSlide" Target="../notesSlides/notesSlide7.xml"/><Relationship Id="R4877812f2f2a4506" Type="http://schemas.openxmlformats.org/officeDocument/2006/relationships/image" Target="../media/image.png"/><Relationship Id="Rd0350ac8c1484cf0" Type="http://schemas.openxmlformats.org/officeDocument/2006/relationships/slideLayout" Target="../slideLayouts/slideLayout1.xml"/><Relationship Id="Re3e57aa1f82a4ac2" Type="http://schemas.openxmlformats.org/officeDocument/2006/relationships/chart" Target="charts/chart1.xml"/></Relationships>
</file>

<file path=ppt/slides/_rels/slide8.xml.rels><?xml version='1.0' encoding='UTF-8' standalone='yes'?>
<Relationships xmlns="http://schemas.openxmlformats.org/package/2006/relationships"><Relationship Id="R687f3287ad7e40f7" Type="http://schemas.openxmlformats.org/officeDocument/2006/relationships/slideLayout" Target="../slideLayouts/slideLayout1.xml"/><Relationship Id="Rc21f096aab524e8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86c6c50a6bc41af" Type="http://schemas.openxmlformats.org/officeDocument/2006/relationships/chart" Target="charts/chart2.xml"/><Relationship Id="R539818adc0a54c97" Type="http://schemas.openxmlformats.org/officeDocument/2006/relationships/notesSlide" Target="../notesSlides/notesSlide9.xml"/><Relationship Id="R675d5fc3e64c4667" Type="http://schemas.openxmlformats.org/officeDocument/2006/relationships/image" Target="../media/image2.png"/><Relationship Id="Rea9c8a304d9b4e6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035c2cbe321d44da" Type="http://schemas.openxmlformats.org/officeDocument/2006/relationships/slideLayout" Target="../slideLayouts/slideLayout1.xml"/><Relationship Id="Rd6d1096aed1a450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04646cba0ff14763" Type="http://schemas.openxmlformats.org/officeDocument/2006/relationships/notesSlide" Target="../notesSlides/notesSlide11.xml"/><Relationship Id="Raa435bfb91154e2a"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42e5cb57201d49c6" Type="http://schemas.openxmlformats.org/officeDocument/2006/relationships/notesSlide" Target="../notesSlides/notesSlide12.xml"/><Relationship Id="R4eb3144c0b1e4020" Type="http://schemas.openxmlformats.org/officeDocument/2006/relationships/slideLayout" Target="../slideLayouts/slideLayout1.xml"/></Relationships>
</file>

<file path=ppt/slides/charts/chart1.xml><?xml version="1.0" encoding="utf-8"?>
<c:chartSpace xmlns:c="http://schemas.openxmlformats.org/drawingml/2006/chart">
  <c:lang val="en-US"/>
  <c:chart>
    <c:plotArea>
      <c:barChart>
        <c:barDir val="col"/>
        <c:grouping val="clustered"/>
        <c:varyColors val="0"/>
        <c:ser>
          <c:idx val="0"/>
          <c:order val="0"/>
          <c:tx>
            <c:v>Intervalles</c:v>
          </c:tx>
          <c:spPr>
            <a:solidFill xmlns:a="http://schemas.openxmlformats.org/drawingml/2006/main">
              <a:srgbClr val="3D8DFF"/>
            </a:solidFill>
          </c:spPr>
          <c:cat>
            <c:strLit>
              <c:ptCount val="4"/>
              <c:pt idx="0">
                <c:v>Aucun
&lt; 68</c:v>
              </c:pt>
              <c:pt idx="1">
                <c:v>Léger
68-71,9</c:v>
              </c:pt>
              <c:pt idx="2">
                <c:v>Modéré
72-79,9</c:v>
              </c:pt>
              <c:pt idx="3">
                <c:v>Sévère
≥ 80</c:v>
              </c:pt>
            </c:strLit>
          </c:cat>
          <c:val>
            <c:numLit>
              <c:formatCode>General</c:formatCode>
              <c:ptCount val="4"/>
              <c:pt idx="0">
                <c:v>40266</c:v>
              </c:pt>
              <c:pt idx="1">
                <c:v>22134</c:v>
              </c:pt>
              <c:pt idx="2">
                <c:v>24172</c:v>
              </c:pt>
              <c:pt idx="3">
                <c:v>929</c:v>
              </c:pt>
            </c:numLit>
          </c:val>
        </c:ser>
        <c:dLbls>
          <c:txPr>
            <a:bodyPr xmlns:a="http://schemas.openxmlformats.org/drawingml/2006/main" anchorCtr="1"/>
            <a:lstStyle xmlns:a="http://schemas.openxmlformats.org/drawingml/2006/main"/>
            <a:p xmlns:a="http://schemas.openxmlformats.org/drawingml/2006/main">
              <a:pPr>
                <a:defRPr sz="975" b="1">
                  <a:solidFill>
                    <a:srgbClr val="0F172A"/>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72768"/>
        <c:lblAlgn val="ctr"/>
        <c:lblOffset val="100"/>
        <c:noMultiLvlLbl val="0"/>
      </c:catAx>
      <c:valAx>
        <c:axId val="48672768"/>
        <c:scaling>
          <c:orientation val="minMax"/>
          <c:max val="4500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50112"/>
        <c:crossBetween val="between"/>
        <c:majorUnit val="10000"/>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Mixte vache + heure</c:v>
          </c:tx>
          <c:spPr>
            <a:solidFill xmlns:a="http://schemas.openxmlformats.org/drawingml/2006/main">
              <a:srgbClr val="3D8DFF"/>
            </a:solidFill>
          </c:spPr>
          <c:cat>
            <c:strLit>
              <c:ptCount val="1"/>
              <c:pt idx="0">
                <c:v>Effet du THI</c:v>
              </c:pt>
            </c:strLit>
          </c:cat>
          <c:val>
            <c:numLit>
              <c:formatCode>General</c:formatCode>
              <c:ptCount val="1"/>
              <c:pt idx="0">
                <c:v>0.198</c:v>
              </c:pt>
            </c:numLit>
          </c:val>
        </c:ser>
        <c:ser>
          <c:idx val="1"/>
          <c:order val="1"/>
          <c:tx>
            <c:v>Troupeau + heure</c:v>
          </c:tx>
          <c:spPr>
            <a:solidFill xmlns:a="http://schemas.openxmlformats.org/drawingml/2006/main">
              <a:srgbClr val="6DCBF4"/>
            </a:solidFill>
          </c:spPr>
          <c:cat>
            <c:strLit>
              <c:ptCount val="1"/>
              <c:pt idx="0">
                <c:v>Effet du THI</c:v>
              </c:pt>
            </c:strLit>
          </c:cat>
          <c:val>
            <c:numLit>
              <c:formatCode>General</c:formatCode>
              <c:ptCount val="1"/>
              <c:pt idx="0">
                <c:v>0.221</c:v>
              </c:pt>
            </c:numLit>
          </c:val>
        </c:ser>
        <c:ser>
          <c:idx val="2"/>
          <c:order val="2"/>
          <c:tx>
            <c:v>+ contrôle du jour</c:v>
          </c:tx>
          <c:spPr>
            <a:solidFill xmlns:a="http://schemas.openxmlformats.org/drawingml/2006/main">
              <a:srgbClr val="A3AAB8"/>
            </a:solidFill>
          </c:spPr>
          <c:cat>
            <c:strLit>
              <c:ptCount val="1"/>
              <c:pt idx="0">
                <c:v>Effet du THI</c:v>
              </c:pt>
            </c:strLit>
          </c:cat>
          <c:val>
            <c:numLit>
              <c:formatCode>General</c:formatCode>
              <c:ptCount val="1"/>
              <c:pt idx="0">
                <c:v>0.061</c:v>
              </c:pt>
            </c:numLit>
          </c:val>
        </c:ser>
        <c:dLbls>
          <c:showLegendKey val="0"/>
          <c:showVal val="1"/>
          <c:showCatName val="0"/>
          <c:showSerName val="0"/>
          <c:showPercent val="0"/>
          <c:showBubbleSize val="0"/>
          <c:showLeaderLines val="0"/>
        </c:dLbls>
        <c:gapWidth val="5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72768"/>
        <c:lblAlgn val="ctr"/>
        <c:lblOffset val="100"/>
        <c:noMultiLvlLbl val="0"/>
      </c:catAx>
      <c:valAx>
        <c:axId val="48672768"/>
        <c:scaling>
          <c:orientation val="minMax"/>
          <c:max val="0.25"/>
          <c:min val="0"/>
        </c:scaling>
        <c:delete val="0"/>
        <c:axPos val="l"/>
        <c:majorGridlines>
          <c:spPr>
            <a:ln xmlns:a="http://schemas.openxmlformats.org/drawingml/2006/main" w="9525">
              <a:solidFill>
                <a:srgbClr val="E2E8F0"/>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50112"/>
        <c:crossBetween val="between"/>
        <c:majorUnit val="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475569"/>
              </a:solidFill>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4C59C5-0E4A-4BAE-9225-86A6C907896E}"/>
              </a:ext>
            </a:extLst>
          </p:cNvPr>
          <p:cNvSpPr>
            <a:spLocks xmlns:a="http://schemas.openxmlformats.org/drawingml/2006/main" noGrp="1"/>
          </p:cNvSpPr>
          <p:nvPr/>
        </p:nvSpPr>
        <p:spPr>
          <a:xfrm xmlns:a="http://schemas.openxmlformats.org/drawingml/2006/main">
            <a:off x="495300" y="4381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0">
                <a:solidFill>
                  <a:srgbClr val="475569"/>
                </a:solidFill>
              </a:defRPr>
            </a:pPr>
            <a:r>
              <a:rPr sz="2100" b="0">
                <a:solidFill>
                  <a:srgbClr val="475569"/>
                </a:solidFill>
              </a:rPr>
              <a:t>Projet McGill / WELL-E</a:t>
            </a:r>
          </a:p>
        </p:txBody>
      </p:sp>
      <p:sp>
        <p:nvSpPr>
          <p:cNvPr id="2" name="">
            <a:extLst xmlns:a="http://schemas.openxmlformats.org/drawingml/2006/main">
              <a:ext uri="{FF2B5EF4-FFF2-40B4-BE49-F238E27FC236}">
                <a16:creationId xmlns:a16="http://schemas.microsoft.com/office/drawing/2014/main" id="{8597DF4A-67B9-4917-8DC6-0569942FD04D}"/>
              </a:ext>
            </a:extLst>
          </p:cNvPr>
          <p:cNvSpPr>
            <a:spLocks xmlns:a="http://schemas.openxmlformats.org/drawingml/2006/main" noGrp="1"/>
          </p:cNvSpPr>
          <p:nvPr/>
        </p:nvSpPr>
        <p:spPr>
          <a:xfrm xmlns:a="http://schemas.openxmlformats.org/drawingml/2006/main">
            <a:off x="495300" y="1809750"/>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650" b="1">
                <a:solidFill>
                  <a:srgbClr val="0F172A"/>
                </a:solidFill>
              </a:defRPr>
            </a:pPr>
            <a:r>
              <a:rPr sz="4650" b="1">
                <a:solidFill>
                  <a:srgbClr val="0F172A"/>
                </a:solidFill>
              </a:rPr>
              <a:t>Objectif 3</a:t>
            </a:r>
          </a:p>
        </p:txBody>
      </p:sp>
      <p:sp>
        <p:nvSpPr>
          <p:cNvPr id="3" name="">
            <a:extLst xmlns:a="http://schemas.openxmlformats.org/drawingml/2006/main">
              <a:ext uri="{FF2B5EF4-FFF2-40B4-BE49-F238E27FC236}">
                <a16:creationId xmlns:a16="http://schemas.microsoft.com/office/drawing/2014/main" id="{6EBE83B1-9331-4705-B4F5-197FBDFDC61C}"/>
              </a:ext>
            </a:extLst>
          </p:cNvPr>
          <p:cNvSpPr>
            <a:spLocks xmlns:a="http://schemas.openxmlformats.org/drawingml/2006/main" noGrp="1"/>
          </p:cNvSpPr>
          <p:nvPr/>
        </p:nvSpPr>
        <p:spPr>
          <a:xfrm xmlns:a="http://schemas.openxmlformats.org/drawingml/2006/main">
            <a:off x="495300" y="2533650"/>
            <a:ext cx="8477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300" b="1">
                <a:solidFill>
                  <a:srgbClr val="0F172A"/>
                </a:solidFill>
              </a:defRPr>
            </a:pPr>
            <a:r>
              <a:rPr sz="3300" b="1">
                <a:solidFill>
                  <a:srgbClr val="0F172A"/>
                </a:solidFill>
              </a:rPr>
              <a:t>Notebook de démonstration IoT en élevage laitier</a:t>
            </a:r>
          </a:p>
        </p:txBody>
      </p:sp>
      <p:sp>
        <p:nvSpPr>
          <p:cNvPr id="4" name="">
            <a:extLst xmlns:a="http://schemas.openxmlformats.org/drawingml/2006/main">
              <a:ext uri="{FF2B5EF4-FFF2-40B4-BE49-F238E27FC236}">
                <a16:creationId xmlns:a16="http://schemas.microsoft.com/office/drawing/2014/main" id="{2B039027-7EBF-4669-88C3-EA74C46FC14C}"/>
              </a:ext>
            </a:extLst>
          </p:cNvPr>
          <p:cNvSpPr>
            <a:spLocks xmlns:a="http://schemas.openxmlformats.org/drawingml/2006/main" noGrp="1"/>
          </p:cNvSpPr>
          <p:nvPr/>
        </p:nvSpPr>
        <p:spPr>
          <a:xfrm xmlns:a="http://schemas.openxmlformats.org/drawingml/2006/main">
            <a:off x="495300" y="36385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a:solidFill>
                  <a:srgbClr val="475569"/>
                </a:solidFill>
              </a:defRPr>
            </a:pPr>
            <a:r>
              <a:rPr sz="1800" b="0">
                <a:solidFill>
                  <a:srgbClr val="475569"/>
                </a:solidFill>
              </a:rPr>
              <a:t>Présentation détaillée de livraison avec notes</a:t>
            </a:r>
          </a:p>
        </p:txBody>
      </p:sp>
      <p:sp>
        <p:nvSpPr>
          <p:cNvPr id="5" name="">
            <a:extLst xmlns:a="http://schemas.openxmlformats.org/drawingml/2006/main">
              <a:ext uri="{FF2B5EF4-FFF2-40B4-BE49-F238E27FC236}">
                <a16:creationId xmlns:a16="http://schemas.microsoft.com/office/drawing/2014/main" id="{7DA28BF6-5AF4-44F7-BFB0-122805E555C0}"/>
              </a:ext>
            </a:extLst>
          </p:cNvPr>
          <p:cNvSpPr>
            <a:spLocks xmlns:a="http://schemas.openxmlformats.org/drawingml/2006/main" noGrp="1"/>
          </p:cNvSpPr>
          <p:nvPr/>
        </p:nvSpPr>
        <p:spPr>
          <a:xfrm xmlns:a="http://schemas.openxmlformats.org/drawingml/2006/main">
            <a:off x="495300" y="52197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
            </a:r>
          </a:p>
        </p:txBody>
      </p:sp>
      <p:sp>
        <p:nvSpPr>
          <p:cNvPr id="6" name="">
            <a:extLst xmlns:a="http://schemas.openxmlformats.org/drawingml/2006/main">
              <a:ext uri="{FF2B5EF4-FFF2-40B4-BE49-F238E27FC236}">
                <a16:creationId xmlns:a16="http://schemas.microsoft.com/office/drawing/2014/main" id="{97FF7E88-29AB-4E99-99FB-BAAE3314875E}"/>
              </a:ext>
            </a:extLst>
          </p:cNvPr>
          <p:cNvSpPr>
            <a:spLocks xmlns:a="http://schemas.openxmlformats.org/drawingml/2006/main" noGrp="1"/>
          </p:cNvSpPr>
          <p:nvPr/>
        </p:nvSpPr>
        <p:spPr>
          <a:xfrm xmlns:a="http://schemas.openxmlformats.org/drawingml/2006/main">
            <a:off x="495300" y="59436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CF6EDCF7-6769-4545-A21E-0FB554ECC3A8}"/>
              </a:ext>
            </a:extLst>
          </p:cNvPr>
          <p:cNvSpPr>
            <a:spLocks xmlns:a="http://schemas.openxmlformats.org/drawingml/2006/main" noGrp="1"/>
          </p:cNvSpPr>
          <p:nvPr/>
        </p:nvSpPr>
        <p:spPr>
          <a:xfrm xmlns:a="http://schemas.openxmlformats.org/drawingml/2006/main">
            <a:off x="495300" y="611505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475569"/>
                </a:solidFill>
              </a:defRPr>
            </a:pPr>
            <a:r>
              <a:rPr sz="1350" b="0">
                <a:solidFill>
                  <a:srgbClr val="475569"/>
                </a:solidFill>
              </a:rPr>
              <a:t>Support autonome : notebook, données compactes, résultats et documentation dans le paquet McGill / WELL-E.</a:t>
            </a:r>
          </a:p>
        </p:txBody>
      </p:sp>
    </p:spTree>
    <p:extLst>
      <p:ext uri="{BB962C8B-B14F-4D97-AF65-F5344CB8AC3E}">
        <p14:creationId xmlns:p14="http://schemas.microsoft.com/office/powerpoint/2010/main" val="85222608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39E738C-D14C-4B36-AB0D-C85948D3AA64}"/>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Objectif 3 livré : notebook autonome et reproductible</a:t>
            </a:r>
          </a:p>
        </p:txBody>
      </p:sp>
      <p:sp>
        <p:nvSpPr>
          <p:cNvPr id="2" name="">
            <a:extLst xmlns:a="http://schemas.openxmlformats.org/drawingml/2006/main">
              <a:ext uri="{FF2B5EF4-FFF2-40B4-BE49-F238E27FC236}">
                <a16:creationId xmlns:a16="http://schemas.microsoft.com/office/drawing/2014/main" id="{B0528742-545E-461C-90C7-D6FE2CB6665A}"/>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Le flux IoT complet s’exécute dans le dépôt et dans le paquet de livraison.</a:t>
            </a:r>
          </a:p>
        </p:txBody>
      </p:sp>
      <p:sp>
        <p:nvSpPr>
          <p:cNvPr id="3" name="">
            <a:extLst xmlns:a="http://schemas.openxmlformats.org/drawingml/2006/main">
              <a:ext uri="{FF2B5EF4-FFF2-40B4-BE49-F238E27FC236}">
                <a16:creationId xmlns:a16="http://schemas.microsoft.com/office/drawing/2014/main" id="{3D849C18-BC7B-4169-83B6-72F6188B9BEF}"/>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6AB0DC98-8294-43FE-96A8-FE35E84FA1C8}"/>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3</a:t>
            </a:r>
          </a:p>
        </p:txBody>
      </p:sp>
      <p:sp>
        <p:nvSpPr>
          <p:cNvPr id="5" name="">
            <a:extLst xmlns:a="http://schemas.openxmlformats.org/drawingml/2006/main">
              <a:ext uri="{FF2B5EF4-FFF2-40B4-BE49-F238E27FC236}">
                <a16:creationId xmlns:a16="http://schemas.microsoft.com/office/drawing/2014/main" id="{9F3E676E-9952-46FF-B279-77B0CED7A129}"/>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2</a:t>
            </a:r>
          </a:p>
        </p:txBody>
      </p:sp>
      <p:sp>
        <p:nvSpPr>
          <p:cNvPr id="6" name="">
            <a:extLst xmlns:a="http://schemas.openxmlformats.org/drawingml/2006/main">
              <a:ext uri="{FF2B5EF4-FFF2-40B4-BE49-F238E27FC236}">
                <a16:creationId xmlns:a16="http://schemas.microsoft.com/office/drawing/2014/main" id="{F3A8AF50-2BCB-41EA-8392-C42905337C8D}"/>
              </a:ext>
            </a:extLst>
          </p:cNvPr>
          <p:cNvSpPr>
            <a:spLocks xmlns:a="http://schemas.openxmlformats.org/drawingml/2006/main" noGrp="1"/>
          </p:cNvSpPr>
          <p:nvPr/>
        </p:nvSpPr>
        <p:spPr>
          <a:xfrm xmlns:a="http://schemas.openxmlformats.org/drawingml/2006/main">
            <a:off x="495300" y="1562100"/>
            <a:ext cx="11201400" cy="87630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4E0DB16-3BF5-44C2-9885-B4B57B6DF6B6}"/>
              </a:ext>
            </a:extLst>
          </p:cNvPr>
          <p:cNvSpPr>
            <a:spLocks xmlns:a="http://schemas.openxmlformats.org/drawingml/2006/main" noGrp="1"/>
          </p:cNvSpPr>
          <p:nvPr/>
        </p:nvSpPr>
        <p:spPr>
          <a:xfrm xmlns:a="http://schemas.openxmlformats.org/drawingml/2006/main">
            <a:off x="704850" y="1752600"/>
            <a:ext cx="10782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F172A"/>
                </a:solidFill>
              </a:defRPr>
            </a:pPr>
            <a:r>
              <a:rPr sz="1650" b="0">
                <a:solidFill>
                  <a:srgbClr val="0F172A"/>
                </a:solidFill>
              </a:rPr>
              <a:t>Conclusion courte : le notebook satisfait le SOW, exécute réellement la pipeline IceTag et encadre correctement l’interprétation.</a:t>
            </a:r>
          </a:p>
        </p:txBody>
      </p:sp>
      <p:sp>
        <p:nvSpPr>
          <p:cNvPr id="8" name="">
            <a:extLst xmlns:a="http://schemas.openxmlformats.org/drawingml/2006/main">
              <a:ext uri="{FF2B5EF4-FFF2-40B4-BE49-F238E27FC236}">
                <a16:creationId xmlns:a16="http://schemas.microsoft.com/office/drawing/2014/main" id="{A602CD26-FCC4-40A3-8388-7A53CF13897D}"/>
              </a:ext>
            </a:extLst>
          </p:cNvPr>
          <p:cNvSpPr>
            <a:spLocks xmlns:a="http://schemas.openxmlformats.org/drawingml/2006/main" noGrp="1"/>
          </p:cNvSpPr>
          <p:nvPr/>
        </p:nvSpPr>
        <p:spPr>
          <a:xfrm xmlns:a="http://schemas.openxmlformats.org/drawingml/2006/main">
            <a:off x="495300" y="2857500"/>
            <a:ext cx="3333750" cy="2476500"/>
          </a:xfrm>
          <a:prstGeom xmlns:a="http://schemas.openxmlformats.org/drawingml/2006/main" prst="rect">
            <a:avLst/>
          </a:prstGeom>
          <a:solidFill xmlns:a="http://schemas.openxmlformats.org/drawingml/2006/main">
            <a:srgbClr val="F3F6FA"/>
          </a:solidFill>
          <a:ln xmlns:a="http://schemas.openxmlformats.org/drawingml/2006/main" w="9525">
            <a:solidFill>
              <a:srgbClr val="D3D7DE"/>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82A5BC42-1C6C-43E0-A756-9F0583F68170}"/>
              </a:ext>
            </a:extLst>
          </p:cNvPr>
          <p:cNvSpPr>
            <a:spLocks xmlns:a="http://schemas.openxmlformats.org/drawingml/2006/main" noGrp="1"/>
          </p:cNvSpPr>
          <p:nvPr/>
        </p:nvSpPr>
        <p:spPr>
          <a:xfrm xmlns:a="http://schemas.openxmlformats.org/drawingml/2006/main">
            <a:off x="723900" y="3124200"/>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4F7A"/>
                </a:solidFill>
              </a:defRPr>
            </a:pPr>
            <a:r>
              <a:rPr sz="3150" b="1">
                <a:solidFill>
                  <a:srgbClr val="0B4F7A"/>
                </a:solidFill>
              </a:rPr>
              <a:t>9/9</a:t>
            </a:r>
          </a:p>
        </p:txBody>
      </p:sp>
      <p:sp>
        <p:nvSpPr>
          <p:cNvPr id="10" name="">
            <a:extLst xmlns:a="http://schemas.openxmlformats.org/drawingml/2006/main">
              <a:ext uri="{FF2B5EF4-FFF2-40B4-BE49-F238E27FC236}">
                <a16:creationId xmlns:a16="http://schemas.microsoft.com/office/drawing/2014/main" id="{B81FA07C-F999-4EA4-8A42-66A9A4387BB1}"/>
              </a:ext>
            </a:extLst>
          </p:cNvPr>
          <p:cNvSpPr>
            <a:spLocks xmlns:a="http://schemas.openxmlformats.org/drawingml/2006/main" noGrp="1"/>
          </p:cNvSpPr>
          <p:nvPr/>
        </p:nvSpPr>
        <p:spPr>
          <a:xfrm xmlns:a="http://schemas.openxmlformats.org/drawingml/2006/main">
            <a:off x="723900" y="3752850"/>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Cellules exécutées</a:t>
            </a:r>
          </a:p>
        </p:txBody>
      </p:sp>
      <p:sp>
        <p:nvSpPr>
          <p:cNvPr id="11" name="">
            <a:extLst xmlns:a="http://schemas.openxmlformats.org/drawingml/2006/main">
              <a:ext uri="{FF2B5EF4-FFF2-40B4-BE49-F238E27FC236}">
                <a16:creationId xmlns:a16="http://schemas.microsoft.com/office/drawing/2014/main" id="{C2473D1F-F53F-4A9E-8AB1-4C1AE8204AA5}"/>
              </a:ext>
            </a:extLst>
          </p:cNvPr>
          <p:cNvSpPr>
            <a:spLocks xmlns:a="http://schemas.openxmlformats.org/drawingml/2006/main" noGrp="1"/>
          </p:cNvSpPr>
          <p:nvPr/>
        </p:nvSpPr>
        <p:spPr>
          <a:xfrm xmlns:a="http://schemas.openxmlformats.org/drawingml/2006/main">
            <a:off x="723900" y="4133850"/>
            <a:ext cx="2876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Aucune erreur dans le dépôt ni dans le paquet autonome.</a:t>
            </a:r>
          </a:p>
        </p:txBody>
      </p:sp>
      <p:sp>
        <p:nvSpPr>
          <p:cNvPr id="12" name="">
            <a:extLst xmlns:a="http://schemas.openxmlformats.org/drawingml/2006/main">
              <a:ext uri="{FF2B5EF4-FFF2-40B4-BE49-F238E27FC236}">
                <a16:creationId xmlns:a16="http://schemas.microsoft.com/office/drawing/2014/main" id="{FB16481E-7EBA-43B6-A64F-A58164FCC120}"/>
              </a:ext>
            </a:extLst>
          </p:cNvPr>
          <p:cNvSpPr>
            <a:spLocks xmlns:a="http://schemas.openxmlformats.org/drawingml/2006/main" noGrp="1"/>
          </p:cNvSpPr>
          <p:nvPr/>
        </p:nvSpPr>
        <p:spPr>
          <a:xfrm xmlns:a="http://schemas.openxmlformats.org/drawingml/2006/main">
            <a:off x="4429125" y="2857500"/>
            <a:ext cx="3333750" cy="2476500"/>
          </a:xfrm>
          <a:prstGeom xmlns:a="http://schemas.openxmlformats.org/drawingml/2006/main" prst="rect">
            <a:avLst/>
          </a:prstGeom>
          <a:solidFill xmlns:a="http://schemas.openxmlformats.org/drawingml/2006/main">
            <a:srgbClr val="F3F6FA"/>
          </a:solidFill>
          <a:ln xmlns:a="http://schemas.openxmlformats.org/drawingml/2006/main" w="9525">
            <a:solidFill>
              <a:srgbClr val="D3D7DE"/>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EAE39C4C-A18D-4402-8A28-D015D41CB194}"/>
              </a:ext>
            </a:extLst>
          </p:cNvPr>
          <p:cNvSpPr>
            <a:spLocks xmlns:a="http://schemas.openxmlformats.org/drawingml/2006/main" noGrp="1"/>
          </p:cNvSpPr>
          <p:nvPr/>
        </p:nvSpPr>
        <p:spPr>
          <a:xfrm xmlns:a="http://schemas.openxmlformats.org/drawingml/2006/main">
            <a:off x="4657725" y="3124200"/>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4F7A"/>
                </a:solidFill>
              </a:defRPr>
            </a:pPr>
            <a:r>
              <a:rPr sz="3150" b="1">
                <a:solidFill>
                  <a:srgbClr val="0B4F7A"/>
                </a:solidFill>
              </a:rPr>
              <a:t>Autonome</a:t>
            </a:r>
          </a:p>
        </p:txBody>
      </p:sp>
      <p:sp>
        <p:nvSpPr>
          <p:cNvPr id="14" name="">
            <a:extLst xmlns:a="http://schemas.openxmlformats.org/drawingml/2006/main">
              <a:ext uri="{FF2B5EF4-FFF2-40B4-BE49-F238E27FC236}">
                <a16:creationId xmlns:a16="http://schemas.microsoft.com/office/drawing/2014/main" id="{424EE1CF-9409-421B-B27E-BB79875DC76D}"/>
              </a:ext>
            </a:extLst>
          </p:cNvPr>
          <p:cNvSpPr>
            <a:spLocks xmlns:a="http://schemas.openxmlformats.org/drawingml/2006/main" noGrp="1"/>
          </p:cNvSpPr>
          <p:nvPr/>
        </p:nvSpPr>
        <p:spPr>
          <a:xfrm xmlns:a="http://schemas.openxmlformats.org/drawingml/2006/main">
            <a:off x="4657725" y="3752850"/>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Mode de livraison</a:t>
            </a:r>
          </a:p>
        </p:txBody>
      </p:sp>
      <p:sp>
        <p:nvSpPr>
          <p:cNvPr id="15" name="">
            <a:extLst xmlns:a="http://schemas.openxmlformats.org/drawingml/2006/main">
              <a:ext uri="{FF2B5EF4-FFF2-40B4-BE49-F238E27FC236}">
                <a16:creationId xmlns:a16="http://schemas.microsoft.com/office/drawing/2014/main" id="{C5B49933-B9D6-46E5-9648-70A679BED3FE}"/>
              </a:ext>
            </a:extLst>
          </p:cNvPr>
          <p:cNvSpPr>
            <a:spLocks xmlns:a="http://schemas.openxmlformats.org/drawingml/2006/main" noGrp="1"/>
          </p:cNvSpPr>
          <p:nvPr/>
        </p:nvSpPr>
        <p:spPr>
          <a:xfrm xmlns:a="http://schemas.openxmlformats.org/drawingml/2006/main">
            <a:off x="4657725" y="4133850"/>
            <a:ext cx="2876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Données compactes, cœur de pipeline et paramètres inclus.</a:t>
            </a:r>
          </a:p>
        </p:txBody>
      </p:sp>
      <p:sp>
        <p:nvSpPr>
          <p:cNvPr id="16" name="">
            <a:extLst xmlns:a="http://schemas.openxmlformats.org/drawingml/2006/main">
              <a:ext uri="{FF2B5EF4-FFF2-40B4-BE49-F238E27FC236}">
                <a16:creationId xmlns:a16="http://schemas.microsoft.com/office/drawing/2014/main" id="{A85902F8-049C-4129-88CF-2CB7B4F53F0E}"/>
              </a:ext>
            </a:extLst>
          </p:cNvPr>
          <p:cNvSpPr>
            <a:spLocks xmlns:a="http://schemas.openxmlformats.org/drawingml/2006/main" noGrp="1"/>
          </p:cNvSpPr>
          <p:nvPr/>
        </p:nvSpPr>
        <p:spPr>
          <a:xfrm xmlns:a="http://schemas.openxmlformats.org/drawingml/2006/main">
            <a:off x="8362950" y="2857500"/>
            <a:ext cx="3333750" cy="2476500"/>
          </a:xfrm>
          <a:prstGeom xmlns:a="http://schemas.openxmlformats.org/drawingml/2006/main" prst="rect">
            <a:avLst/>
          </a:prstGeom>
          <a:solidFill xmlns:a="http://schemas.openxmlformats.org/drawingml/2006/main">
            <a:srgbClr val="F3F6FA"/>
          </a:solidFill>
          <a:ln xmlns:a="http://schemas.openxmlformats.org/drawingml/2006/main" w="9525">
            <a:solidFill>
              <a:srgbClr val="D3D7DE"/>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01CBD02E-B70C-4DCB-AA02-276137461973}"/>
              </a:ext>
            </a:extLst>
          </p:cNvPr>
          <p:cNvSpPr>
            <a:spLocks xmlns:a="http://schemas.openxmlformats.org/drawingml/2006/main" noGrp="1"/>
          </p:cNvSpPr>
          <p:nvPr/>
        </p:nvSpPr>
        <p:spPr>
          <a:xfrm xmlns:a="http://schemas.openxmlformats.org/drawingml/2006/main">
            <a:off x="8591550" y="3124200"/>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4F7A"/>
                </a:solidFill>
              </a:defRPr>
            </a:pPr>
            <a:r>
              <a:rPr sz="3150" b="1">
                <a:solidFill>
                  <a:srgbClr val="0B4F7A"/>
                </a:solidFill>
              </a:rPr>
              <a:t>Conforme</a:t>
            </a:r>
          </a:p>
        </p:txBody>
      </p:sp>
      <p:sp>
        <p:nvSpPr>
          <p:cNvPr id="18" name="">
            <a:extLst xmlns:a="http://schemas.openxmlformats.org/drawingml/2006/main">
              <a:ext uri="{FF2B5EF4-FFF2-40B4-BE49-F238E27FC236}">
                <a16:creationId xmlns:a16="http://schemas.microsoft.com/office/drawing/2014/main" id="{2B65A025-4502-4F90-BD2B-492413A2BF76}"/>
              </a:ext>
            </a:extLst>
          </p:cNvPr>
          <p:cNvSpPr>
            <a:spLocks xmlns:a="http://schemas.openxmlformats.org/drawingml/2006/main" noGrp="1"/>
          </p:cNvSpPr>
          <p:nvPr/>
        </p:nvSpPr>
        <p:spPr>
          <a:xfrm xmlns:a="http://schemas.openxmlformats.org/drawingml/2006/main">
            <a:off x="8591550" y="3752850"/>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Position SOW</a:t>
            </a:r>
          </a:p>
        </p:txBody>
      </p:sp>
      <p:sp>
        <p:nvSpPr>
          <p:cNvPr id="19" name="">
            <a:extLst xmlns:a="http://schemas.openxmlformats.org/drawingml/2006/main">
              <a:ext uri="{FF2B5EF4-FFF2-40B4-BE49-F238E27FC236}">
                <a16:creationId xmlns:a16="http://schemas.microsoft.com/office/drawing/2014/main" id="{CAAAB450-3290-4B92-9ACD-B786DD7C7606}"/>
              </a:ext>
            </a:extLst>
          </p:cNvPr>
          <p:cNvSpPr>
            <a:spLocks xmlns:a="http://schemas.openxmlformats.org/drawingml/2006/main" noGrp="1"/>
          </p:cNvSpPr>
          <p:nvPr/>
        </p:nvSpPr>
        <p:spPr>
          <a:xfrm xmlns:a="http://schemas.openxmlformats.org/drawingml/2006/main">
            <a:off x="8591550" y="4133850"/>
            <a:ext cx="2876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Notebook final et documentation présents et vérifiés.</a:t>
            </a:r>
          </a:p>
        </p:txBody>
      </p:sp>
    </p:spTree>
    <p:extLst>
      <p:ext uri="{BB962C8B-B14F-4D97-AF65-F5344CB8AC3E}">
        <p14:creationId xmlns:p14="http://schemas.microsoft.com/office/powerpoint/2010/main" val="61761970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477F07-E207-4AF7-AD7D-6EA9AD16F735}"/>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Les livrables SOW de l’Objectif 3 sont couverts</a:t>
            </a:r>
          </a:p>
        </p:txBody>
      </p:sp>
      <p:sp>
        <p:nvSpPr>
          <p:cNvPr id="2" name="">
            <a:extLst xmlns:a="http://schemas.openxmlformats.org/drawingml/2006/main">
              <a:ext uri="{FF2B5EF4-FFF2-40B4-BE49-F238E27FC236}">
                <a16:creationId xmlns:a16="http://schemas.microsoft.com/office/drawing/2014/main" id="{FDC02B93-4126-4408-8A74-75764B5886C7}"/>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Chaque exigence possède un fichier identifiable et une section correspondante dans le notebook.</a:t>
            </a:r>
          </a:p>
        </p:txBody>
      </p:sp>
      <p:sp>
        <p:nvSpPr>
          <p:cNvPr id="3" name="">
            <a:extLst xmlns:a="http://schemas.openxmlformats.org/drawingml/2006/main">
              <a:ext uri="{FF2B5EF4-FFF2-40B4-BE49-F238E27FC236}">
                <a16:creationId xmlns:a16="http://schemas.microsoft.com/office/drawing/2014/main" id="{344BC9B8-A707-4EA9-9E06-CC6F97203FF9}"/>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E5CD64C2-D1A8-4C86-B705-9E5F76F2F333}"/>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3</a:t>
            </a:r>
          </a:p>
        </p:txBody>
      </p:sp>
      <p:sp>
        <p:nvSpPr>
          <p:cNvPr id="5" name="">
            <a:extLst xmlns:a="http://schemas.openxmlformats.org/drawingml/2006/main">
              <a:ext uri="{FF2B5EF4-FFF2-40B4-BE49-F238E27FC236}">
                <a16:creationId xmlns:a16="http://schemas.microsoft.com/office/drawing/2014/main" id="{D269424D-F041-4E4C-8D08-57B4EB133D5E}"/>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3</a:t>
            </a:r>
          </a:p>
        </p:txBody>
      </p:sp>
      <p:graphicFrame>
        <p:nvGraphicFramePr>
          <p:cNvPr id="16" name=""/>
          <p:cNvGraphicFramePr/>
          <p:nvPr/>
        </p:nvGraphicFramePr>
        <p:xfrm>
          <a:off xmlns:a="http://schemas.openxmlformats.org/drawingml/2006/main" x="495300" y="1619250"/>
          <a:ext xmlns:a="http://schemas.openxmlformats.org/drawingml/2006/main" cx="11201400" cy="2952750"/>
        </p:xfrm>
        <a:graphic xmlns:a="http://schemas.openxmlformats.org/drawingml/2006/main">
          <a:graphicData uri="http://schemas.openxmlformats.org/drawingml/2006/table">
            <a:tbl>
              <a:tblPr firstRow="1" bandRow="1"/>
              <a:tblGrid>
                <a:gridCol w="857250"/>
                <a:gridCol w="4427220"/>
                <a:gridCol w="5059680"/>
                <a:gridCol w="857250"/>
              </a:tblGrid>
              <a:tr h="590550">
                <a:tc>
                  <a:txBody>
                    <a:bodyPr/>
                    <a:lstStyle/>
                    <a:p>
                      <a:r>
                        <a:rPr sz="1050" b="1">
                          <a:solidFill>
                            <a:srgbClr val="FFFFFF"/>
                          </a:solidFill>
                        </a:rPr>
                        <a:t>Tâche</a:t>
                      </a:r>
                    </a:p>
                  </a:txBody>
                  <a:tcPr marL="91440" marR="91440" marT="45720" marB="45720">
                    <a:solidFill>
                      <a:srgbClr val="0B4F7A"/>
                    </a:solidFill>
                  </a:tcPr>
                </a:tc>
                <a:tc>
                  <a:txBody>
                    <a:bodyPr/>
                    <a:lstStyle/>
                    <a:p>
                      <a:r>
                        <a:rPr sz="1050" b="1">
                          <a:solidFill>
                            <a:srgbClr val="FFFFFF"/>
                          </a:solidFill>
                        </a:rPr>
                        <a:t>Livrable SOW</a:t>
                      </a:r>
                    </a:p>
                  </a:txBody>
                  <a:tcPr marL="91440" marR="91440" marT="45720" marB="45720">
                    <a:solidFill>
                      <a:srgbClr val="0B4F7A"/>
                    </a:solidFill>
                  </a:tcPr>
                </a:tc>
                <a:tc>
                  <a:txBody>
                    <a:bodyPr/>
                    <a:lstStyle/>
                    <a:p>
                      <a:r>
                        <a:rPr sz="1050" b="1">
                          <a:solidFill>
                            <a:srgbClr val="FFFFFF"/>
                          </a:solidFill>
                        </a:rPr>
                        <a:t>Emplacement livré</a:t>
                      </a:r>
                    </a:p>
                  </a:txBody>
                  <a:tcPr marL="91440" marR="91440" marT="45720" marB="45720">
                    <a:solidFill>
                      <a:srgbClr val="0B4F7A"/>
                    </a:solidFill>
                  </a:tcPr>
                </a:tc>
                <a:tc>
                  <a:txBody>
                    <a:bodyPr/>
                    <a:lstStyle/>
                    <a:p>
                      <a:r>
                        <a:rPr sz="1050" b="1">
                          <a:solidFill>
                            <a:srgbClr val="FFFFFF"/>
                          </a:solidFill>
                        </a:rPr>
                        <a:t>Statut</a:t>
                      </a:r>
                    </a:p>
                  </a:txBody>
                  <a:tcPr marL="91440" marR="91440" marT="45720" marB="45720">
                    <a:solidFill>
                      <a:srgbClr val="0B4F7A"/>
                    </a:solidFill>
                  </a:tcPr>
                </a:tc>
              </a:tr>
              <a:tr h="590550">
                <a:tc>
                  <a:txBody>
                    <a:bodyPr/>
                    <a:lstStyle/>
                    <a:p>
                      <a:r>
                        <a:rPr sz="975">
                          <a:solidFill>
                            <a:srgbClr val="0F172A"/>
                          </a:solidFill>
                        </a:rPr>
                        <a:t>3.1</a:t>
                      </a:r>
                    </a:p>
                  </a:txBody>
                  <a:tcPr marL="91440" marR="91440" marT="45720" marB="45720"/>
                </a:tc>
                <a:tc>
                  <a:txBody>
                    <a:bodyPr/>
                    <a:lstStyle/>
                    <a:p>
                      <a:r>
                        <a:rPr sz="975">
                          <a:solidFill>
                            <a:srgbClr val="0F172A"/>
                          </a:solidFill>
                        </a:rPr>
                        <a:t>Notebook final</a:t>
                      </a:r>
                    </a:p>
                  </a:txBody>
                  <a:tcPr marL="91440" marR="91440" marT="45720" marB="45720"/>
                </a:tc>
                <a:tc>
                  <a:txBody>
                    <a:bodyPr/>
                    <a:lstStyle/>
                    <a:p>
                      <a:r>
                        <a:rPr sz="975">
                          <a:solidFill>
                            <a:srgbClr val="0F172A"/>
                          </a:solidFill>
                        </a:rPr>
                        <a:t>code/</a:t>
                      </a:r>
                    </a:p>
                    <a:p>
                      <a:r>
                        <a:rPr sz="975">
                          <a:solidFill>
                            <a:srgbClr val="0F172A"/>
                          </a:solidFill>
                        </a:rPr>
                        <a:t>12_objectif3_notebook_demonstration.ipynb</a:t>
                      </a:r>
                    </a:p>
                  </a:txBody>
                  <a:tcPr marL="91440" marR="91440" marT="45720" marB="45720"/>
                </a:tc>
                <a:tc>
                  <a:txBody>
                    <a:bodyPr/>
                    <a:lstStyle/>
                    <a:p>
                      <a:r>
                        <a:rPr sz="975">
                          <a:solidFill>
                            <a:srgbClr val="0F172A"/>
                          </a:solidFill>
                        </a:rPr>
                        <a:t>Livré</a:t>
                      </a:r>
                    </a:p>
                  </a:txBody>
                  <a:tcPr marL="91440" marR="91440" marT="45720" marB="45720"/>
                </a:tc>
              </a:tr>
              <a:tr h="590550">
                <a:tc>
                  <a:txBody>
                    <a:bodyPr/>
                    <a:lstStyle/>
                    <a:p>
                      <a:r>
                        <a:rPr sz="975">
                          <a:solidFill>
                            <a:srgbClr val="0F172A"/>
                          </a:solidFill>
                        </a:rPr>
                        <a:t>3.1</a:t>
                      </a:r>
                    </a:p>
                  </a:txBody>
                  <a:tcPr marL="91440" marR="91440" marT="45720" marB="45720"/>
                </a:tc>
                <a:tc>
                  <a:txBody>
                    <a:bodyPr/>
                    <a:lstStyle/>
                    <a:p>
                      <a:r>
                        <a:rPr sz="975">
                          <a:solidFill>
                            <a:srgbClr val="0F172A"/>
                          </a:solidFill>
                        </a:rPr>
                        <a:t>Documentation</a:t>
                      </a:r>
                    </a:p>
                  </a:txBody>
                  <a:tcPr marL="91440" marR="91440" marT="45720" marB="45720"/>
                </a:tc>
                <a:tc>
                  <a:txBody>
                    <a:bodyPr/>
                    <a:lstStyle/>
                    <a:p>
                      <a:r>
                        <a:rPr sz="975">
                          <a:solidFill>
                            <a:srgbClr val="0F172A"/>
                          </a:solidFill>
                        </a:rPr>
                        <a:t>RAPPORTS/</a:t>
                      </a:r>
                    </a:p>
                    <a:p>
                      <a:r>
                        <a:rPr sz="975">
                          <a:solidFill>
                            <a:srgbClr val="0F172A"/>
                          </a:solidFill>
                        </a:rPr>
                        <a:t>Objectif3_guide_utilisation.docx</a:t>
                      </a:r>
                    </a:p>
                  </a:txBody>
                  <a:tcPr marL="91440" marR="91440" marT="45720" marB="45720"/>
                </a:tc>
                <a:tc>
                  <a:txBody>
                    <a:bodyPr/>
                    <a:lstStyle/>
                    <a:p>
                      <a:r>
                        <a:rPr sz="975">
                          <a:solidFill>
                            <a:srgbClr val="0F172A"/>
                          </a:solidFill>
                        </a:rPr>
                        <a:t>Livrée</a:t>
                      </a:r>
                    </a:p>
                  </a:txBody>
                  <a:tcPr marL="91440" marR="91440" marT="45720" marB="45720"/>
                </a:tc>
              </a:tr>
              <a:tr h="590550">
                <a:tc>
                  <a:txBody>
                    <a:bodyPr/>
                    <a:lstStyle/>
                    <a:p>
                      <a:r>
                        <a:rPr sz="975">
                          <a:solidFill>
                            <a:srgbClr val="0F172A"/>
                          </a:solidFill>
                        </a:rPr>
                        <a:t>Support</a:t>
                      </a:r>
                    </a:p>
                  </a:txBody>
                  <a:tcPr marL="91440" marR="91440" marT="45720" marB="45720"/>
                </a:tc>
                <a:tc>
                  <a:txBody>
                    <a:bodyPr/>
                    <a:lstStyle/>
                    <a:p>
                      <a:r>
                        <a:rPr sz="975">
                          <a:solidFill>
                            <a:srgbClr val="0F172A"/>
                          </a:solidFill>
                        </a:rPr>
                        <a:t>Données et sorties</a:t>
                      </a:r>
                    </a:p>
                  </a:txBody>
                  <a:tcPr marL="91440" marR="91440" marT="45720" marB="45720"/>
                </a:tc>
                <a:tc>
                  <a:txBody>
                    <a:bodyPr/>
                    <a:lstStyle/>
                    <a:p>
                      <a:r>
                        <a:rPr sz="975">
                          <a:solidFill>
                            <a:srgbClr val="0F172A"/>
                          </a:solidFill>
                        </a:rPr>
                        <a:t>DONNEES_DEMO/ et RESULTATS/</a:t>
                      </a:r>
                    </a:p>
                  </a:txBody>
                  <a:tcPr marL="91440" marR="91440" marT="45720" marB="45720"/>
                </a:tc>
                <a:tc>
                  <a:txBody>
                    <a:bodyPr/>
                    <a:lstStyle/>
                    <a:p>
                      <a:r>
                        <a:rPr sz="975">
                          <a:solidFill>
                            <a:srgbClr val="0F172A"/>
                          </a:solidFill>
                        </a:rPr>
                        <a:t>Inclus</a:t>
                      </a:r>
                    </a:p>
                  </a:txBody>
                  <a:tcPr marL="91440" marR="91440" marT="45720" marB="45720"/>
                </a:tc>
              </a:tr>
              <a:tr h="590550">
                <a:tc>
                  <a:txBody>
                    <a:bodyPr/>
                    <a:lstStyle/>
                    <a:p>
                      <a:r>
                        <a:rPr sz="975">
                          <a:solidFill>
                            <a:srgbClr val="0F172A"/>
                          </a:solidFill>
                        </a:rPr>
                        <a:t>Support</a:t>
                      </a:r>
                    </a:p>
                  </a:txBody>
                  <a:tcPr marL="91440" marR="91440" marT="45720" marB="45720"/>
                </a:tc>
                <a:tc>
                  <a:txBody>
                    <a:bodyPr/>
                    <a:lstStyle/>
                    <a:p>
                      <a:r>
                        <a:rPr sz="975">
                          <a:solidFill>
                            <a:srgbClr val="0F172A"/>
                          </a:solidFill>
                        </a:rPr>
                        <a:t>Présentation détaillée</a:t>
                      </a:r>
                    </a:p>
                  </a:txBody>
                  <a:tcPr marL="91440" marR="91440" marT="45720" marB="45720"/>
                </a:tc>
                <a:tc>
                  <a:txBody>
                    <a:bodyPr/>
                    <a:lstStyle/>
                    <a:p>
                      <a:r>
                        <a:rPr sz="975">
                          <a:solidFill>
                            <a:srgbClr val="0F172A"/>
                          </a:solidFill>
                        </a:rPr>
                        <a:t>RAPPORTS/</a:t>
                      </a:r>
                    </a:p>
                    <a:p>
                      <a:r>
                        <a:rPr sz="975">
                          <a:solidFill>
                            <a:srgbClr val="0F172A"/>
                          </a:solidFill>
                        </a:rPr>
                        <a:t>Objectif3_presentation_detaillee.pptx</a:t>
                      </a:r>
                    </a:p>
                  </a:txBody>
                  <a:tcPr marL="91440" marR="91440" marT="45720" marB="45720"/>
                </a:tc>
                <a:tc>
                  <a:txBody>
                    <a:bodyPr/>
                    <a:lstStyle/>
                    <a:p>
                      <a:r>
                        <a:rPr sz="975">
                          <a:solidFill>
                            <a:srgbClr val="0F172A"/>
                          </a:solidFill>
                        </a:rPr>
                        <a:t>Ajoutée</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824F4D0E-49A8-4A07-84DF-212D4B2C3014}"/>
              </a:ext>
            </a:extLst>
          </p:cNvPr>
          <p:cNvSpPr>
            <a:spLocks xmlns:a="http://schemas.openxmlformats.org/drawingml/2006/main" noGrp="1"/>
          </p:cNvSpPr>
          <p:nvPr/>
        </p:nvSpPr>
        <p:spPr>
          <a:xfrm xmlns:a="http://schemas.openxmlformats.org/drawingml/2006/main">
            <a:off x="495300" y="4933950"/>
            <a:ext cx="11201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475569"/>
                </a:solidFill>
              </a:defRPr>
            </a:pPr>
            <a:r>
              <a:rPr sz="1575" b="0">
                <a:solidFill>
                  <a:srgbClr val="475569"/>
                </a:solidFill>
              </a:rPr>
              <a:t>Le PPTX facilite la présentation; il complète le notebook final et la documentation exigés par le SOW.</a:t>
            </a:r>
          </a:p>
        </p:txBody>
      </p:sp>
    </p:spTree>
    <p:extLst>
      <p:ext uri="{BB962C8B-B14F-4D97-AF65-F5344CB8AC3E}">
        <p14:creationId xmlns:p14="http://schemas.microsoft.com/office/powerpoint/2010/main" val="14150866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12FE3F2-AE09-41F5-87A4-D83FD9F454D3}"/>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Un paquet compact, traçable et autonome</a:t>
            </a:r>
          </a:p>
        </p:txBody>
      </p:sp>
      <p:sp>
        <p:nvSpPr>
          <p:cNvPr id="2" name="">
            <a:extLst xmlns:a="http://schemas.openxmlformats.org/drawingml/2006/main">
              <a:ext uri="{FF2B5EF4-FFF2-40B4-BE49-F238E27FC236}">
                <a16:creationId xmlns:a16="http://schemas.microsoft.com/office/drawing/2014/main" id="{4B739CF2-F075-4BAE-8535-CE68693FF5A0}"/>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Chaque dossier a un rôle clair dans l’exécution et l’interprétation.</a:t>
            </a:r>
          </a:p>
        </p:txBody>
      </p:sp>
      <p:sp>
        <p:nvSpPr>
          <p:cNvPr id="3" name="">
            <a:extLst xmlns:a="http://schemas.openxmlformats.org/drawingml/2006/main">
              <a:ext uri="{FF2B5EF4-FFF2-40B4-BE49-F238E27FC236}">
                <a16:creationId xmlns:a16="http://schemas.microsoft.com/office/drawing/2014/main" id="{42821656-24DF-4A5B-A609-675EB9F1D3B1}"/>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8CE72341-4619-43FF-B644-D2105F8C3796}"/>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3</a:t>
            </a:r>
          </a:p>
        </p:txBody>
      </p:sp>
      <p:sp>
        <p:nvSpPr>
          <p:cNvPr id="5" name="">
            <a:extLst xmlns:a="http://schemas.openxmlformats.org/drawingml/2006/main">
              <a:ext uri="{FF2B5EF4-FFF2-40B4-BE49-F238E27FC236}">
                <a16:creationId xmlns:a16="http://schemas.microsoft.com/office/drawing/2014/main" id="{F3413A88-BDE9-4328-BE24-C1DF15A68285}"/>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4</a:t>
            </a:r>
          </a:p>
        </p:txBody>
      </p:sp>
      <p:graphicFrame>
        <p:nvGraphicFramePr>
          <p:cNvPr id="17" name=""/>
          <p:cNvGraphicFramePr/>
          <p:nvPr/>
        </p:nvGraphicFramePr>
        <p:xfrm>
          <a:off xmlns:a="http://schemas.openxmlformats.org/drawingml/2006/main" x="495300" y="1524000"/>
          <a:ext xmlns:a="http://schemas.openxmlformats.org/drawingml/2006/main" cx="11201400" cy="2724150"/>
        </p:xfrm>
        <a:graphic xmlns:a="http://schemas.openxmlformats.org/drawingml/2006/main">
          <a:graphicData uri="http://schemas.openxmlformats.org/drawingml/2006/table">
            <a:tbl>
              <a:tblPr firstRow="1" bandRow="1"/>
              <a:tblGrid>
                <a:gridCol w="2713383"/>
                <a:gridCol w="1047750"/>
                <a:gridCol w="3101009"/>
                <a:gridCol w="3101009"/>
                <a:gridCol w="1238250"/>
              </a:tblGrid>
              <a:tr h="544830">
                <a:tc>
                  <a:txBody>
                    <a:bodyPr/>
                    <a:lstStyle/>
                    <a:p>
                      <a:r>
                        <a:rPr sz="1050" b="1">
                          <a:solidFill>
                            <a:srgbClr val="FFFFFF"/>
                          </a:solidFill>
                        </a:rPr>
                        <a:t>Élément</a:t>
                      </a:r>
                    </a:p>
                  </a:txBody>
                  <a:tcPr marL="91440" marR="91440" marT="45720" marB="45720">
                    <a:solidFill>
                      <a:srgbClr val="0B4F7A"/>
                    </a:solidFill>
                  </a:tcPr>
                </a:tc>
                <a:tc>
                  <a:txBody>
                    <a:bodyPr/>
                    <a:lstStyle/>
                    <a:p>
                      <a:r>
                        <a:rPr sz="1050" b="1">
                          <a:solidFill>
                            <a:srgbClr val="FFFFFF"/>
                          </a:solidFill>
                        </a:rPr>
                        <a:t>Niveau</a:t>
                      </a:r>
                    </a:p>
                  </a:txBody>
                  <a:tcPr marL="91440" marR="91440" marT="45720" marB="45720">
                    <a:solidFill>
                      <a:srgbClr val="0B4F7A"/>
                    </a:solidFill>
                  </a:tcPr>
                </a:tc>
                <a:tc>
                  <a:txBody>
                    <a:bodyPr/>
                    <a:lstStyle/>
                    <a:p>
                      <a:r>
                        <a:rPr sz="1050" b="1">
                          <a:solidFill>
                            <a:srgbClr val="FFFFFF"/>
                          </a:solidFill>
                        </a:rPr>
                        <a:t>Volume</a:t>
                      </a:r>
                    </a:p>
                  </a:txBody>
                  <a:tcPr marL="91440" marR="91440" marT="45720" marB="45720">
                    <a:solidFill>
                      <a:srgbClr val="0B4F7A"/>
                    </a:solidFill>
                  </a:tcPr>
                </a:tc>
                <a:tc>
                  <a:txBody>
                    <a:bodyPr/>
                    <a:lstStyle/>
                    <a:p>
                      <a:r>
                        <a:rPr sz="1050" b="1">
                          <a:solidFill>
                            <a:srgbClr val="FFFFFF"/>
                          </a:solidFill>
                        </a:rPr>
                        <a:t>Contenu</a:t>
                      </a:r>
                    </a:p>
                  </a:txBody>
                  <a:tcPr marL="91440" marR="91440" marT="45720" marB="45720">
                    <a:solidFill>
                      <a:srgbClr val="0B4F7A"/>
                    </a:solidFill>
                  </a:tcPr>
                </a:tc>
                <a:tc>
                  <a:txBody>
                    <a:bodyPr/>
                    <a:lstStyle/>
                    <a:p>
                      <a:r>
                        <a:rPr sz="1050" b="1">
                          <a:solidFill>
                            <a:srgbClr val="FFFFFF"/>
                          </a:solidFill>
                        </a:rPr>
                        <a:t>Statut</a:t>
                      </a:r>
                    </a:p>
                  </a:txBody>
                  <a:tcPr marL="91440" marR="91440" marT="45720" marB="45720">
                    <a:solidFill>
                      <a:srgbClr val="0B4F7A"/>
                    </a:solidFill>
                  </a:tcPr>
                </a:tc>
              </a:tr>
              <a:tr h="544830">
                <a:tc>
                  <a:txBody>
                    <a:bodyPr/>
                    <a:lstStyle/>
                    <a:p>
                      <a:r>
                        <a:rPr sz="975">
                          <a:solidFill>
                            <a:srgbClr val="0F172A"/>
                          </a:solidFill>
                        </a:rPr>
                        <a:t>Notebook</a:t>
                      </a:r>
                    </a:p>
                  </a:txBody>
                  <a:tcPr marL="91440" marR="91440" marT="45720" marB="45720"/>
                </a:tc>
                <a:tc>
                  <a:txBody>
                    <a:bodyPr/>
                    <a:lstStyle/>
                    <a:p>
                      <a:r>
                        <a:rPr sz="975">
                          <a:solidFill>
                            <a:srgbClr val="0F172A"/>
                          </a:solidFill>
                        </a:rPr>
                        <a:t>cellule</a:t>
                      </a:r>
                    </a:p>
                  </a:txBody>
                  <a:tcPr marL="91440" marR="91440" marT="45720" marB="45720"/>
                </a:tc>
                <a:tc>
                  <a:txBody>
                    <a:bodyPr/>
                    <a:lstStyle/>
                    <a:p>
                      <a:r>
                        <a:rPr sz="975">
                          <a:solidFill>
                            <a:srgbClr val="0F172A"/>
                          </a:solidFill>
                        </a:rPr>
                        <a:t>9/9</a:t>
                      </a:r>
                    </a:p>
                  </a:txBody>
                  <a:tcPr marL="91440" marR="91440" marT="45720" marB="45720"/>
                </a:tc>
                <a:tc>
                  <a:txBody>
                    <a:bodyPr/>
                    <a:lstStyle/>
                    <a:p>
                      <a:r>
                        <a:rPr sz="975">
                          <a:solidFill>
                            <a:srgbClr val="0F172A"/>
                          </a:solidFill>
                        </a:rPr>
                        <a:t>flux complet</a:t>
                      </a:r>
                    </a:p>
                  </a:txBody>
                  <a:tcPr marL="91440" marR="91440" marT="45720" marB="45720"/>
                </a:tc>
                <a:tc>
                  <a:txBody>
                    <a:bodyPr/>
                    <a:lstStyle/>
                    <a:p>
                      <a:r>
                        <a:rPr sz="975">
                          <a:solidFill>
                            <a:srgbClr val="0F172A"/>
                          </a:solidFill>
                        </a:rPr>
                        <a:t>Exécuté</a:t>
                      </a:r>
                    </a:p>
                  </a:txBody>
                  <a:tcPr marL="91440" marR="91440" marT="45720" marB="45720"/>
                </a:tc>
              </a:tr>
              <a:tr h="544830">
                <a:tc>
                  <a:txBody>
                    <a:bodyPr/>
                    <a:lstStyle/>
                    <a:p>
                      <a:r>
                        <a:rPr sz="975">
                          <a:solidFill>
                            <a:srgbClr val="0F172A"/>
                          </a:solidFill>
                        </a:rPr>
                        <a:t>Données</a:t>
                      </a:r>
                    </a:p>
                  </a:txBody>
                  <a:tcPr marL="91440" marR="91440" marT="45720" marB="45720"/>
                </a:tc>
                <a:tc>
                  <a:txBody>
                    <a:bodyPr/>
                    <a:lstStyle/>
                    <a:p>
                      <a:r>
                        <a:rPr sz="975">
                          <a:solidFill>
                            <a:srgbClr val="0F172A"/>
                          </a:solidFill>
                        </a:rPr>
                        <a:t>fichier</a:t>
                      </a:r>
                    </a:p>
                  </a:txBody>
                  <a:tcPr marL="91440" marR="91440" marT="45720" marB="45720"/>
                </a:tc>
                <a:tc>
                  <a:txBody>
                    <a:bodyPr/>
                    <a:lstStyle/>
                    <a:p>
                      <a:r>
                        <a:rPr sz="975">
                          <a:solidFill>
                            <a:srgbClr val="0F172A"/>
                          </a:solidFill>
                        </a:rPr>
                        <a:t>7 CSV</a:t>
                      </a:r>
                    </a:p>
                  </a:txBody>
                  <a:tcPr marL="91440" marR="91440" marT="45720" marB="45720"/>
                </a:tc>
                <a:tc>
                  <a:txBody>
                    <a:bodyPr/>
                    <a:lstStyle/>
                    <a:p>
                      <a:r>
                        <a:rPr sz="975">
                          <a:solidFill>
                            <a:srgbClr val="0F172A"/>
                          </a:solidFill>
                        </a:rPr>
                        <a:t>échantillons compacts</a:t>
                      </a:r>
                    </a:p>
                  </a:txBody>
                  <a:tcPr marL="91440" marR="91440" marT="45720" marB="45720"/>
                </a:tc>
                <a:tc>
                  <a:txBody>
                    <a:bodyPr/>
                    <a:lstStyle/>
                    <a:p>
                      <a:r>
                        <a:rPr sz="975">
                          <a:solidFill>
                            <a:srgbClr val="0F172A"/>
                          </a:solidFill>
                        </a:rPr>
                        <a:t>Inclus</a:t>
                      </a:r>
                    </a:p>
                  </a:txBody>
                  <a:tcPr marL="91440" marR="91440" marT="45720" marB="45720"/>
                </a:tc>
              </a:tr>
              <a:tr h="544830">
                <a:tc>
                  <a:txBody>
                    <a:bodyPr/>
                    <a:lstStyle/>
                    <a:p>
                      <a:r>
                        <a:rPr sz="975">
                          <a:solidFill>
                            <a:srgbClr val="0F172A"/>
                          </a:solidFill>
                        </a:rPr>
                        <a:t>Résultats</a:t>
                      </a:r>
                    </a:p>
                  </a:txBody>
                  <a:tcPr marL="91440" marR="91440" marT="45720" marB="45720"/>
                </a:tc>
                <a:tc>
                  <a:txBody>
                    <a:bodyPr/>
                    <a:lstStyle/>
                    <a:p>
                      <a:r>
                        <a:rPr sz="975">
                          <a:solidFill>
                            <a:srgbClr val="0F172A"/>
                          </a:solidFill>
                        </a:rPr>
                        <a:t>fichier</a:t>
                      </a:r>
                    </a:p>
                  </a:txBody>
                  <a:tcPr marL="91440" marR="91440" marT="45720" marB="45720"/>
                </a:tc>
                <a:tc>
                  <a:txBody>
                    <a:bodyPr/>
                    <a:lstStyle/>
                    <a:p>
                      <a:r>
                        <a:rPr sz="975">
                          <a:solidFill>
                            <a:srgbClr val="0F172A"/>
                          </a:solidFill>
                        </a:rPr>
                        <a:t>6 sorties</a:t>
                      </a:r>
                    </a:p>
                  </a:txBody>
                  <a:tcPr marL="91440" marR="91440" marT="45720" marB="45720"/>
                </a:tc>
                <a:tc>
                  <a:txBody>
                    <a:bodyPr/>
                    <a:lstStyle/>
                    <a:p>
                      <a:r>
                        <a:rPr sz="975">
                          <a:solidFill>
                            <a:srgbClr val="0F172A"/>
                          </a:solidFill>
                        </a:rPr>
                        <a:t>5 figures + synthèse</a:t>
                      </a:r>
                    </a:p>
                  </a:txBody>
                  <a:tcPr marL="91440" marR="91440" marT="45720" marB="45720"/>
                </a:tc>
                <a:tc>
                  <a:txBody>
                    <a:bodyPr/>
                    <a:lstStyle/>
                    <a:p>
                      <a:r>
                        <a:rPr sz="975">
                          <a:solidFill>
                            <a:srgbClr val="0F172A"/>
                          </a:solidFill>
                        </a:rPr>
                        <a:t>Générés</a:t>
                      </a:r>
                    </a:p>
                  </a:txBody>
                  <a:tcPr marL="91440" marR="91440" marT="45720" marB="45720"/>
                </a:tc>
              </a:tr>
              <a:tr h="544830">
                <a:tc>
                  <a:txBody>
                    <a:bodyPr/>
                    <a:lstStyle/>
                    <a:p>
                      <a:r>
                        <a:rPr sz="975">
                          <a:solidFill>
                            <a:srgbClr val="0F172A"/>
                          </a:solidFill>
                        </a:rPr>
                        <a:t>Documentation</a:t>
                      </a:r>
                    </a:p>
                  </a:txBody>
                  <a:tcPr marL="91440" marR="91440" marT="45720" marB="45720"/>
                </a:tc>
                <a:tc>
                  <a:txBody>
                    <a:bodyPr/>
                    <a:lstStyle/>
                    <a:p>
                      <a:r>
                        <a:rPr sz="975">
                          <a:solidFill>
                            <a:srgbClr val="0F172A"/>
                          </a:solidFill>
                        </a:rPr>
                        <a:t>guide</a:t>
                      </a:r>
                    </a:p>
                  </a:txBody>
                  <a:tcPr marL="91440" marR="91440" marT="45720" marB="45720"/>
                </a:tc>
                <a:tc>
                  <a:txBody>
                    <a:bodyPr/>
                    <a:lstStyle/>
                    <a:p>
                      <a:r>
                        <a:rPr sz="975">
                          <a:solidFill>
                            <a:srgbClr val="0F172A"/>
                          </a:solidFill>
                        </a:rPr>
                        <a:t>Word + MD</a:t>
                      </a:r>
                    </a:p>
                  </a:txBody>
                  <a:tcPr marL="91440" marR="91440" marT="45720" marB="45720"/>
                </a:tc>
                <a:tc>
                  <a:txBody>
                    <a:bodyPr/>
                    <a:lstStyle/>
                    <a:p>
                      <a:r>
                        <a:rPr sz="975">
                          <a:solidFill>
                            <a:srgbClr val="0F172A"/>
                          </a:solidFill>
                        </a:rPr>
                        <a:t>exécution et limites</a:t>
                      </a:r>
                    </a:p>
                  </a:txBody>
                  <a:tcPr marL="91440" marR="91440" marT="45720" marB="45720"/>
                </a:tc>
                <a:tc>
                  <a:txBody>
                    <a:bodyPr/>
                    <a:lstStyle/>
                    <a:p>
                      <a:r>
                        <a:rPr sz="975">
                          <a:solidFill>
                            <a:srgbClr val="0F172A"/>
                          </a:solidFill>
                        </a:rPr>
                        <a:t>Livrée</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B592FEF4-524B-4610-BFE3-9A34583E123F}"/>
              </a:ext>
            </a:extLst>
          </p:cNvPr>
          <p:cNvSpPr>
            <a:spLocks xmlns:a="http://schemas.openxmlformats.org/drawingml/2006/main" noGrp="1"/>
          </p:cNvSpPr>
          <p:nvPr/>
        </p:nvSpPr>
        <p:spPr>
          <a:xfrm xmlns:a="http://schemas.openxmlformats.org/drawingml/2006/main">
            <a:off x="495300" y="4705350"/>
            <a:ext cx="11201400" cy="74295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9694953-12A6-4E8C-86D3-6D9E642668EB}"/>
              </a:ext>
            </a:extLst>
          </p:cNvPr>
          <p:cNvSpPr>
            <a:spLocks xmlns:a="http://schemas.openxmlformats.org/drawingml/2006/main" noGrp="1"/>
          </p:cNvSpPr>
          <p:nvPr/>
        </p:nvSpPr>
        <p:spPr>
          <a:xfrm xmlns:a="http://schemas.openxmlformats.org/drawingml/2006/main">
            <a:off x="704850" y="4895850"/>
            <a:ext cx="10782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F172A"/>
                </a:solidFill>
              </a:defRPr>
            </a:pPr>
            <a:r>
              <a:rPr sz="1650" b="0">
                <a:solidFill>
                  <a:srgbClr val="0F172A"/>
                </a:solidFill>
              </a:rPr>
              <a:t>Le paquet évite les données massives inutiles : il contient uniquement ce qui est nécessaire pour relancer la démonstration.</a:t>
            </a:r>
          </a:p>
        </p:txBody>
      </p:sp>
    </p:spTree>
    <p:extLst>
      <p:ext uri="{BB962C8B-B14F-4D97-AF65-F5344CB8AC3E}">
        <p14:creationId xmlns:p14="http://schemas.microsoft.com/office/powerpoint/2010/main" val="187998354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BE4D1FC-63E8-4878-B816-95E91CF86B91}"/>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Le notebook suit un parcours simple et vérifiable</a:t>
            </a:r>
          </a:p>
        </p:txBody>
      </p:sp>
      <p:sp>
        <p:nvSpPr>
          <p:cNvPr id="2" name="">
            <a:extLst xmlns:a="http://schemas.openxmlformats.org/drawingml/2006/main">
              <a:ext uri="{FF2B5EF4-FFF2-40B4-BE49-F238E27FC236}">
                <a16:creationId xmlns:a16="http://schemas.microsoft.com/office/drawing/2014/main" id="{3675E34E-2BDB-4DC1-B0C2-0861350C3FC2}"/>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Chaque étape produit une sortie contrôlée avant de passer à l’interprétation.</a:t>
            </a:r>
          </a:p>
        </p:txBody>
      </p:sp>
      <p:sp>
        <p:nvSpPr>
          <p:cNvPr id="3" name="">
            <a:extLst xmlns:a="http://schemas.openxmlformats.org/drawingml/2006/main">
              <a:ext uri="{FF2B5EF4-FFF2-40B4-BE49-F238E27FC236}">
                <a16:creationId xmlns:a16="http://schemas.microsoft.com/office/drawing/2014/main" id="{9118DEE4-0FD9-49EE-89B7-EDAAB397306E}"/>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2D4AD1B6-21CB-43C1-A3D2-E05BE6A0A162}"/>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3</a:t>
            </a:r>
          </a:p>
        </p:txBody>
      </p:sp>
      <p:sp>
        <p:nvSpPr>
          <p:cNvPr id="5" name="">
            <a:extLst xmlns:a="http://schemas.openxmlformats.org/drawingml/2006/main">
              <a:ext uri="{FF2B5EF4-FFF2-40B4-BE49-F238E27FC236}">
                <a16:creationId xmlns:a16="http://schemas.microsoft.com/office/drawing/2014/main" id="{7C2817B2-6EA0-426A-8F01-DF79A0F16665}"/>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5</a:t>
            </a:r>
          </a:p>
        </p:txBody>
      </p:sp>
      <p:sp>
        <p:nvSpPr>
          <p:cNvPr id="6" name="">
            <a:extLst xmlns:a="http://schemas.openxmlformats.org/drawingml/2006/main">
              <a:ext uri="{FF2B5EF4-FFF2-40B4-BE49-F238E27FC236}">
                <a16:creationId xmlns:a16="http://schemas.microsoft.com/office/drawing/2014/main" id="{6F0575FF-5EED-4961-976E-83B94E06DEE3}"/>
              </a:ext>
            </a:extLst>
          </p:cNvPr>
          <p:cNvSpPr>
            <a:spLocks xmlns:a="http://schemas.openxmlformats.org/drawingml/2006/main" noGrp="1"/>
          </p:cNvSpPr>
          <p:nvPr/>
        </p:nvSpPr>
        <p:spPr>
          <a:xfrm xmlns:a="http://schemas.openxmlformats.org/drawingml/2006/main">
            <a:off x="495300" y="1638300"/>
            <a:ext cx="3429000" cy="1219200"/>
          </a:xfrm>
          <a:prstGeom xmlns:a="http://schemas.openxmlformats.org/drawingml/2006/main" prst="rect">
            <a:avLst/>
          </a:prstGeom>
          <a:solidFill xmlns:a="http://schemas.openxmlformats.org/drawingml/2006/main">
            <a:srgbClr val="F3F6FA"/>
          </a:solidFill>
          <a:ln xmlns:a="http://schemas.openxmlformats.org/drawingml/2006/main" w="9525">
            <a:solidFill>
              <a:srgbClr val="D3D7DE"/>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51ADD9B6-5E32-4FB7-8A42-04D0513958ED}"/>
              </a:ext>
            </a:extLst>
          </p:cNvPr>
          <p:cNvSpPr>
            <a:spLocks xmlns:a="http://schemas.openxmlformats.org/drawingml/2006/main" noGrp="1"/>
          </p:cNvSpPr>
          <p:nvPr/>
        </p:nvSpPr>
        <p:spPr>
          <a:xfrm xmlns:a="http://schemas.openxmlformats.org/drawingml/2006/main">
            <a:off x="666750" y="18097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2550" b="1">
                <a:solidFill>
                  <a:srgbClr val="0B4F7A"/>
                </a:solidFill>
              </a:rPr>
              <a:t>1</a:t>
            </a:r>
          </a:p>
        </p:txBody>
      </p:sp>
      <p:sp>
        <p:nvSpPr>
          <p:cNvPr id="8" name="">
            <a:extLst xmlns:a="http://schemas.openxmlformats.org/drawingml/2006/main">
              <a:ext uri="{FF2B5EF4-FFF2-40B4-BE49-F238E27FC236}">
                <a16:creationId xmlns:a16="http://schemas.microsoft.com/office/drawing/2014/main" id="{133181B2-4CF2-47E3-8510-DAE3F0742129}"/>
              </a:ext>
            </a:extLst>
          </p:cNvPr>
          <p:cNvSpPr>
            <a:spLocks xmlns:a="http://schemas.openxmlformats.org/drawingml/2006/main" noGrp="1"/>
          </p:cNvSpPr>
          <p:nvPr/>
        </p:nvSpPr>
        <p:spPr>
          <a:xfrm xmlns:a="http://schemas.openxmlformats.org/drawingml/2006/main">
            <a:off x="1238250" y="18478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172A"/>
                </a:solidFill>
              </a:defRPr>
            </a:pPr>
            <a:r>
              <a:rPr sz="1800" b="1">
                <a:solidFill>
                  <a:srgbClr val="0F172A"/>
                </a:solidFill>
              </a:rPr>
              <a:t>Charger</a:t>
            </a:r>
          </a:p>
        </p:txBody>
      </p:sp>
      <p:sp>
        <p:nvSpPr>
          <p:cNvPr id="9" name="">
            <a:extLst xmlns:a="http://schemas.openxmlformats.org/drawingml/2006/main">
              <a:ext uri="{FF2B5EF4-FFF2-40B4-BE49-F238E27FC236}">
                <a16:creationId xmlns:a16="http://schemas.microsoft.com/office/drawing/2014/main" id="{1E1D2D3F-8BED-4866-96A2-D9FBAF7448EE}"/>
              </a:ext>
            </a:extLst>
          </p:cNvPr>
          <p:cNvSpPr>
            <a:spLocks xmlns:a="http://schemas.openxmlformats.org/drawingml/2006/main" noGrp="1"/>
          </p:cNvSpPr>
          <p:nvPr/>
        </p:nvSpPr>
        <p:spPr>
          <a:xfrm xmlns:a="http://schemas.openxmlformats.org/drawingml/2006/main">
            <a:off x="1238250" y="22288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IceTag, résultats multi-saisons et données THI</a:t>
            </a:r>
          </a:p>
        </p:txBody>
      </p:sp>
      <p:sp>
        <p:nvSpPr>
          <p:cNvPr id="10" name="">
            <a:extLst xmlns:a="http://schemas.openxmlformats.org/drawingml/2006/main">
              <a:ext uri="{FF2B5EF4-FFF2-40B4-BE49-F238E27FC236}">
                <a16:creationId xmlns:a16="http://schemas.microsoft.com/office/drawing/2014/main" id="{601334C1-8536-4A01-B5AE-88B383A62B67}"/>
              </a:ext>
            </a:extLst>
          </p:cNvPr>
          <p:cNvSpPr>
            <a:spLocks xmlns:a="http://schemas.openxmlformats.org/drawingml/2006/main" noGrp="1"/>
          </p:cNvSpPr>
          <p:nvPr/>
        </p:nvSpPr>
        <p:spPr>
          <a:xfrm xmlns:a="http://schemas.openxmlformats.org/drawingml/2006/main">
            <a:off x="4381500" y="1638300"/>
            <a:ext cx="3429000" cy="1219200"/>
          </a:xfrm>
          <a:prstGeom xmlns:a="http://schemas.openxmlformats.org/drawingml/2006/main" prst="rect">
            <a:avLst/>
          </a:prstGeom>
          <a:solidFill xmlns:a="http://schemas.openxmlformats.org/drawingml/2006/main">
            <a:srgbClr val="F3F6FA"/>
          </a:solidFill>
          <a:ln xmlns:a="http://schemas.openxmlformats.org/drawingml/2006/main" w="9525">
            <a:solidFill>
              <a:srgbClr val="D3D7DE"/>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9DEAB846-5E0C-4643-8A53-248A5BC489FD}"/>
              </a:ext>
            </a:extLst>
          </p:cNvPr>
          <p:cNvSpPr>
            <a:spLocks xmlns:a="http://schemas.openxmlformats.org/drawingml/2006/main" noGrp="1"/>
          </p:cNvSpPr>
          <p:nvPr/>
        </p:nvSpPr>
        <p:spPr>
          <a:xfrm xmlns:a="http://schemas.openxmlformats.org/drawingml/2006/main">
            <a:off x="4552950" y="18097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2550" b="1">
                <a:solidFill>
                  <a:srgbClr val="0B4F7A"/>
                </a:solidFill>
              </a:rPr>
              <a:t>2</a:t>
            </a:r>
          </a:p>
        </p:txBody>
      </p:sp>
      <p:sp>
        <p:nvSpPr>
          <p:cNvPr id="12" name="">
            <a:extLst xmlns:a="http://schemas.openxmlformats.org/drawingml/2006/main">
              <a:ext uri="{FF2B5EF4-FFF2-40B4-BE49-F238E27FC236}">
                <a16:creationId xmlns:a16="http://schemas.microsoft.com/office/drawing/2014/main" id="{71650FD4-CA4E-42C5-9871-CDE38050BF8A}"/>
              </a:ext>
            </a:extLst>
          </p:cNvPr>
          <p:cNvSpPr>
            <a:spLocks xmlns:a="http://schemas.openxmlformats.org/drawingml/2006/main" noGrp="1"/>
          </p:cNvSpPr>
          <p:nvPr/>
        </p:nvSpPr>
        <p:spPr>
          <a:xfrm xmlns:a="http://schemas.openxmlformats.org/drawingml/2006/main">
            <a:off x="5124450" y="18478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172A"/>
                </a:solidFill>
              </a:defRPr>
            </a:pPr>
            <a:r>
              <a:rPr sz="1800" b="1">
                <a:solidFill>
                  <a:srgbClr val="0F172A"/>
                </a:solidFill>
              </a:rPr>
              <a:t>Contrôler</a:t>
            </a:r>
          </a:p>
        </p:txBody>
      </p:sp>
      <p:sp>
        <p:nvSpPr>
          <p:cNvPr id="13" name="">
            <a:extLst xmlns:a="http://schemas.openxmlformats.org/drawingml/2006/main">
              <a:ext uri="{FF2B5EF4-FFF2-40B4-BE49-F238E27FC236}">
                <a16:creationId xmlns:a16="http://schemas.microsoft.com/office/drawing/2014/main" id="{CB4108D4-0E5A-4334-BAD9-C35D388C3FAD}"/>
              </a:ext>
            </a:extLst>
          </p:cNvPr>
          <p:cNvSpPr>
            <a:spLocks xmlns:a="http://schemas.openxmlformats.org/drawingml/2006/main" noGrp="1"/>
          </p:cNvSpPr>
          <p:nvPr/>
        </p:nvSpPr>
        <p:spPr>
          <a:xfrm xmlns:a="http://schemas.openxmlformats.org/drawingml/2006/main">
            <a:off x="5124450" y="22288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colonnes, horodatages et pas de temps</a:t>
            </a:r>
          </a:p>
        </p:txBody>
      </p:sp>
      <p:sp>
        <p:nvSpPr>
          <p:cNvPr id="14" name="">
            <a:extLst xmlns:a="http://schemas.openxmlformats.org/drawingml/2006/main">
              <a:ext uri="{FF2B5EF4-FFF2-40B4-BE49-F238E27FC236}">
                <a16:creationId xmlns:a16="http://schemas.microsoft.com/office/drawing/2014/main" id="{16273C74-8C61-48F0-AAA7-A38603D46D54}"/>
              </a:ext>
            </a:extLst>
          </p:cNvPr>
          <p:cNvSpPr>
            <a:spLocks xmlns:a="http://schemas.openxmlformats.org/drawingml/2006/main" noGrp="1"/>
          </p:cNvSpPr>
          <p:nvPr/>
        </p:nvSpPr>
        <p:spPr>
          <a:xfrm xmlns:a="http://schemas.openxmlformats.org/drawingml/2006/main">
            <a:off x="8267700" y="1638300"/>
            <a:ext cx="3429000" cy="1219200"/>
          </a:xfrm>
          <a:prstGeom xmlns:a="http://schemas.openxmlformats.org/drawingml/2006/main" prst="rect">
            <a:avLst/>
          </a:prstGeom>
          <a:solidFill xmlns:a="http://schemas.openxmlformats.org/drawingml/2006/main">
            <a:srgbClr val="F3F6FA"/>
          </a:solidFill>
          <a:ln xmlns:a="http://schemas.openxmlformats.org/drawingml/2006/main" w="9525">
            <a:solidFill>
              <a:srgbClr val="D3D7DE"/>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4CB57B42-D096-41AE-8511-BC3D172B6588}"/>
              </a:ext>
            </a:extLst>
          </p:cNvPr>
          <p:cNvSpPr>
            <a:spLocks xmlns:a="http://schemas.openxmlformats.org/drawingml/2006/main" noGrp="1"/>
          </p:cNvSpPr>
          <p:nvPr/>
        </p:nvSpPr>
        <p:spPr>
          <a:xfrm xmlns:a="http://schemas.openxmlformats.org/drawingml/2006/main">
            <a:off x="8439150" y="18097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2550" b="1">
                <a:solidFill>
                  <a:srgbClr val="0B4F7A"/>
                </a:solidFill>
              </a:rPr>
              <a:t>3</a:t>
            </a:r>
          </a:p>
        </p:txBody>
      </p:sp>
      <p:sp>
        <p:nvSpPr>
          <p:cNvPr id="16" name="">
            <a:extLst xmlns:a="http://schemas.openxmlformats.org/drawingml/2006/main">
              <a:ext uri="{FF2B5EF4-FFF2-40B4-BE49-F238E27FC236}">
                <a16:creationId xmlns:a16="http://schemas.microsoft.com/office/drawing/2014/main" id="{67CD56B3-7561-4B82-AA2C-49CD283C75A4}"/>
              </a:ext>
            </a:extLst>
          </p:cNvPr>
          <p:cNvSpPr>
            <a:spLocks xmlns:a="http://schemas.openxmlformats.org/drawingml/2006/main" noGrp="1"/>
          </p:cNvSpPr>
          <p:nvPr/>
        </p:nvSpPr>
        <p:spPr>
          <a:xfrm xmlns:a="http://schemas.openxmlformats.org/drawingml/2006/main">
            <a:off x="9010650" y="18478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172A"/>
                </a:solidFill>
              </a:defRPr>
            </a:pPr>
            <a:r>
              <a:rPr sz="1800" b="1">
                <a:solidFill>
                  <a:srgbClr val="0F172A"/>
                </a:solidFill>
              </a:rPr>
              <a:t>Visualiser</a:t>
            </a:r>
          </a:p>
        </p:txBody>
      </p:sp>
      <p:sp>
        <p:nvSpPr>
          <p:cNvPr id="17" name="">
            <a:extLst xmlns:a="http://schemas.openxmlformats.org/drawingml/2006/main">
              <a:ext uri="{FF2B5EF4-FFF2-40B4-BE49-F238E27FC236}">
                <a16:creationId xmlns:a16="http://schemas.microsoft.com/office/drawing/2014/main" id="{8FE1D0CD-BD63-4512-A258-29E47A5BC229}"/>
              </a:ext>
            </a:extLst>
          </p:cNvPr>
          <p:cNvSpPr>
            <a:spLocks xmlns:a="http://schemas.openxmlformats.org/drawingml/2006/main" noGrp="1"/>
          </p:cNvSpPr>
          <p:nvPr/>
        </p:nvSpPr>
        <p:spPr>
          <a:xfrm xmlns:a="http://schemas.openxmlformats.org/drawingml/2006/main">
            <a:off x="9010650" y="22288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profil journalier du signal IceTag</a:t>
            </a:r>
          </a:p>
        </p:txBody>
      </p:sp>
      <p:sp>
        <p:nvSpPr>
          <p:cNvPr id="18" name="">
            <a:extLst xmlns:a="http://schemas.openxmlformats.org/drawingml/2006/main">
              <a:ext uri="{FF2B5EF4-FFF2-40B4-BE49-F238E27FC236}">
                <a16:creationId xmlns:a16="http://schemas.microsoft.com/office/drawing/2014/main" id="{E338F2CA-8B7F-4DB3-9D53-F6EA9FE2349E}"/>
              </a:ext>
            </a:extLst>
          </p:cNvPr>
          <p:cNvSpPr>
            <a:spLocks xmlns:a="http://schemas.openxmlformats.org/drawingml/2006/main" noGrp="1"/>
          </p:cNvSpPr>
          <p:nvPr/>
        </p:nvSpPr>
        <p:spPr>
          <a:xfrm xmlns:a="http://schemas.openxmlformats.org/drawingml/2006/main">
            <a:off x="495300" y="3124200"/>
            <a:ext cx="3429000" cy="1219200"/>
          </a:xfrm>
          <a:prstGeom xmlns:a="http://schemas.openxmlformats.org/drawingml/2006/main" prst="rect">
            <a:avLst/>
          </a:prstGeom>
          <a:solidFill xmlns:a="http://schemas.openxmlformats.org/drawingml/2006/main">
            <a:srgbClr val="F3F6FA"/>
          </a:solidFill>
          <a:ln xmlns:a="http://schemas.openxmlformats.org/drawingml/2006/main" w="9525">
            <a:solidFill>
              <a:srgbClr val="D3D7DE"/>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4449946C-4815-4D49-A549-60149AC12311}"/>
              </a:ext>
            </a:extLst>
          </p:cNvPr>
          <p:cNvSpPr>
            <a:spLocks xmlns:a="http://schemas.openxmlformats.org/drawingml/2006/main" noGrp="1"/>
          </p:cNvSpPr>
          <p:nvPr/>
        </p:nvSpPr>
        <p:spPr>
          <a:xfrm xmlns:a="http://schemas.openxmlformats.org/drawingml/2006/main">
            <a:off x="666750" y="32956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2550" b="1">
                <a:solidFill>
                  <a:srgbClr val="0B4F7A"/>
                </a:solidFill>
              </a:rPr>
              <a:t>4</a:t>
            </a:r>
          </a:p>
        </p:txBody>
      </p:sp>
      <p:sp>
        <p:nvSpPr>
          <p:cNvPr id="20" name="">
            <a:extLst xmlns:a="http://schemas.openxmlformats.org/drawingml/2006/main">
              <a:ext uri="{FF2B5EF4-FFF2-40B4-BE49-F238E27FC236}">
                <a16:creationId xmlns:a16="http://schemas.microsoft.com/office/drawing/2014/main" id="{EAE9B3B3-2E54-4D76-B5F3-E096AB9C2C64}"/>
              </a:ext>
            </a:extLst>
          </p:cNvPr>
          <p:cNvSpPr>
            <a:spLocks xmlns:a="http://schemas.openxmlformats.org/drawingml/2006/main" noGrp="1"/>
          </p:cNvSpPr>
          <p:nvPr/>
        </p:nvSpPr>
        <p:spPr>
          <a:xfrm xmlns:a="http://schemas.openxmlformats.org/drawingml/2006/main">
            <a:off x="1238250" y="33337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172A"/>
                </a:solidFill>
              </a:defRPr>
            </a:pPr>
            <a:r>
              <a:rPr sz="1800" b="1">
                <a:solidFill>
                  <a:srgbClr val="0F172A"/>
                </a:solidFill>
              </a:rPr>
              <a:t>Exécuter</a:t>
            </a:r>
          </a:p>
        </p:txBody>
      </p:sp>
      <p:sp>
        <p:nvSpPr>
          <p:cNvPr id="21" name="">
            <a:extLst xmlns:a="http://schemas.openxmlformats.org/drawingml/2006/main">
              <a:ext uri="{FF2B5EF4-FFF2-40B4-BE49-F238E27FC236}">
                <a16:creationId xmlns:a16="http://schemas.microsoft.com/office/drawing/2014/main" id="{5C4E17B1-4C6E-464A-B0E6-CC98E505248D}"/>
              </a:ext>
            </a:extLst>
          </p:cNvPr>
          <p:cNvSpPr>
            <a:spLocks xmlns:a="http://schemas.openxmlformats.org/drawingml/2006/main" noGrp="1"/>
          </p:cNvSpPr>
          <p:nvPr/>
        </p:nvSpPr>
        <p:spPr>
          <a:xfrm xmlns:a="http://schemas.openxmlformats.org/drawingml/2006/main">
            <a:off x="1238250" y="37147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pipeline réelle sur la vache de démonstration</a:t>
            </a:r>
          </a:p>
        </p:txBody>
      </p:sp>
      <p:sp>
        <p:nvSpPr>
          <p:cNvPr id="22" name="">
            <a:extLst xmlns:a="http://schemas.openxmlformats.org/drawingml/2006/main">
              <a:ext uri="{FF2B5EF4-FFF2-40B4-BE49-F238E27FC236}">
                <a16:creationId xmlns:a16="http://schemas.microsoft.com/office/drawing/2014/main" id="{719BEC00-31D5-462C-B777-49F607FD1349}"/>
              </a:ext>
            </a:extLst>
          </p:cNvPr>
          <p:cNvSpPr>
            <a:spLocks xmlns:a="http://schemas.openxmlformats.org/drawingml/2006/main" noGrp="1"/>
          </p:cNvSpPr>
          <p:nvPr/>
        </p:nvSpPr>
        <p:spPr>
          <a:xfrm xmlns:a="http://schemas.openxmlformats.org/drawingml/2006/main">
            <a:off x="4381500" y="3124200"/>
            <a:ext cx="3429000" cy="121920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E8B68B83-3502-40C6-A06A-550D7A467943}"/>
              </a:ext>
            </a:extLst>
          </p:cNvPr>
          <p:cNvSpPr>
            <a:spLocks xmlns:a="http://schemas.openxmlformats.org/drawingml/2006/main" noGrp="1"/>
          </p:cNvSpPr>
          <p:nvPr/>
        </p:nvSpPr>
        <p:spPr>
          <a:xfrm xmlns:a="http://schemas.openxmlformats.org/drawingml/2006/main">
            <a:off x="4552950" y="32956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2550" b="1">
                <a:solidFill>
                  <a:srgbClr val="0B4F7A"/>
                </a:solidFill>
              </a:rPr>
              <a:t>5</a:t>
            </a:r>
          </a:p>
        </p:txBody>
      </p:sp>
      <p:sp>
        <p:nvSpPr>
          <p:cNvPr id="24" name="">
            <a:extLst xmlns:a="http://schemas.openxmlformats.org/drawingml/2006/main">
              <a:ext uri="{FF2B5EF4-FFF2-40B4-BE49-F238E27FC236}">
                <a16:creationId xmlns:a16="http://schemas.microsoft.com/office/drawing/2014/main" id="{A7BF3B33-7AE0-4365-B2A5-3A64442B8BD8}"/>
              </a:ext>
            </a:extLst>
          </p:cNvPr>
          <p:cNvSpPr>
            <a:spLocks xmlns:a="http://schemas.openxmlformats.org/drawingml/2006/main" noGrp="1"/>
          </p:cNvSpPr>
          <p:nvPr/>
        </p:nvSpPr>
        <p:spPr>
          <a:xfrm xmlns:a="http://schemas.openxmlformats.org/drawingml/2006/main">
            <a:off x="5124450" y="33337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172A"/>
                </a:solidFill>
              </a:defRPr>
            </a:pPr>
            <a:r>
              <a:rPr sz="1800" b="1">
                <a:solidFill>
                  <a:srgbClr val="0F172A"/>
                </a:solidFill>
              </a:rPr>
              <a:t>Comparer</a:t>
            </a:r>
          </a:p>
        </p:txBody>
      </p:sp>
      <p:sp>
        <p:nvSpPr>
          <p:cNvPr id="25" name="">
            <a:extLst xmlns:a="http://schemas.openxmlformats.org/drawingml/2006/main">
              <a:ext uri="{FF2B5EF4-FFF2-40B4-BE49-F238E27FC236}">
                <a16:creationId xmlns:a16="http://schemas.microsoft.com/office/drawing/2014/main" id="{F0DDB297-71F9-4D5A-8EB5-331E80CD909B}"/>
              </a:ext>
            </a:extLst>
          </p:cNvPr>
          <p:cNvSpPr>
            <a:spLocks xmlns:a="http://schemas.openxmlformats.org/drawingml/2006/main" noGrp="1"/>
          </p:cNvSpPr>
          <p:nvPr/>
        </p:nvSpPr>
        <p:spPr>
          <a:xfrm xmlns:a="http://schemas.openxmlformats.org/drawingml/2006/main">
            <a:off x="5124450" y="37147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saisons, THI et comportements</a:t>
            </a:r>
          </a:p>
        </p:txBody>
      </p:sp>
      <p:sp>
        <p:nvSpPr>
          <p:cNvPr id="26" name="">
            <a:extLst xmlns:a="http://schemas.openxmlformats.org/drawingml/2006/main">
              <a:ext uri="{FF2B5EF4-FFF2-40B4-BE49-F238E27FC236}">
                <a16:creationId xmlns:a16="http://schemas.microsoft.com/office/drawing/2014/main" id="{9868BAB2-75A5-4BD8-9848-F9140F0C2B0A}"/>
              </a:ext>
            </a:extLst>
          </p:cNvPr>
          <p:cNvSpPr>
            <a:spLocks xmlns:a="http://schemas.openxmlformats.org/drawingml/2006/main" noGrp="1"/>
          </p:cNvSpPr>
          <p:nvPr/>
        </p:nvSpPr>
        <p:spPr>
          <a:xfrm xmlns:a="http://schemas.openxmlformats.org/drawingml/2006/main">
            <a:off x="8267700" y="3124200"/>
            <a:ext cx="3429000" cy="121920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50BF7E6F-2F21-4832-8097-B6B611E05AC9}"/>
              </a:ext>
            </a:extLst>
          </p:cNvPr>
          <p:cNvSpPr>
            <a:spLocks xmlns:a="http://schemas.openxmlformats.org/drawingml/2006/main" noGrp="1"/>
          </p:cNvSpPr>
          <p:nvPr/>
        </p:nvSpPr>
        <p:spPr>
          <a:xfrm xmlns:a="http://schemas.openxmlformats.org/drawingml/2006/main">
            <a:off x="8439150" y="32956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2550" b="1">
                <a:solidFill>
                  <a:srgbClr val="0B4F7A"/>
                </a:solidFill>
              </a:rPr>
              <a:t>6</a:t>
            </a:r>
          </a:p>
        </p:txBody>
      </p:sp>
      <p:sp>
        <p:nvSpPr>
          <p:cNvPr id="28" name="">
            <a:extLst xmlns:a="http://schemas.openxmlformats.org/drawingml/2006/main">
              <a:ext uri="{FF2B5EF4-FFF2-40B4-BE49-F238E27FC236}">
                <a16:creationId xmlns:a16="http://schemas.microsoft.com/office/drawing/2014/main" id="{51A3834C-A800-450C-9631-864FCEE797D4}"/>
              </a:ext>
            </a:extLst>
          </p:cNvPr>
          <p:cNvSpPr>
            <a:spLocks xmlns:a="http://schemas.openxmlformats.org/drawingml/2006/main" noGrp="1"/>
          </p:cNvSpPr>
          <p:nvPr/>
        </p:nvSpPr>
        <p:spPr>
          <a:xfrm xmlns:a="http://schemas.openxmlformats.org/drawingml/2006/main">
            <a:off x="9010650" y="33337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172A"/>
                </a:solidFill>
              </a:defRPr>
            </a:pPr>
            <a:r>
              <a:rPr sz="1800" b="1">
                <a:solidFill>
                  <a:srgbClr val="0F172A"/>
                </a:solidFill>
              </a:rPr>
              <a:t>Interpréter</a:t>
            </a:r>
          </a:p>
        </p:txBody>
      </p:sp>
      <p:sp>
        <p:nvSpPr>
          <p:cNvPr id="29" name="">
            <a:extLst xmlns:a="http://schemas.openxmlformats.org/drawingml/2006/main">
              <a:ext uri="{FF2B5EF4-FFF2-40B4-BE49-F238E27FC236}">
                <a16:creationId xmlns:a16="http://schemas.microsoft.com/office/drawing/2014/main" id="{722BE3C2-C454-4B6E-8F24-C26F83D3C0DF}"/>
              </a:ext>
            </a:extLst>
          </p:cNvPr>
          <p:cNvSpPr>
            <a:spLocks xmlns:a="http://schemas.openxmlformats.org/drawingml/2006/main" noGrp="1"/>
          </p:cNvSpPr>
          <p:nvPr/>
        </p:nvSpPr>
        <p:spPr>
          <a:xfrm xmlns:a="http://schemas.openxmlformats.org/drawingml/2006/main">
            <a:off x="9010650" y="37147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alertes, associations et limites</a:t>
            </a:r>
          </a:p>
        </p:txBody>
      </p:sp>
      <p:sp>
        <p:nvSpPr>
          <p:cNvPr id="30" name="">
            <a:extLst xmlns:a="http://schemas.openxmlformats.org/drawingml/2006/main">
              <a:ext uri="{FF2B5EF4-FFF2-40B4-BE49-F238E27FC236}">
                <a16:creationId xmlns:a16="http://schemas.microsoft.com/office/drawing/2014/main" id="{4A7342A9-8919-4B0E-8A23-226DBCD264F0}"/>
              </a:ext>
            </a:extLst>
          </p:cNvPr>
          <p:cNvSpPr>
            <a:spLocks xmlns:a="http://schemas.openxmlformats.org/drawingml/2006/main" noGrp="1"/>
          </p:cNvSpPr>
          <p:nvPr/>
        </p:nvSpPr>
        <p:spPr>
          <a:xfrm xmlns:a="http://schemas.openxmlformats.org/drawingml/2006/main">
            <a:off x="495300" y="51816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475569"/>
                </a:solidFill>
              </a:defRPr>
            </a:pPr>
            <a:r>
              <a:rPr sz="1575" b="0">
                <a:solidFill>
                  <a:srgbClr val="475569"/>
                </a:solidFill>
              </a:rPr>
              <a:t>Le notebook impose l’ordre des contrôles; il n’affiche pas seulement des sorties déjà calculées.</a:t>
            </a:r>
          </a:p>
        </p:txBody>
      </p:sp>
    </p:spTree>
    <p:extLst>
      <p:ext uri="{BB962C8B-B14F-4D97-AF65-F5344CB8AC3E}">
        <p14:creationId xmlns:p14="http://schemas.microsoft.com/office/powerpoint/2010/main" val="92867471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FADD7B1-84BB-48BA-A1A3-08B979D5F6E7}"/>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Prétraitement : une entrée vérifiable</a:t>
            </a:r>
          </a:p>
        </p:txBody>
      </p:sp>
      <p:sp>
        <p:nvSpPr>
          <p:cNvPr id="2" name="">
            <a:extLst xmlns:a="http://schemas.openxmlformats.org/drawingml/2006/main">
              <a:ext uri="{FF2B5EF4-FFF2-40B4-BE49-F238E27FC236}">
                <a16:creationId xmlns:a16="http://schemas.microsoft.com/office/drawing/2014/main" id="{F0F0511A-03AC-474C-B2B1-902E512B693A}"/>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Un échantillon IceTag compact conserve la structure temporelle nécessaire à la démonstration.</a:t>
            </a:r>
          </a:p>
        </p:txBody>
      </p:sp>
      <p:sp>
        <p:nvSpPr>
          <p:cNvPr id="3" name="">
            <a:extLst xmlns:a="http://schemas.openxmlformats.org/drawingml/2006/main">
              <a:ext uri="{FF2B5EF4-FFF2-40B4-BE49-F238E27FC236}">
                <a16:creationId xmlns:a16="http://schemas.microsoft.com/office/drawing/2014/main" id="{F4E2F10A-BC1A-4690-82EB-D10F8774CE74}"/>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A2EA3107-7A94-484F-998D-10B499A718E0}"/>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3</a:t>
            </a:r>
          </a:p>
        </p:txBody>
      </p:sp>
      <p:sp>
        <p:nvSpPr>
          <p:cNvPr id="5" name="">
            <a:extLst xmlns:a="http://schemas.openxmlformats.org/drawingml/2006/main">
              <a:ext uri="{FF2B5EF4-FFF2-40B4-BE49-F238E27FC236}">
                <a16:creationId xmlns:a16="http://schemas.microsoft.com/office/drawing/2014/main" id="{197B7DE1-EE3F-4FED-8799-8FEFF6D90BDF}"/>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6</a:t>
            </a:r>
          </a:p>
        </p:txBody>
      </p:sp>
      <p:sp>
        <p:nvSpPr>
          <p:cNvPr id="6" name="">
            <a:extLst xmlns:a="http://schemas.openxmlformats.org/drawingml/2006/main">
              <a:ext uri="{FF2B5EF4-FFF2-40B4-BE49-F238E27FC236}">
                <a16:creationId xmlns:a16="http://schemas.microsoft.com/office/drawing/2014/main" id="{A550CB05-29BA-483B-995E-438F65294835}"/>
              </a:ext>
            </a:extLst>
          </p:cNvPr>
          <p:cNvSpPr>
            <a:spLocks xmlns:a="http://schemas.openxmlformats.org/drawingml/2006/main" noGrp="1"/>
          </p:cNvSpPr>
          <p:nvPr/>
        </p:nvSpPr>
        <p:spPr>
          <a:xfrm xmlns:a="http://schemas.openxmlformats.org/drawingml/2006/main">
            <a:off x="495300" y="1714500"/>
            <a:ext cx="3429000" cy="238125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B39F587-7118-4474-8CCE-5841CB49FA6B}"/>
              </a:ext>
            </a:extLst>
          </p:cNvPr>
          <p:cNvSpPr>
            <a:spLocks xmlns:a="http://schemas.openxmlformats.org/drawingml/2006/main" noGrp="1"/>
          </p:cNvSpPr>
          <p:nvPr/>
        </p:nvSpPr>
        <p:spPr>
          <a:xfrm xmlns:a="http://schemas.openxmlformats.org/drawingml/2006/main">
            <a:off x="723900" y="20002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0F172A"/>
                </a:solidFill>
              </a:defRPr>
            </a:pPr>
            <a:r>
              <a:rPr sz="1725" b="1">
                <a:solidFill>
                  <a:srgbClr val="0F172A"/>
                </a:solidFill>
              </a:rPr>
              <a:t>8 922 intervalles</a:t>
            </a:r>
          </a:p>
        </p:txBody>
      </p:sp>
      <p:sp>
        <p:nvSpPr>
          <p:cNvPr id="8" name="">
            <a:extLst xmlns:a="http://schemas.openxmlformats.org/drawingml/2006/main">
              <a:ext uri="{FF2B5EF4-FFF2-40B4-BE49-F238E27FC236}">
                <a16:creationId xmlns:a16="http://schemas.microsoft.com/office/drawing/2014/main" id="{857A25D8-EA60-4887-8FC8-85DCE085B244}"/>
              </a:ext>
            </a:extLst>
          </p:cNvPr>
          <p:cNvSpPr>
            <a:spLocks xmlns:a="http://schemas.openxmlformats.org/drawingml/2006/main" noGrp="1"/>
          </p:cNvSpPr>
          <p:nvPr/>
        </p:nvSpPr>
        <p:spPr>
          <a:xfrm xmlns:a="http://schemas.openxmlformats.org/drawingml/2006/main">
            <a:off x="723900" y="2476500"/>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Vache 2062</a:t>
            </a:r>
          </a:p>
          <a:p xmlns:a="http://schemas.openxmlformats.org/drawingml/2006/main">
            <a:pPr algn="l">
              <a:buNone/>
              <a:defRPr sz="1500" b="0">
                <a:solidFill>
                  <a:srgbClr val="475569"/>
                </a:solidFill>
              </a:defRPr>
            </a:pPr>
            <a:r>
              <a:rPr sz="1500" b="0">
                <a:solidFill>
                  <a:srgbClr val="475569"/>
                </a:solidFill>
              </a:rPr>
              <a:t>Été 2019</a:t>
            </a:r>
          </a:p>
          <a:p xmlns:a="http://schemas.openxmlformats.org/drawingml/2006/main">
            <a:pPr algn="l">
              <a:buNone/>
              <a:defRPr sz="1500" b="0">
                <a:solidFill>
                  <a:srgbClr val="475569"/>
                </a:solidFill>
              </a:defRPr>
            </a:pPr>
            <a:r>
              <a:rPr sz="1500" b="0">
                <a:solidFill>
                  <a:srgbClr val="475569"/>
                </a:solidFill>
              </a:rPr>
              <a:t>5 juin au 6 septembre</a:t>
            </a:r>
          </a:p>
        </p:txBody>
      </p:sp>
      <p:sp>
        <p:nvSpPr>
          <p:cNvPr id="9" name="">
            <a:extLst xmlns:a="http://schemas.openxmlformats.org/drawingml/2006/main">
              <a:ext uri="{FF2B5EF4-FFF2-40B4-BE49-F238E27FC236}">
                <a16:creationId xmlns:a16="http://schemas.microsoft.com/office/drawing/2014/main" id="{8F274342-283E-4666-9578-D17D1EE59A2F}"/>
              </a:ext>
            </a:extLst>
          </p:cNvPr>
          <p:cNvSpPr>
            <a:spLocks xmlns:a="http://schemas.openxmlformats.org/drawingml/2006/main" noGrp="1"/>
          </p:cNvSpPr>
          <p:nvPr/>
        </p:nvSpPr>
        <p:spPr>
          <a:xfrm xmlns:a="http://schemas.openxmlformats.org/drawingml/2006/main">
            <a:off x="4352925" y="1714500"/>
            <a:ext cx="3429000" cy="238125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38D15F2-A6E2-4F68-B71A-B35499A5C8B3}"/>
              </a:ext>
            </a:extLst>
          </p:cNvPr>
          <p:cNvSpPr>
            <a:spLocks xmlns:a="http://schemas.openxmlformats.org/drawingml/2006/main" noGrp="1"/>
          </p:cNvSpPr>
          <p:nvPr/>
        </p:nvSpPr>
        <p:spPr>
          <a:xfrm xmlns:a="http://schemas.openxmlformats.org/drawingml/2006/main">
            <a:off x="4581525" y="20002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0F172A"/>
                </a:solidFill>
              </a:defRPr>
            </a:pPr>
            <a:r>
              <a:rPr sz="1725" b="1">
                <a:solidFill>
                  <a:srgbClr val="0F172A"/>
                </a:solidFill>
              </a:rPr>
              <a:t>15 minutes</a:t>
            </a:r>
          </a:p>
        </p:txBody>
      </p:sp>
      <p:sp>
        <p:nvSpPr>
          <p:cNvPr id="11" name="">
            <a:extLst xmlns:a="http://schemas.openxmlformats.org/drawingml/2006/main">
              <a:ext uri="{FF2B5EF4-FFF2-40B4-BE49-F238E27FC236}">
                <a16:creationId xmlns:a16="http://schemas.microsoft.com/office/drawing/2014/main" id="{BD21F608-6BFE-4D6A-981D-8B01A292C0E5}"/>
              </a:ext>
            </a:extLst>
          </p:cNvPr>
          <p:cNvSpPr>
            <a:spLocks xmlns:a="http://schemas.openxmlformats.org/drawingml/2006/main" noGrp="1"/>
          </p:cNvSpPr>
          <p:nvPr/>
        </p:nvSpPr>
        <p:spPr>
          <a:xfrm xmlns:a="http://schemas.openxmlformats.org/drawingml/2006/main">
            <a:off x="4581525" y="2476500"/>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Pas de temps médian</a:t>
            </a:r>
          </a:p>
          <a:p xmlns:a="http://schemas.openxmlformats.org/drawingml/2006/main">
            <a:pPr algn="l">
              <a:buNone/>
              <a:defRPr sz="1500" b="0">
                <a:solidFill>
                  <a:srgbClr val="475569"/>
                </a:solidFill>
              </a:defRPr>
            </a:pPr>
            <a:r>
              <a:rPr sz="1500" b="0">
                <a:solidFill>
                  <a:srgbClr val="475569"/>
                </a:solidFill>
              </a:rPr>
              <a:t>Horodatages triés</a:t>
            </a:r>
          </a:p>
          <a:p xmlns:a="http://schemas.openxmlformats.org/drawingml/2006/main">
            <a:pPr algn="l">
              <a:buNone/>
              <a:defRPr sz="1500" b="0">
                <a:solidFill>
                  <a:srgbClr val="475569"/>
                </a:solidFill>
              </a:defRPr>
            </a:pPr>
            <a:r>
              <a:rPr sz="1500" b="0">
                <a:solidFill>
                  <a:srgbClr val="475569"/>
                </a:solidFill>
              </a:rPr>
              <a:t>Colonnes contrôlées</a:t>
            </a:r>
          </a:p>
        </p:txBody>
      </p:sp>
      <p:sp>
        <p:nvSpPr>
          <p:cNvPr id="12" name="">
            <a:extLst xmlns:a="http://schemas.openxmlformats.org/drawingml/2006/main">
              <a:ext uri="{FF2B5EF4-FFF2-40B4-BE49-F238E27FC236}">
                <a16:creationId xmlns:a16="http://schemas.microsoft.com/office/drawing/2014/main" id="{62D64805-5447-4560-BECD-0A630F950C06}"/>
              </a:ext>
            </a:extLst>
          </p:cNvPr>
          <p:cNvSpPr>
            <a:spLocks xmlns:a="http://schemas.openxmlformats.org/drawingml/2006/main" noGrp="1"/>
          </p:cNvSpPr>
          <p:nvPr/>
        </p:nvSpPr>
        <p:spPr>
          <a:xfrm xmlns:a="http://schemas.openxmlformats.org/drawingml/2006/main">
            <a:off x="8210550" y="1714500"/>
            <a:ext cx="3429000" cy="2381250"/>
          </a:xfrm>
          <a:prstGeom xmlns:a="http://schemas.openxmlformats.org/drawingml/2006/main" prst="rect">
            <a:avLst/>
          </a:prstGeom>
          <a:solidFill xmlns:a="http://schemas.openxmlformats.org/drawingml/2006/main">
            <a:srgbClr val="FFF7ED"/>
          </a:solidFill>
          <a:ln xmlns:a="http://schemas.openxmlformats.org/drawingml/2006/main" w="9525">
            <a:solidFill>
              <a:srgbClr val="D3D7DE"/>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65574BE7-38B0-47F5-8EB5-B4F523D39B4A}"/>
              </a:ext>
            </a:extLst>
          </p:cNvPr>
          <p:cNvSpPr>
            <a:spLocks xmlns:a="http://schemas.openxmlformats.org/drawingml/2006/main" noGrp="1"/>
          </p:cNvSpPr>
          <p:nvPr/>
        </p:nvSpPr>
        <p:spPr>
          <a:xfrm xmlns:a="http://schemas.openxmlformats.org/drawingml/2006/main">
            <a:off x="8439150" y="20002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0F172A"/>
                </a:solidFill>
              </a:defRPr>
            </a:pPr>
            <a:r>
              <a:rPr sz="1725" b="1">
                <a:solidFill>
                  <a:srgbClr val="0F172A"/>
                </a:solidFill>
              </a:rPr>
              <a:t>ID 2062</a:t>
            </a:r>
          </a:p>
        </p:txBody>
      </p:sp>
      <p:sp>
        <p:nvSpPr>
          <p:cNvPr id="14" name="">
            <a:extLst xmlns:a="http://schemas.openxmlformats.org/drawingml/2006/main">
              <a:ext uri="{FF2B5EF4-FFF2-40B4-BE49-F238E27FC236}">
                <a16:creationId xmlns:a16="http://schemas.microsoft.com/office/drawing/2014/main" id="{4F7F88F1-96E0-454D-9CFE-F9AA9984FD72}"/>
              </a:ext>
            </a:extLst>
          </p:cNvPr>
          <p:cNvSpPr>
            <a:spLocks xmlns:a="http://schemas.openxmlformats.org/drawingml/2006/main" noGrp="1"/>
          </p:cNvSpPr>
          <p:nvPr/>
        </p:nvSpPr>
        <p:spPr>
          <a:xfrm xmlns:a="http://schemas.openxmlformats.org/drawingml/2006/main">
            <a:off x="8439150" y="2476500"/>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Identifiant harmonisé</a:t>
            </a:r>
          </a:p>
          <a:p xmlns:a="http://schemas.openxmlformats.org/drawingml/2006/main">
            <a:pPr algn="l">
              <a:buNone/>
              <a:defRPr sz="1500" b="0">
                <a:solidFill>
                  <a:srgbClr val="475569"/>
                </a:solidFill>
              </a:defRPr>
            </a:pPr>
            <a:r>
              <a:rPr sz="1500" b="0">
                <a:solidFill>
                  <a:srgbClr val="475569"/>
                </a:solidFill>
              </a:rPr>
              <a:t>Type chaîne</a:t>
            </a:r>
          </a:p>
          <a:p xmlns:a="http://schemas.openxmlformats.org/drawingml/2006/main">
            <a:pPr algn="l">
              <a:buNone/>
              <a:defRPr sz="1500" b="0">
                <a:solidFill>
                  <a:srgbClr val="475569"/>
                </a:solidFill>
              </a:defRPr>
            </a:pPr>
            <a:r>
              <a:rPr sz="1500" b="0">
                <a:solidFill>
                  <a:srgbClr val="475569"/>
                </a:solidFill>
              </a:rPr>
              <a:t>Échantillon reproductible</a:t>
            </a:r>
          </a:p>
        </p:txBody>
      </p:sp>
      <p:sp>
        <p:nvSpPr>
          <p:cNvPr id="15" name="">
            <a:extLst xmlns:a="http://schemas.openxmlformats.org/drawingml/2006/main">
              <a:ext uri="{FF2B5EF4-FFF2-40B4-BE49-F238E27FC236}">
                <a16:creationId xmlns:a16="http://schemas.microsoft.com/office/drawing/2014/main" id="{6A5F6E50-4471-4202-A796-5A2EC9012B3E}"/>
              </a:ext>
            </a:extLst>
          </p:cNvPr>
          <p:cNvSpPr>
            <a:spLocks xmlns:a="http://schemas.openxmlformats.org/drawingml/2006/main" noGrp="1"/>
          </p:cNvSpPr>
          <p:nvPr/>
        </p:nvSpPr>
        <p:spPr>
          <a:xfrm xmlns:a="http://schemas.openxmlformats.org/drawingml/2006/main">
            <a:off x="495300" y="4781550"/>
            <a:ext cx="11201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4F7A"/>
                </a:solidFill>
              </a:defRPr>
            </a:pPr>
            <a:r>
              <a:rPr sz="1800" b="1">
                <a:solidFill>
                  <a:srgbClr val="0B4F7A"/>
                </a:solidFill>
              </a:rPr>
              <a:t>Lecture : le notebook arrête l’exécution si le schéma ou les sorties attendues ne sont pas conformes.</a:t>
            </a:r>
          </a:p>
        </p:txBody>
      </p:sp>
    </p:spTree>
    <p:extLst>
      <p:ext uri="{BB962C8B-B14F-4D97-AF65-F5344CB8AC3E}">
        <p14:creationId xmlns:p14="http://schemas.microsoft.com/office/powerpoint/2010/main" val="185140373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AB12E8B-1D0C-4D1A-8D0F-0BB9F6E88DCC}"/>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La pipeline est réellement exécutée dans le notebook</a:t>
            </a:r>
          </a:p>
        </p:txBody>
      </p:sp>
      <p:sp>
        <p:nvSpPr>
          <p:cNvPr id="2" name="">
            <a:extLst xmlns:a="http://schemas.openxmlformats.org/drawingml/2006/main">
              <a:ext uri="{FF2B5EF4-FFF2-40B4-BE49-F238E27FC236}">
                <a16:creationId xmlns:a16="http://schemas.microsoft.com/office/drawing/2014/main" id="{55BA3A00-E40B-4E4A-8DC1-34E4767DB678}"/>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L’échantillon de la vache 2062 est traité de bout en bout, puis contrôlé par assertions.</a:t>
            </a:r>
          </a:p>
        </p:txBody>
      </p:sp>
      <p:sp>
        <p:nvSpPr>
          <p:cNvPr id="3" name="">
            <a:extLst xmlns:a="http://schemas.openxmlformats.org/drawingml/2006/main">
              <a:ext uri="{FF2B5EF4-FFF2-40B4-BE49-F238E27FC236}">
                <a16:creationId xmlns:a16="http://schemas.microsoft.com/office/drawing/2014/main" id="{691E55F0-496B-4526-9BB6-27751D50060A}"/>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B0118592-7285-4A70-A6EF-A004D561465E}"/>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3</a:t>
            </a:r>
          </a:p>
        </p:txBody>
      </p:sp>
      <p:sp>
        <p:nvSpPr>
          <p:cNvPr id="5" name="">
            <a:extLst xmlns:a="http://schemas.openxmlformats.org/drawingml/2006/main">
              <a:ext uri="{FF2B5EF4-FFF2-40B4-BE49-F238E27FC236}">
                <a16:creationId xmlns:a16="http://schemas.microsoft.com/office/drawing/2014/main" id="{E042D069-9283-4C92-BE0A-3CF9BDF575E4}"/>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7</a:t>
            </a:r>
          </a:p>
        </p:txBody>
      </p:sp>
      <p:graphicFrame>
        <p:nvGraphicFramePr>
          <p:cNvPr id="25" name="Chart"/>
          <p:cNvGraphicFramePr/>
          <p:nvPr/>
        </p:nvGraphicFramePr>
        <p:xfrm>
          <a:off xmlns:a="http://schemas.openxmlformats.org/drawingml/2006/main" x="495300" y="1466850"/>
          <a:ext xmlns:a="http://schemas.openxmlformats.org/drawingml/2006/main" cx="6429375" cy="3905250"/>
        </p:xfrm>
        <a:graphic xmlns:a="http://schemas.openxmlformats.org/drawingml/2006/main">
          <a:graphicData uri="http://schemas.openxmlformats.org/drawingml/2006/chart">
            <c:chart xmlns:r="http://schemas.openxmlformats.org/officeDocument/2006/relationships" xmlns:c="http://schemas.openxmlformats.org/drawingml/2006/chart" r:id="Re3e57aa1f82a4ac2"/>
          </a:graphicData>
        </a:graphic>
      </p:graphicFrame>
      <p:sp>
        <p:nvSpPr>
          <p:cNvPr id="7" name="">
            <a:extLst xmlns:a="http://schemas.openxmlformats.org/drawingml/2006/main">
              <a:ext uri="{FF2B5EF4-FFF2-40B4-BE49-F238E27FC236}">
                <a16:creationId xmlns:a16="http://schemas.microsoft.com/office/drawing/2014/main" id="{1B6F150C-0879-4275-8BAD-7038962B4E81}"/>
              </a:ext>
            </a:extLst>
          </p:cNvPr>
          <p:cNvSpPr>
            <a:spLocks xmlns:a="http://schemas.openxmlformats.org/drawingml/2006/main" noGrp="1"/>
          </p:cNvSpPr>
          <p:nvPr/>
        </p:nvSpPr>
        <p:spPr>
          <a:xfrm xmlns:a="http://schemas.openxmlformats.org/drawingml/2006/main">
            <a:off x="7429500" y="1524000"/>
            <a:ext cx="3905250"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4477FE9-51A8-43A5-AE32-AC79B19DA156}"/>
              </a:ext>
            </a:extLst>
          </p:cNvPr>
          <p:cNvSpPr>
            <a:spLocks xmlns:a="http://schemas.openxmlformats.org/drawingml/2006/main" noGrp="1"/>
          </p:cNvSpPr>
          <p:nvPr/>
        </p:nvSpPr>
        <p:spPr>
          <a:xfrm xmlns:a="http://schemas.openxmlformats.org/drawingml/2006/main">
            <a:off x="7658100" y="1714500"/>
            <a:ext cx="3448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B4F7A"/>
                </a:solidFill>
              </a:defRPr>
            </a:pPr>
            <a:r>
              <a:rPr sz="2700" b="1">
                <a:solidFill>
                  <a:srgbClr val="0B4F7A"/>
                </a:solidFill>
              </a:rPr>
              <a:t>582</a:t>
            </a:r>
          </a:p>
        </p:txBody>
      </p:sp>
      <p:sp>
        <p:nvSpPr>
          <p:cNvPr id="9" name="">
            <a:extLst xmlns:a="http://schemas.openxmlformats.org/drawingml/2006/main">
              <a:ext uri="{FF2B5EF4-FFF2-40B4-BE49-F238E27FC236}">
                <a16:creationId xmlns:a16="http://schemas.microsoft.com/office/drawing/2014/main" id="{8D9D14C3-C7B0-4DCB-BDA5-47A9B89472F0}"/>
              </a:ext>
            </a:extLst>
          </p:cNvPr>
          <p:cNvSpPr>
            <a:spLocks xmlns:a="http://schemas.openxmlformats.org/drawingml/2006/main" noGrp="1"/>
          </p:cNvSpPr>
          <p:nvPr/>
        </p:nvSpPr>
        <p:spPr>
          <a:xfrm xmlns:a="http://schemas.openxmlformats.org/drawingml/2006/main">
            <a:off x="7658100" y="2266950"/>
            <a:ext cx="3448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0F172A"/>
                </a:solidFill>
              </a:defRPr>
            </a:pPr>
            <a:r>
              <a:rPr sz="1500" b="1">
                <a:solidFill>
                  <a:srgbClr val="0F172A"/>
                </a:solidFill>
              </a:rPr>
              <a:t>Points atypiques IF</a:t>
            </a:r>
          </a:p>
        </p:txBody>
      </p:sp>
      <p:sp>
        <p:nvSpPr>
          <p:cNvPr id="10" name="">
            <a:extLst xmlns:a="http://schemas.openxmlformats.org/drawingml/2006/main">
              <a:ext uri="{FF2B5EF4-FFF2-40B4-BE49-F238E27FC236}">
                <a16:creationId xmlns:a16="http://schemas.microsoft.com/office/drawing/2014/main" id="{03314D16-F850-4875-80E3-308B92A4A8D3}"/>
              </a:ext>
            </a:extLst>
          </p:cNvPr>
          <p:cNvSpPr>
            <a:spLocks xmlns:a="http://schemas.openxmlformats.org/drawingml/2006/main" noGrp="1"/>
          </p:cNvSpPr>
          <p:nvPr/>
        </p:nvSpPr>
        <p:spPr>
          <a:xfrm xmlns:a="http://schemas.openxmlformats.org/drawingml/2006/main">
            <a:off x="7658100" y="260985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Candidats produits avant les règles de persistance.</a:t>
            </a:r>
          </a:p>
        </p:txBody>
      </p:sp>
      <p:sp>
        <p:nvSpPr>
          <p:cNvPr id="11" name="">
            <a:extLst xmlns:a="http://schemas.openxmlformats.org/drawingml/2006/main">
              <a:ext uri="{FF2B5EF4-FFF2-40B4-BE49-F238E27FC236}">
                <a16:creationId xmlns:a16="http://schemas.microsoft.com/office/drawing/2014/main" id="{40EEE909-9F10-4AD0-A587-E9E8AD8F7580}"/>
              </a:ext>
            </a:extLst>
          </p:cNvPr>
          <p:cNvSpPr>
            <a:spLocks xmlns:a="http://schemas.openxmlformats.org/drawingml/2006/main" noGrp="1"/>
          </p:cNvSpPr>
          <p:nvPr/>
        </p:nvSpPr>
        <p:spPr>
          <a:xfrm xmlns:a="http://schemas.openxmlformats.org/drawingml/2006/main">
            <a:off x="7429500" y="3295650"/>
            <a:ext cx="3905250"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8204B57-61D6-45BD-BA6C-8F300AB1B591}"/>
              </a:ext>
            </a:extLst>
          </p:cNvPr>
          <p:cNvSpPr>
            <a:spLocks xmlns:a="http://schemas.openxmlformats.org/drawingml/2006/main" noGrp="1"/>
          </p:cNvSpPr>
          <p:nvPr/>
        </p:nvSpPr>
        <p:spPr>
          <a:xfrm xmlns:a="http://schemas.openxmlformats.org/drawingml/2006/main">
            <a:off x="7658100" y="3486150"/>
            <a:ext cx="3448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B4F7A"/>
                </a:solidFill>
              </a:defRPr>
            </a:pPr>
            <a:r>
              <a:rPr sz="2700" b="1">
                <a:solidFill>
                  <a:srgbClr val="0B4F7A"/>
                </a:solidFill>
              </a:rPr>
              <a:t>17</a:t>
            </a:r>
          </a:p>
        </p:txBody>
      </p:sp>
      <p:sp>
        <p:nvSpPr>
          <p:cNvPr id="13" name="">
            <a:extLst xmlns:a="http://schemas.openxmlformats.org/drawingml/2006/main">
              <a:ext uri="{FF2B5EF4-FFF2-40B4-BE49-F238E27FC236}">
                <a16:creationId xmlns:a16="http://schemas.microsoft.com/office/drawing/2014/main" id="{62AE9CCC-6042-4B02-91B0-9BE029065538}"/>
              </a:ext>
            </a:extLst>
          </p:cNvPr>
          <p:cNvSpPr>
            <a:spLocks xmlns:a="http://schemas.openxmlformats.org/drawingml/2006/main" noGrp="1"/>
          </p:cNvSpPr>
          <p:nvPr/>
        </p:nvSpPr>
        <p:spPr>
          <a:xfrm xmlns:a="http://schemas.openxmlformats.org/drawingml/2006/main">
            <a:off x="7658100" y="4038600"/>
            <a:ext cx="3448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0F172A"/>
                </a:solidFill>
              </a:defRPr>
            </a:pPr>
            <a:r>
              <a:rPr sz="1500" b="1">
                <a:solidFill>
                  <a:srgbClr val="0F172A"/>
                </a:solidFill>
              </a:rPr>
              <a:t>Alertes brutes</a:t>
            </a:r>
          </a:p>
        </p:txBody>
      </p:sp>
      <p:sp>
        <p:nvSpPr>
          <p:cNvPr id="14" name="">
            <a:extLst xmlns:a="http://schemas.openxmlformats.org/drawingml/2006/main">
              <a:ext uri="{FF2B5EF4-FFF2-40B4-BE49-F238E27FC236}">
                <a16:creationId xmlns:a16="http://schemas.microsoft.com/office/drawing/2014/main" id="{EE153667-91CB-4DA5-89C1-C69B0CE30A18}"/>
              </a:ext>
            </a:extLst>
          </p:cNvPr>
          <p:cNvSpPr>
            <a:spLocks xmlns:a="http://schemas.openxmlformats.org/drawingml/2006/main" noGrp="1"/>
          </p:cNvSpPr>
          <p:nvPr/>
        </p:nvSpPr>
        <p:spPr>
          <a:xfrm xmlns:a="http://schemas.openxmlformats.org/drawingml/2006/main">
            <a:off x="7658100" y="438150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Après seuils et règles métier sur la vache de démonstration.</a:t>
            </a:r>
          </a:p>
        </p:txBody>
      </p:sp>
      <p:sp>
        <p:nvSpPr>
          <p:cNvPr id="18" name="">
            <a:extLst xmlns:a="http://schemas.openxmlformats.org/drawingml/2006/main">
              <a:ext uri="{FF2B5EF4-FFF2-40B4-BE49-F238E27FC236}">
                <a16:creationId xmlns:a16="http://schemas.microsoft.com/office/drawing/2014/main" id="{867416D0-6A9B-4604-9E10-6C9853F07934}"/>
              </a:ext>
            </a:extLst>
          </p:cNvPr>
          <p:cNvSpPr>
            <a:spLocks xmlns:a="http://schemas.openxmlformats.org/drawingml/2006/main" noGrp="1"/>
          </p:cNvSpPr>
          <p:nvPr/>
        </p:nvSpPr>
        <p:spPr>
          <a:xfrm xmlns:a="http://schemas.openxmlformats.org/drawingml/2006/main">
            <a:off x="495300" y="1466850"/>
            <a:ext cx="6429375" cy="39052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877812f2f2a4506"/>
          <a:stretch xmlns:a="http://schemas.openxmlformats.org/drawingml/2006/main"/>
        </p:blipFill>
        <p:spPr>
          <a:xfrm xmlns:a="http://schemas.openxmlformats.org/drawingml/2006/main">
            <a:off x="495300" y="2037159"/>
            <a:ext cx="6429375" cy="2764631"/>
          </a:xfrm>
          <a:prstGeom xmlns:a="http://schemas.openxmlformats.org/drawingml/2006/main" prst="rect">
            <a:avLst/>
          </a:prstGeom>
        </p:spPr>
      </p:pic>
    </p:spTree>
    <p:extLst>
      <p:ext uri="{BB962C8B-B14F-4D97-AF65-F5344CB8AC3E}">
        <p14:creationId xmlns:p14="http://schemas.microsoft.com/office/powerpoint/2010/main" val="75102690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99B8FBF-1D12-49CE-8DAB-1544821866F0}"/>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Alertes requalifiées par contexte</a:t>
            </a:r>
          </a:p>
        </p:txBody>
      </p:sp>
      <p:sp>
        <p:nvSpPr>
          <p:cNvPr id="2" name="">
            <a:extLst xmlns:a="http://schemas.openxmlformats.org/drawingml/2006/main">
              <a:ext uri="{FF2B5EF4-FFF2-40B4-BE49-F238E27FC236}">
                <a16:creationId xmlns:a16="http://schemas.microsoft.com/office/drawing/2014/main" id="{1805AFF8-430C-466C-86F8-28D53DBB4A1A}"/>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La vue multi-saisons sépare les priorités individuelles des épisodes collectifs.</a:t>
            </a:r>
          </a:p>
        </p:txBody>
      </p:sp>
      <p:sp>
        <p:nvSpPr>
          <p:cNvPr id="3" name="">
            <a:extLst xmlns:a="http://schemas.openxmlformats.org/drawingml/2006/main">
              <a:ext uri="{FF2B5EF4-FFF2-40B4-BE49-F238E27FC236}">
                <a16:creationId xmlns:a16="http://schemas.microsoft.com/office/drawing/2014/main" id="{F39DCC71-ABE6-43F1-90F3-B0668D632938}"/>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E0CE3AD7-04DA-4FDC-A03D-F21FE7ABF816}"/>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3</a:t>
            </a:r>
          </a:p>
        </p:txBody>
      </p:sp>
      <p:sp>
        <p:nvSpPr>
          <p:cNvPr id="5" name="">
            <a:extLst xmlns:a="http://schemas.openxmlformats.org/drawingml/2006/main">
              <a:ext uri="{FF2B5EF4-FFF2-40B4-BE49-F238E27FC236}">
                <a16:creationId xmlns:a16="http://schemas.microsoft.com/office/drawing/2014/main" id="{1C6E0954-F757-424A-A6BC-E9EC72A0BC49}"/>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8</a:t>
            </a:r>
          </a:p>
        </p:txBody>
      </p:sp>
      <p:sp>
        <p:nvSpPr>
          <p:cNvPr id="6" name="">
            <a:extLst xmlns:a="http://schemas.openxmlformats.org/drawingml/2006/main">
              <a:ext uri="{FF2B5EF4-FFF2-40B4-BE49-F238E27FC236}">
                <a16:creationId xmlns:a16="http://schemas.microsoft.com/office/drawing/2014/main" id="{50444E8E-D6E4-47C0-B985-DF1312D7BAD7}"/>
              </a:ext>
            </a:extLst>
          </p:cNvPr>
          <p:cNvSpPr>
            <a:spLocks xmlns:a="http://schemas.openxmlformats.org/drawingml/2006/main" noGrp="1"/>
          </p:cNvSpPr>
          <p:nvPr/>
        </p:nvSpPr>
        <p:spPr>
          <a:xfrm xmlns:a="http://schemas.openxmlformats.org/drawingml/2006/main">
            <a:off x="495300" y="1619250"/>
            <a:ext cx="3429000" cy="2190750"/>
          </a:xfrm>
          <a:prstGeom xmlns:a="http://schemas.openxmlformats.org/drawingml/2006/main" prst="rect">
            <a:avLst/>
          </a:prstGeom>
          <a:solidFill xmlns:a="http://schemas.openxmlformats.org/drawingml/2006/main">
            <a:srgbClr val="F2F4F7"/>
          </a:solidFill>
          <a:ln xmlns:a="http://schemas.openxmlformats.org/drawingml/2006/main" w="9525">
            <a:solidFill>
              <a:srgbClr val="D3D7DE"/>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BFF00988-95B1-4047-A24E-ED8EE737C19E}"/>
              </a:ext>
            </a:extLst>
          </p:cNvPr>
          <p:cNvSpPr>
            <a:spLocks xmlns:a="http://schemas.openxmlformats.org/drawingml/2006/main" noGrp="1"/>
          </p:cNvSpPr>
          <p:nvPr/>
        </p:nvSpPr>
        <p:spPr>
          <a:xfrm xmlns:a="http://schemas.openxmlformats.org/drawingml/2006/main">
            <a:off x="723900" y="1885950"/>
            <a:ext cx="2971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4F7A"/>
                </a:solidFill>
              </a:defRPr>
            </a:pPr>
            <a:r>
              <a:rPr sz="3150" b="1">
                <a:solidFill>
                  <a:srgbClr val="0B4F7A"/>
                </a:solidFill>
              </a:rPr>
              <a:t>37</a:t>
            </a:r>
          </a:p>
        </p:txBody>
      </p:sp>
      <p:sp>
        <p:nvSpPr>
          <p:cNvPr id="8" name="">
            <a:extLst xmlns:a="http://schemas.openxmlformats.org/drawingml/2006/main">
              <a:ext uri="{FF2B5EF4-FFF2-40B4-BE49-F238E27FC236}">
                <a16:creationId xmlns:a16="http://schemas.microsoft.com/office/drawing/2014/main" id="{BF9D9E7C-8D0D-4F21-A6C1-A07A11FF1276}"/>
              </a:ext>
            </a:extLst>
          </p:cNvPr>
          <p:cNvSpPr>
            <a:spLocks xmlns:a="http://schemas.openxmlformats.org/drawingml/2006/main" noGrp="1"/>
          </p:cNvSpPr>
          <p:nvPr/>
        </p:nvSpPr>
        <p:spPr>
          <a:xfrm xmlns:a="http://schemas.openxmlformats.org/drawingml/2006/main">
            <a:off x="723900" y="2514600"/>
            <a:ext cx="297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A prioritaires</a:t>
            </a:r>
          </a:p>
        </p:txBody>
      </p:sp>
      <p:sp>
        <p:nvSpPr>
          <p:cNvPr id="9" name="">
            <a:extLst xmlns:a="http://schemas.openxmlformats.org/drawingml/2006/main">
              <a:ext uri="{FF2B5EF4-FFF2-40B4-BE49-F238E27FC236}">
                <a16:creationId xmlns:a16="http://schemas.microsoft.com/office/drawing/2014/main" id="{BECB08CA-FC1B-4EED-B918-9E3AAF55101B}"/>
              </a:ext>
            </a:extLst>
          </p:cNvPr>
          <p:cNvSpPr>
            <a:spLocks xmlns:a="http://schemas.openxmlformats.org/drawingml/2006/main" noGrp="1"/>
          </p:cNvSpPr>
          <p:nvPr/>
        </p:nvSpPr>
        <p:spPr>
          <a:xfrm xmlns:a="http://schemas.openxmlformats.org/drawingml/2006/main">
            <a:off x="723900" y="2895600"/>
            <a:ext cx="297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Signaux individuels à examiner en premier.</a:t>
            </a:r>
          </a:p>
        </p:txBody>
      </p:sp>
      <p:sp>
        <p:nvSpPr>
          <p:cNvPr id="10" name="">
            <a:extLst xmlns:a="http://schemas.openxmlformats.org/drawingml/2006/main">
              <a:ext uri="{FF2B5EF4-FFF2-40B4-BE49-F238E27FC236}">
                <a16:creationId xmlns:a16="http://schemas.microsoft.com/office/drawing/2014/main" id="{EE0F11F0-ED5C-490D-9CEF-C7D2524BFDC2}"/>
              </a:ext>
            </a:extLst>
          </p:cNvPr>
          <p:cNvSpPr>
            <a:spLocks xmlns:a="http://schemas.openxmlformats.org/drawingml/2006/main" noGrp="1"/>
          </p:cNvSpPr>
          <p:nvPr/>
        </p:nvSpPr>
        <p:spPr>
          <a:xfrm xmlns:a="http://schemas.openxmlformats.org/drawingml/2006/main">
            <a:off x="4381500" y="1619250"/>
            <a:ext cx="3429000" cy="219075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9A4DD6FB-D7B9-498B-9293-A5C8A2809395}"/>
              </a:ext>
            </a:extLst>
          </p:cNvPr>
          <p:cNvSpPr>
            <a:spLocks xmlns:a="http://schemas.openxmlformats.org/drawingml/2006/main" noGrp="1"/>
          </p:cNvSpPr>
          <p:nvPr/>
        </p:nvSpPr>
        <p:spPr>
          <a:xfrm xmlns:a="http://schemas.openxmlformats.org/drawingml/2006/main">
            <a:off x="4610100" y="1885950"/>
            <a:ext cx="2971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4F7A"/>
                </a:solidFill>
              </a:defRPr>
            </a:pPr>
            <a:r>
              <a:rPr sz="3150" b="1">
                <a:solidFill>
                  <a:srgbClr val="0B4F7A"/>
                </a:solidFill>
              </a:rPr>
              <a:t>195</a:t>
            </a:r>
          </a:p>
        </p:txBody>
      </p:sp>
      <p:sp>
        <p:nvSpPr>
          <p:cNvPr id="12" name="">
            <a:extLst xmlns:a="http://schemas.openxmlformats.org/drawingml/2006/main">
              <a:ext uri="{FF2B5EF4-FFF2-40B4-BE49-F238E27FC236}">
                <a16:creationId xmlns:a16="http://schemas.microsoft.com/office/drawing/2014/main" id="{D1C834FE-3C14-4A6D-85B5-B2598A0B1634}"/>
              </a:ext>
            </a:extLst>
          </p:cNvPr>
          <p:cNvSpPr>
            <a:spLocks xmlns:a="http://schemas.openxmlformats.org/drawingml/2006/main" noGrp="1"/>
          </p:cNvSpPr>
          <p:nvPr/>
        </p:nvSpPr>
        <p:spPr>
          <a:xfrm xmlns:a="http://schemas.openxmlformats.org/drawingml/2006/main">
            <a:off x="4610100" y="2514600"/>
            <a:ext cx="297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B à vérifier</a:t>
            </a:r>
          </a:p>
        </p:txBody>
      </p:sp>
      <p:sp>
        <p:nvSpPr>
          <p:cNvPr id="13" name="">
            <a:extLst xmlns:a="http://schemas.openxmlformats.org/drawingml/2006/main">
              <a:ext uri="{FF2B5EF4-FFF2-40B4-BE49-F238E27FC236}">
                <a16:creationId xmlns:a16="http://schemas.microsoft.com/office/drawing/2014/main" id="{0261E314-4CB8-486A-B687-4EF90BE87148}"/>
              </a:ext>
            </a:extLst>
          </p:cNvPr>
          <p:cNvSpPr>
            <a:spLocks xmlns:a="http://schemas.openxmlformats.org/drawingml/2006/main" noGrp="1"/>
          </p:cNvSpPr>
          <p:nvPr/>
        </p:nvSpPr>
        <p:spPr>
          <a:xfrm xmlns:a="http://schemas.openxmlformats.org/drawingml/2006/main">
            <a:off x="4610100" y="2895600"/>
            <a:ext cx="297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Signaux individuels nécessitant du contexte.</a:t>
            </a:r>
          </a:p>
        </p:txBody>
      </p:sp>
      <p:sp>
        <p:nvSpPr>
          <p:cNvPr id="14" name="">
            <a:extLst xmlns:a="http://schemas.openxmlformats.org/drawingml/2006/main">
              <a:ext uri="{FF2B5EF4-FFF2-40B4-BE49-F238E27FC236}">
                <a16:creationId xmlns:a16="http://schemas.microsoft.com/office/drawing/2014/main" id="{F5585E88-8EC6-42C5-9C2F-1A027D0C794A}"/>
              </a:ext>
            </a:extLst>
          </p:cNvPr>
          <p:cNvSpPr>
            <a:spLocks xmlns:a="http://schemas.openxmlformats.org/drawingml/2006/main" noGrp="1"/>
          </p:cNvSpPr>
          <p:nvPr/>
        </p:nvSpPr>
        <p:spPr>
          <a:xfrm xmlns:a="http://schemas.openxmlformats.org/drawingml/2006/main">
            <a:off x="8267700" y="1619250"/>
            <a:ext cx="3429000" cy="219075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954E30E9-1603-41D8-8DA4-97168D11A456}"/>
              </a:ext>
            </a:extLst>
          </p:cNvPr>
          <p:cNvSpPr>
            <a:spLocks xmlns:a="http://schemas.openxmlformats.org/drawingml/2006/main" noGrp="1"/>
          </p:cNvSpPr>
          <p:nvPr/>
        </p:nvSpPr>
        <p:spPr>
          <a:xfrm xmlns:a="http://schemas.openxmlformats.org/drawingml/2006/main">
            <a:off x="8496300" y="1885950"/>
            <a:ext cx="2971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4F7A"/>
                </a:solidFill>
              </a:defRPr>
            </a:pPr>
            <a:r>
              <a:rPr sz="3150" b="1">
                <a:solidFill>
                  <a:srgbClr val="0B4F7A"/>
                </a:solidFill>
              </a:rPr>
              <a:t>153</a:t>
            </a:r>
          </a:p>
        </p:txBody>
      </p:sp>
      <p:sp>
        <p:nvSpPr>
          <p:cNvPr id="16" name="">
            <a:extLst xmlns:a="http://schemas.openxmlformats.org/drawingml/2006/main">
              <a:ext uri="{FF2B5EF4-FFF2-40B4-BE49-F238E27FC236}">
                <a16:creationId xmlns:a16="http://schemas.microsoft.com/office/drawing/2014/main" id="{AD3345BB-84E0-4DFA-AF5D-03F61B9579D5}"/>
              </a:ext>
            </a:extLst>
          </p:cNvPr>
          <p:cNvSpPr>
            <a:spLocks xmlns:a="http://schemas.openxmlformats.org/drawingml/2006/main" noGrp="1"/>
          </p:cNvSpPr>
          <p:nvPr/>
        </p:nvSpPr>
        <p:spPr>
          <a:xfrm xmlns:a="http://schemas.openxmlformats.org/drawingml/2006/main">
            <a:off x="8496300" y="2514600"/>
            <a:ext cx="297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C collectives</a:t>
            </a:r>
          </a:p>
        </p:txBody>
      </p:sp>
      <p:sp>
        <p:nvSpPr>
          <p:cNvPr id="17" name="">
            <a:extLst xmlns:a="http://schemas.openxmlformats.org/drawingml/2006/main">
              <a:ext uri="{FF2B5EF4-FFF2-40B4-BE49-F238E27FC236}">
                <a16:creationId xmlns:a16="http://schemas.microsoft.com/office/drawing/2014/main" id="{53696E58-D880-4B96-8F21-391EDB0524C3}"/>
              </a:ext>
            </a:extLst>
          </p:cNvPr>
          <p:cNvSpPr>
            <a:spLocks xmlns:a="http://schemas.openxmlformats.org/drawingml/2006/main" noGrp="1"/>
          </p:cNvSpPr>
          <p:nvPr/>
        </p:nvSpPr>
        <p:spPr>
          <a:xfrm xmlns:a="http://schemas.openxmlformats.org/drawingml/2006/main">
            <a:off x="8496300" y="2895600"/>
            <a:ext cx="297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Alertes probablement liées à un événement troupeau.</a:t>
            </a:r>
          </a:p>
        </p:txBody>
      </p:sp>
      <p:sp>
        <p:nvSpPr>
          <p:cNvPr id="18" name="">
            <a:extLst xmlns:a="http://schemas.openxmlformats.org/drawingml/2006/main">
              <a:ext uri="{FF2B5EF4-FFF2-40B4-BE49-F238E27FC236}">
                <a16:creationId xmlns:a16="http://schemas.microsoft.com/office/drawing/2014/main" id="{C66454BD-FFB9-46DD-99D4-1570377E02AA}"/>
              </a:ext>
            </a:extLst>
          </p:cNvPr>
          <p:cNvSpPr>
            <a:spLocks xmlns:a="http://schemas.openxmlformats.org/drawingml/2006/main" noGrp="1"/>
          </p:cNvSpPr>
          <p:nvPr/>
        </p:nvSpPr>
        <p:spPr>
          <a:xfrm xmlns:a="http://schemas.openxmlformats.org/drawingml/2006/main">
            <a:off x="495300" y="4324350"/>
            <a:ext cx="11201400" cy="89535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A1B8D259-99C7-4D8A-9E1D-6AF4208AB6D2}"/>
              </a:ext>
            </a:extLst>
          </p:cNvPr>
          <p:cNvSpPr>
            <a:spLocks xmlns:a="http://schemas.openxmlformats.org/drawingml/2006/main" noGrp="1"/>
          </p:cNvSpPr>
          <p:nvPr/>
        </p:nvSpPr>
        <p:spPr>
          <a:xfrm xmlns:a="http://schemas.openxmlformats.org/drawingml/2006/main">
            <a:off x="704850" y="4514850"/>
            <a:ext cx="1078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F172A"/>
                </a:solidFill>
              </a:defRPr>
            </a:pPr>
            <a:r>
              <a:rPr sz="1650" b="0">
                <a:solidFill>
                  <a:srgbClr val="0F172A"/>
                </a:solidFill>
              </a:rPr>
              <a:t>Les 385 alertes brutes des quatre saisons restent des candidats; A, B et C organisent la vérification sans créer de vérité clinique.</a:t>
            </a:r>
          </a:p>
        </p:txBody>
      </p:sp>
    </p:spTree>
    <p:extLst>
      <p:ext uri="{BB962C8B-B14F-4D97-AF65-F5344CB8AC3E}">
        <p14:creationId xmlns:p14="http://schemas.microsoft.com/office/powerpoint/2010/main" val="38042044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7564D9C-4AC9-4C60-A310-636F762F10AF}"/>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Le THI montre une association globale, pas un effet causal</a:t>
            </a:r>
          </a:p>
        </p:txBody>
      </p:sp>
      <p:sp>
        <p:nvSpPr>
          <p:cNvPr id="2" name="">
            <a:extLst xmlns:a="http://schemas.openxmlformats.org/drawingml/2006/main">
              <a:ext uri="{FF2B5EF4-FFF2-40B4-BE49-F238E27FC236}">
                <a16:creationId xmlns:a16="http://schemas.microsoft.com/office/drawing/2014/main" id="{18E577B4-4A90-4EB8-AC12-ED7E99E18BDB}"/>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Le contrôle du jour réduit le signal et change l’interprétation.</a:t>
            </a:r>
          </a:p>
        </p:txBody>
      </p:sp>
      <p:sp>
        <p:nvSpPr>
          <p:cNvPr id="3" name="">
            <a:extLst xmlns:a="http://schemas.openxmlformats.org/drawingml/2006/main">
              <a:ext uri="{FF2B5EF4-FFF2-40B4-BE49-F238E27FC236}">
                <a16:creationId xmlns:a16="http://schemas.microsoft.com/office/drawing/2014/main" id="{A9D57F82-D6DD-49FB-86EA-7BECAD178D37}"/>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1A6B1280-AE3E-4936-A85D-94253B0302B0}"/>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3</a:t>
            </a:r>
          </a:p>
        </p:txBody>
      </p:sp>
      <p:sp>
        <p:nvSpPr>
          <p:cNvPr id="5" name="">
            <a:extLst xmlns:a="http://schemas.openxmlformats.org/drawingml/2006/main">
              <a:ext uri="{FF2B5EF4-FFF2-40B4-BE49-F238E27FC236}">
                <a16:creationId xmlns:a16="http://schemas.microsoft.com/office/drawing/2014/main" id="{EA7C1D69-5499-462A-9D08-71C42B7B733F}"/>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9</a:t>
            </a:r>
          </a:p>
        </p:txBody>
      </p:sp>
      <p:graphicFrame>
        <p:nvGraphicFramePr>
          <p:cNvPr id="29" name="Chart"/>
          <p:cNvGraphicFramePr/>
          <p:nvPr/>
        </p:nvGraphicFramePr>
        <p:xfrm>
          <a:off xmlns:a="http://schemas.openxmlformats.org/drawingml/2006/main" x="495300" y="1562100"/>
          <a:ext xmlns:a="http://schemas.openxmlformats.org/drawingml/2006/main" cx="7239000" cy="3714750"/>
        </p:xfrm>
        <a:graphic xmlns:a="http://schemas.openxmlformats.org/drawingml/2006/main">
          <a:graphicData uri="http://schemas.openxmlformats.org/drawingml/2006/chart">
            <c:chart xmlns:r="http://schemas.openxmlformats.org/officeDocument/2006/relationships" xmlns:c="http://schemas.openxmlformats.org/drawingml/2006/chart" r:id="R386c6c50a6bc41af"/>
          </a:graphicData>
        </a:graphic>
      </p:graphicFrame>
      <p:sp>
        <p:nvSpPr>
          <p:cNvPr id="7" name="">
            <a:extLst xmlns:a="http://schemas.openxmlformats.org/drawingml/2006/main">
              <a:ext uri="{FF2B5EF4-FFF2-40B4-BE49-F238E27FC236}">
                <a16:creationId xmlns:a16="http://schemas.microsoft.com/office/drawing/2014/main" id="{B845C6A7-CEE4-4443-A3DF-383B14E5D4DD}"/>
              </a:ext>
            </a:extLst>
          </p:cNvPr>
          <p:cNvSpPr>
            <a:spLocks xmlns:a="http://schemas.openxmlformats.org/drawingml/2006/main" noGrp="1"/>
          </p:cNvSpPr>
          <p:nvPr/>
        </p:nvSpPr>
        <p:spPr>
          <a:xfrm xmlns:a="http://schemas.openxmlformats.org/drawingml/2006/main">
            <a:off x="8096250" y="1562100"/>
            <a:ext cx="3600450" cy="110490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565EF28E-FDFE-4B73-8944-1291F9AF4377}"/>
              </a:ext>
            </a:extLst>
          </p:cNvPr>
          <p:cNvSpPr>
            <a:spLocks xmlns:a="http://schemas.openxmlformats.org/drawingml/2006/main" noGrp="1"/>
          </p:cNvSpPr>
          <p:nvPr/>
        </p:nvSpPr>
        <p:spPr>
          <a:xfrm xmlns:a="http://schemas.openxmlformats.org/drawingml/2006/main">
            <a:off x="8324850" y="182880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1350" b="1">
                <a:solidFill>
                  <a:srgbClr val="0B4F7A"/>
                </a:solidFill>
              </a:rPr>
              <a:t>+0,221</a:t>
            </a:r>
          </a:p>
        </p:txBody>
      </p:sp>
      <p:sp>
        <p:nvSpPr>
          <p:cNvPr id="9" name="">
            <a:extLst xmlns:a="http://schemas.openxmlformats.org/drawingml/2006/main">
              <a:ext uri="{FF2B5EF4-FFF2-40B4-BE49-F238E27FC236}">
                <a16:creationId xmlns:a16="http://schemas.microsoft.com/office/drawing/2014/main" id="{2064273C-3D19-4973-8719-D7A6C74B35B6}"/>
              </a:ext>
            </a:extLst>
          </p:cNvPr>
          <p:cNvSpPr>
            <a:spLocks xmlns:a="http://schemas.openxmlformats.org/drawingml/2006/main" noGrp="1"/>
          </p:cNvSpPr>
          <p:nvPr/>
        </p:nvSpPr>
        <p:spPr>
          <a:xfrm xmlns:a="http://schemas.openxmlformats.org/drawingml/2006/main">
            <a:off x="8915400" y="17526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Global + heure</a:t>
            </a:r>
          </a:p>
        </p:txBody>
      </p:sp>
      <p:sp>
        <p:nvSpPr>
          <p:cNvPr id="10" name="">
            <a:extLst xmlns:a="http://schemas.openxmlformats.org/drawingml/2006/main">
              <a:ext uri="{FF2B5EF4-FFF2-40B4-BE49-F238E27FC236}">
                <a16:creationId xmlns:a16="http://schemas.microsoft.com/office/drawing/2014/main" id="{6C26554A-7DE5-4974-B02D-7D06C66F8789}"/>
              </a:ext>
            </a:extLst>
          </p:cNvPr>
          <p:cNvSpPr>
            <a:spLocks xmlns:a="http://schemas.openxmlformats.org/drawingml/2006/main" noGrp="1"/>
          </p:cNvSpPr>
          <p:nvPr/>
        </p:nvSpPr>
        <p:spPr>
          <a:xfrm xmlns:a="http://schemas.openxmlformats.org/drawingml/2006/main">
            <a:off x="8915400" y="222885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p = 6,15e-8; différences entre jours incluses</a:t>
            </a:r>
          </a:p>
        </p:txBody>
      </p:sp>
      <p:sp>
        <p:nvSpPr>
          <p:cNvPr id="11" name="">
            <a:extLst xmlns:a="http://schemas.openxmlformats.org/drawingml/2006/main">
              <a:ext uri="{FF2B5EF4-FFF2-40B4-BE49-F238E27FC236}">
                <a16:creationId xmlns:a16="http://schemas.microsoft.com/office/drawing/2014/main" id="{C6E8EDE4-21E3-4276-8CB8-498C2C513921}"/>
              </a:ext>
            </a:extLst>
          </p:cNvPr>
          <p:cNvSpPr>
            <a:spLocks xmlns:a="http://schemas.openxmlformats.org/drawingml/2006/main" noGrp="1"/>
          </p:cNvSpPr>
          <p:nvPr/>
        </p:nvSpPr>
        <p:spPr>
          <a:xfrm xmlns:a="http://schemas.openxmlformats.org/drawingml/2006/main">
            <a:off x="8096250" y="2914650"/>
            <a:ext cx="3600450" cy="110490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DBC5A613-58D7-4CDD-9085-78E20146682D}"/>
              </a:ext>
            </a:extLst>
          </p:cNvPr>
          <p:cNvSpPr>
            <a:spLocks xmlns:a="http://schemas.openxmlformats.org/drawingml/2006/main" noGrp="1"/>
          </p:cNvSpPr>
          <p:nvPr/>
        </p:nvSpPr>
        <p:spPr>
          <a:xfrm xmlns:a="http://schemas.openxmlformats.org/drawingml/2006/main">
            <a:off x="8324850" y="318135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1350" b="1">
                <a:solidFill>
                  <a:srgbClr val="0B4F7A"/>
                </a:solidFill>
              </a:rPr>
              <a:t>+0,129</a:t>
            </a:r>
          </a:p>
        </p:txBody>
      </p:sp>
      <p:sp>
        <p:nvSpPr>
          <p:cNvPr id="13" name="">
            <a:extLst xmlns:a="http://schemas.openxmlformats.org/drawingml/2006/main">
              <a:ext uri="{FF2B5EF4-FFF2-40B4-BE49-F238E27FC236}">
                <a16:creationId xmlns:a16="http://schemas.microsoft.com/office/drawing/2014/main" id="{B5EEA695-2002-4BB2-9984-57F875BFF8DE}"/>
              </a:ext>
            </a:extLst>
          </p:cNvPr>
          <p:cNvSpPr>
            <a:spLocks xmlns:a="http://schemas.openxmlformats.org/drawingml/2006/main" noGrp="1"/>
          </p:cNvSpPr>
          <p:nvPr/>
        </p:nvSpPr>
        <p:spPr>
          <a:xfrm xmlns:a="http://schemas.openxmlformats.org/drawingml/2006/main">
            <a:off x="8915400" y="310515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Tendance calendaire</a:t>
            </a:r>
          </a:p>
        </p:txBody>
      </p:sp>
      <p:sp>
        <p:nvSpPr>
          <p:cNvPr id="14" name="">
            <a:extLst xmlns:a="http://schemas.openxmlformats.org/drawingml/2006/main">
              <a:ext uri="{FF2B5EF4-FFF2-40B4-BE49-F238E27FC236}">
                <a16:creationId xmlns:a16="http://schemas.microsoft.com/office/drawing/2014/main" id="{F8BA7420-9930-4CE5-B5A6-3BAC16600944}"/>
              </a:ext>
            </a:extLst>
          </p:cNvPr>
          <p:cNvSpPr>
            <a:spLocks xmlns:a="http://schemas.openxmlformats.org/drawingml/2006/main" noGrp="1"/>
          </p:cNvSpPr>
          <p:nvPr/>
        </p:nvSpPr>
        <p:spPr>
          <a:xfrm xmlns:a="http://schemas.openxmlformats.org/drawingml/2006/main">
            <a:off x="8915400" y="35814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p = 0,020; association positive atténuée</a:t>
            </a:r>
          </a:p>
        </p:txBody>
      </p:sp>
      <p:sp>
        <p:nvSpPr>
          <p:cNvPr id="15" name="">
            <a:extLst xmlns:a="http://schemas.openxmlformats.org/drawingml/2006/main">
              <a:ext uri="{FF2B5EF4-FFF2-40B4-BE49-F238E27FC236}">
                <a16:creationId xmlns:a16="http://schemas.microsoft.com/office/drawing/2014/main" id="{DCABBF5B-0A5A-4C0B-A802-2132F94745A2}"/>
              </a:ext>
            </a:extLst>
          </p:cNvPr>
          <p:cNvSpPr>
            <a:spLocks xmlns:a="http://schemas.openxmlformats.org/drawingml/2006/main" noGrp="1"/>
          </p:cNvSpPr>
          <p:nvPr/>
        </p:nvSpPr>
        <p:spPr>
          <a:xfrm xmlns:a="http://schemas.openxmlformats.org/drawingml/2006/main">
            <a:off x="8096250" y="4267200"/>
            <a:ext cx="3600450" cy="1104900"/>
          </a:xfrm>
          <a:prstGeom xmlns:a="http://schemas.openxmlformats.org/drawingml/2006/main" prst="rect">
            <a:avLst/>
          </a:prstGeom>
          <a:solidFill xmlns:a="http://schemas.openxmlformats.org/drawingml/2006/main">
            <a:srgbClr val="F2F4F7"/>
          </a:solidFill>
          <a:ln xmlns:a="http://schemas.openxmlformats.org/drawingml/2006/main" w="9525">
            <a:solidFill>
              <a:srgbClr val="D3D7DE"/>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9F0DC8BE-C15D-49E2-AA2B-2F324A024BDC}"/>
              </a:ext>
            </a:extLst>
          </p:cNvPr>
          <p:cNvSpPr>
            <a:spLocks xmlns:a="http://schemas.openxmlformats.org/drawingml/2006/main" noGrp="1"/>
          </p:cNvSpPr>
          <p:nvPr/>
        </p:nvSpPr>
        <p:spPr>
          <a:xfrm xmlns:a="http://schemas.openxmlformats.org/drawingml/2006/main">
            <a:off x="8324850" y="453390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1350" b="1">
                <a:solidFill>
                  <a:srgbClr val="0B4F7A"/>
                </a:solidFill>
              </a:rPr>
              <a:t>+0,061</a:t>
            </a:r>
          </a:p>
        </p:txBody>
      </p:sp>
      <p:sp>
        <p:nvSpPr>
          <p:cNvPr id="17" name="">
            <a:extLst xmlns:a="http://schemas.openxmlformats.org/drawingml/2006/main">
              <a:ext uri="{FF2B5EF4-FFF2-40B4-BE49-F238E27FC236}">
                <a16:creationId xmlns:a16="http://schemas.microsoft.com/office/drawing/2014/main" id="{A5358D85-5BCA-49D8-99DB-5C9D7027B1A1}"/>
              </a:ext>
            </a:extLst>
          </p:cNvPr>
          <p:cNvSpPr>
            <a:spLocks xmlns:a="http://schemas.openxmlformats.org/drawingml/2006/main" noGrp="1"/>
          </p:cNvSpPr>
          <p:nvPr/>
        </p:nvSpPr>
        <p:spPr>
          <a:xfrm xmlns:a="http://schemas.openxmlformats.org/drawingml/2006/main">
            <a:off x="8915400" y="44577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Intra-jour strict</a:t>
            </a:r>
          </a:p>
        </p:txBody>
      </p:sp>
      <p:sp>
        <p:nvSpPr>
          <p:cNvPr id="18" name="">
            <a:extLst xmlns:a="http://schemas.openxmlformats.org/drawingml/2006/main">
              <a:ext uri="{FF2B5EF4-FFF2-40B4-BE49-F238E27FC236}">
                <a16:creationId xmlns:a16="http://schemas.microsoft.com/office/drawing/2014/main" id="{FFD19B21-88DC-4EFC-88EB-CDEF66D12636}"/>
              </a:ext>
            </a:extLst>
          </p:cNvPr>
          <p:cNvSpPr>
            <a:spLocks xmlns:a="http://schemas.openxmlformats.org/drawingml/2006/main" noGrp="1"/>
          </p:cNvSpPr>
          <p:nvPr/>
        </p:nvSpPr>
        <p:spPr>
          <a:xfrm xmlns:a="http://schemas.openxmlformats.org/drawingml/2006/main">
            <a:off x="8915400" y="493395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p = 0,364; effet faible et non concluant</a:t>
            </a:r>
          </a:p>
        </p:txBody>
      </p:sp>
      <p:sp>
        <p:nvSpPr>
          <p:cNvPr id="22" name="">
            <a:extLst xmlns:a="http://schemas.openxmlformats.org/drawingml/2006/main">
              <a:ext uri="{FF2B5EF4-FFF2-40B4-BE49-F238E27FC236}">
                <a16:creationId xmlns:a16="http://schemas.microsoft.com/office/drawing/2014/main" id="{C8453B07-9238-408C-8472-7D4F25D7C333}"/>
              </a:ext>
            </a:extLst>
          </p:cNvPr>
          <p:cNvSpPr>
            <a:spLocks xmlns:a="http://schemas.openxmlformats.org/drawingml/2006/main" noGrp="1"/>
          </p:cNvSpPr>
          <p:nvPr/>
        </p:nvSpPr>
        <p:spPr>
          <a:xfrm xmlns:a="http://schemas.openxmlformats.org/drawingml/2006/main">
            <a:off x="495300" y="1562100"/>
            <a:ext cx="7239000" cy="37147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675d5fc3e64c4667"/>
          <a:stretch xmlns:a="http://schemas.openxmlformats.org/drawingml/2006/main"/>
        </p:blipFill>
        <p:spPr>
          <a:xfrm xmlns:a="http://schemas.openxmlformats.org/drawingml/2006/main">
            <a:off x="495300" y="1650856"/>
            <a:ext cx="7239000" cy="3537239"/>
          </a:xfrm>
          <a:prstGeom xmlns:a="http://schemas.openxmlformats.org/drawingml/2006/main" prst="rect">
            <a:avLst/>
          </a:prstGeom>
        </p:spPr>
      </p:pic>
    </p:spTree>
    <p:extLst>
      <p:ext uri="{BB962C8B-B14F-4D97-AF65-F5344CB8AC3E}">
        <p14:creationId xmlns:p14="http://schemas.microsoft.com/office/powerpoint/2010/main" val="38613660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1C707B-6A8E-4AF1-810C-4A588375B500}"/>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Comportements : un signal suggestif</a:t>
            </a:r>
          </a:p>
        </p:txBody>
      </p:sp>
      <p:sp>
        <p:nvSpPr>
          <p:cNvPr id="2" name="">
            <a:extLst xmlns:a="http://schemas.openxmlformats.org/drawingml/2006/main">
              <a:ext uri="{FF2B5EF4-FFF2-40B4-BE49-F238E27FC236}">
                <a16:creationId xmlns:a16="http://schemas.microsoft.com/office/drawing/2014/main" id="{B7CC9B0B-AE8F-4ADB-8B9C-64569659AFA0}"/>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Huit jours indépendants : une puissance statistique limitée.</a:t>
            </a:r>
          </a:p>
        </p:txBody>
      </p:sp>
      <p:sp>
        <p:nvSpPr>
          <p:cNvPr id="3" name="">
            <a:extLst xmlns:a="http://schemas.openxmlformats.org/drawingml/2006/main">
              <a:ext uri="{FF2B5EF4-FFF2-40B4-BE49-F238E27FC236}">
                <a16:creationId xmlns:a16="http://schemas.microsoft.com/office/drawing/2014/main" id="{501B3A8C-8A05-4D4E-81C9-387442871814}"/>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6C2B843C-4510-4FF5-8D1B-C340FDBB9206}"/>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3</a:t>
            </a:r>
          </a:p>
        </p:txBody>
      </p:sp>
      <p:sp>
        <p:nvSpPr>
          <p:cNvPr id="5" name="">
            <a:extLst xmlns:a="http://schemas.openxmlformats.org/drawingml/2006/main">
              <a:ext uri="{FF2B5EF4-FFF2-40B4-BE49-F238E27FC236}">
                <a16:creationId xmlns:a16="http://schemas.microsoft.com/office/drawing/2014/main" id="{6A198705-A769-4C2F-B23D-62EBC6CD0599}"/>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10</a:t>
            </a:r>
          </a:p>
        </p:txBody>
      </p:sp>
      <p:graphicFrame>
        <p:nvGraphicFramePr>
          <p:cNvPr id="21" name=""/>
          <p:cNvGraphicFramePr/>
          <p:nvPr/>
        </p:nvGraphicFramePr>
        <p:xfrm>
          <a:off xmlns:a="http://schemas.openxmlformats.org/drawingml/2006/main" x="495300" y="1504950"/>
          <a:ext xmlns:a="http://schemas.openxmlformats.org/drawingml/2006/main" cx="11201400" cy="2667000"/>
        </p:xfrm>
        <a:graphic xmlns:a="http://schemas.openxmlformats.org/drawingml/2006/main">
          <a:graphicData uri="http://schemas.openxmlformats.org/drawingml/2006/table">
            <a:tbl>
              <a:tblPr firstRow="1" bandRow="1"/>
              <a:tblGrid>
                <a:gridCol w="4148667"/>
                <a:gridCol w="2489200"/>
                <a:gridCol w="2489200"/>
                <a:gridCol w="2074333"/>
              </a:tblGrid>
              <a:tr h="533400">
                <a:tc>
                  <a:txBody>
                    <a:bodyPr/>
                    <a:lstStyle/>
                    <a:p>
                      <a:r>
                        <a:rPr sz="1050" b="1">
                          <a:solidFill>
                            <a:srgbClr val="FFFFFF"/>
                          </a:solidFill>
                        </a:rPr>
                        <a:t>Comportement</a:t>
                      </a:r>
                    </a:p>
                  </a:txBody>
                  <a:tcPr marL="91440" marR="91440" marT="45720" marB="45720">
                    <a:solidFill>
                      <a:srgbClr val="0B4F7A"/>
                    </a:solidFill>
                  </a:tcPr>
                </a:tc>
                <a:tc>
                  <a:txBody>
                    <a:bodyPr/>
                    <a:lstStyle/>
                    <a:p>
                      <a:r>
                        <a:rPr sz="1050" b="1">
                          <a:solidFill>
                            <a:srgbClr val="FFFFFF"/>
                          </a:solidFill>
                        </a:rPr>
                        <a:t>rho vs THI</a:t>
                      </a:r>
                    </a:p>
                  </a:txBody>
                  <a:tcPr marL="91440" marR="91440" marT="45720" marB="45720">
                    <a:solidFill>
                      <a:srgbClr val="0B4F7A"/>
                    </a:solidFill>
                  </a:tcPr>
                </a:tc>
                <a:tc>
                  <a:txBody>
                    <a:bodyPr/>
                    <a:lstStyle/>
                    <a:p>
                      <a:r>
                        <a:rPr sz="1050" b="1">
                          <a:solidFill>
                            <a:srgbClr val="FFFFFF"/>
                          </a:solidFill>
                        </a:rPr>
                        <a:t>p</a:t>
                      </a:r>
                    </a:p>
                  </a:txBody>
                  <a:tcPr marL="91440" marR="91440" marT="45720" marB="45720">
                    <a:solidFill>
                      <a:srgbClr val="0B4F7A"/>
                    </a:solidFill>
                  </a:tcPr>
                </a:tc>
                <a:tc>
                  <a:txBody>
                    <a:bodyPr/>
                    <a:lstStyle/>
                    <a:p>
                      <a:r>
                        <a:rPr sz="1050" b="1">
                          <a:solidFill>
                            <a:srgbClr val="FFFFFF"/>
                          </a:solidFill>
                        </a:rPr>
                        <a:t>Lecture</a:t>
                      </a:r>
                    </a:p>
                  </a:txBody>
                  <a:tcPr marL="91440" marR="91440" marT="45720" marB="45720">
                    <a:solidFill>
                      <a:srgbClr val="0B4F7A"/>
                    </a:solidFill>
                  </a:tcPr>
                </a:tc>
              </a:tr>
              <a:tr h="533400">
                <a:tc>
                  <a:txBody>
                    <a:bodyPr/>
                    <a:lstStyle/>
                    <a:p>
                      <a:r>
                        <a:rPr sz="975">
                          <a:solidFill>
                            <a:srgbClr val="0F172A"/>
                          </a:solidFill>
                        </a:rPr>
                        <a:t>Alimentation</a:t>
                      </a:r>
                    </a:p>
                  </a:txBody>
                  <a:tcPr marL="91440" marR="91440" marT="45720" marB="45720"/>
                </a:tc>
                <a:tc>
                  <a:txBody>
                    <a:bodyPr/>
                    <a:lstStyle/>
                    <a:p>
                      <a:r>
                        <a:rPr sz="975">
                          <a:solidFill>
                            <a:srgbClr val="0F172A"/>
                          </a:solidFill>
                        </a:rPr>
                        <a:t>+0,738</a:t>
                      </a:r>
                    </a:p>
                  </a:txBody>
                  <a:tcPr marL="91440" marR="91440" marT="45720" marB="45720"/>
                </a:tc>
                <a:tc>
                  <a:txBody>
                    <a:bodyPr/>
                    <a:lstStyle/>
                    <a:p>
                      <a:r>
                        <a:rPr sz="975">
                          <a:solidFill>
                            <a:srgbClr val="0F172A"/>
                          </a:solidFill>
                        </a:rPr>
                        <a:t>0,037</a:t>
                      </a:r>
                    </a:p>
                  </a:txBody>
                  <a:tcPr marL="91440" marR="91440" marT="45720" marB="45720"/>
                </a:tc>
                <a:tc>
                  <a:txBody>
                    <a:bodyPr/>
                    <a:lstStyle/>
                    <a:p>
                      <a:r>
                        <a:rPr sz="975">
                          <a:solidFill>
                            <a:srgbClr val="0F172A"/>
                          </a:solidFill>
                        </a:rPr>
                        <a:t>Suggestif</a:t>
                      </a:r>
                    </a:p>
                  </a:txBody>
                  <a:tcPr marL="91440" marR="91440" marT="45720" marB="45720"/>
                </a:tc>
              </a:tr>
              <a:tr h="533400">
                <a:tc>
                  <a:txBody>
                    <a:bodyPr/>
                    <a:lstStyle/>
                    <a:p>
                      <a:r>
                        <a:rPr sz="975">
                          <a:solidFill>
                            <a:srgbClr val="0F172A"/>
                          </a:solidFill>
                        </a:rPr>
                        <a:t>Locomotion</a:t>
                      </a:r>
                    </a:p>
                  </a:txBody>
                  <a:tcPr marL="91440" marR="91440" marT="45720" marB="45720"/>
                </a:tc>
                <a:tc>
                  <a:txBody>
                    <a:bodyPr/>
                    <a:lstStyle/>
                    <a:p>
                      <a:r>
                        <a:rPr sz="975">
                          <a:solidFill>
                            <a:srgbClr val="0F172A"/>
                          </a:solidFill>
                        </a:rPr>
                        <a:t>-0,098</a:t>
                      </a:r>
                    </a:p>
                  </a:txBody>
                  <a:tcPr marL="91440" marR="91440" marT="45720" marB="45720"/>
                </a:tc>
                <a:tc>
                  <a:txBody>
                    <a:bodyPr/>
                    <a:lstStyle/>
                    <a:p>
                      <a:r>
                        <a:rPr sz="975">
                          <a:solidFill>
                            <a:srgbClr val="0F172A"/>
                          </a:solidFill>
                        </a:rPr>
                        <a:t>0,818</a:t>
                      </a:r>
                    </a:p>
                  </a:txBody>
                  <a:tcPr marL="91440" marR="91440" marT="45720" marB="45720"/>
                </a:tc>
                <a:tc>
                  <a:txBody>
                    <a:bodyPr/>
                    <a:lstStyle/>
                    <a:p>
                      <a:r>
                        <a:rPr sz="975">
                          <a:solidFill>
                            <a:srgbClr val="0F172A"/>
                          </a:solidFill>
                        </a:rPr>
                        <a:t>Non significatif</a:t>
                      </a:r>
                    </a:p>
                  </a:txBody>
                  <a:tcPr marL="91440" marR="91440" marT="45720" marB="45720"/>
                </a:tc>
              </a:tr>
              <a:tr h="533400">
                <a:tc>
                  <a:txBody>
                    <a:bodyPr/>
                    <a:lstStyle/>
                    <a:p>
                      <a:r>
                        <a:rPr sz="975">
                          <a:solidFill>
                            <a:srgbClr val="0F172A"/>
                          </a:solidFill>
                        </a:rPr>
                        <a:t>Exploration</a:t>
                      </a:r>
                    </a:p>
                  </a:txBody>
                  <a:tcPr marL="91440" marR="91440" marT="45720" marB="45720"/>
                </a:tc>
                <a:tc>
                  <a:txBody>
                    <a:bodyPr/>
                    <a:lstStyle/>
                    <a:p>
                      <a:r>
                        <a:rPr sz="975">
                          <a:solidFill>
                            <a:srgbClr val="0F172A"/>
                          </a:solidFill>
                        </a:rPr>
                        <a:t>-0,595</a:t>
                      </a:r>
                    </a:p>
                  </a:txBody>
                  <a:tcPr marL="91440" marR="91440" marT="45720" marB="45720"/>
                </a:tc>
                <a:tc>
                  <a:txBody>
                    <a:bodyPr/>
                    <a:lstStyle/>
                    <a:p>
                      <a:r>
                        <a:rPr sz="975">
                          <a:solidFill>
                            <a:srgbClr val="0F172A"/>
                          </a:solidFill>
                        </a:rPr>
                        <a:t>0,120</a:t>
                      </a:r>
                    </a:p>
                  </a:txBody>
                  <a:tcPr marL="91440" marR="91440" marT="45720" marB="45720"/>
                </a:tc>
                <a:tc>
                  <a:txBody>
                    <a:bodyPr/>
                    <a:lstStyle/>
                    <a:p>
                      <a:r>
                        <a:rPr sz="975">
                          <a:solidFill>
                            <a:srgbClr val="0F172A"/>
                          </a:solidFill>
                        </a:rPr>
                        <a:t>Non significatif</a:t>
                      </a:r>
                    </a:p>
                  </a:txBody>
                  <a:tcPr marL="91440" marR="91440" marT="45720" marB="45720"/>
                </a:tc>
              </a:tr>
              <a:tr h="533400">
                <a:tc>
                  <a:txBody>
                    <a:bodyPr/>
                    <a:lstStyle/>
                    <a:p>
                      <a:r>
                        <a:rPr sz="975">
                          <a:solidFill>
                            <a:srgbClr val="0F172A"/>
                          </a:solidFill>
                        </a:rPr>
                        <a:t>Social</a:t>
                      </a:r>
                    </a:p>
                  </a:txBody>
                  <a:tcPr marL="91440" marR="91440" marT="45720" marB="45720"/>
                </a:tc>
                <a:tc>
                  <a:txBody>
                    <a:bodyPr/>
                    <a:lstStyle/>
                    <a:p>
                      <a:r>
                        <a:rPr sz="975">
                          <a:solidFill>
                            <a:srgbClr val="0F172A"/>
                          </a:solidFill>
                        </a:rPr>
                        <a:t>-0,357</a:t>
                      </a:r>
                    </a:p>
                  </a:txBody>
                  <a:tcPr marL="91440" marR="91440" marT="45720" marB="45720"/>
                </a:tc>
                <a:tc>
                  <a:txBody>
                    <a:bodyPr/>
                    <a:lstStyle/>
                    <a:p>
                      <a:r>
                        <a:rPr sz="975">
                          <a:solidFill>
                            <a:srgbClr val="0F172A"/>
                          </a:solidFill>
                        </a:rPr>
                        <a:t>0,385</a:t>
                      </a:r>
                    </a:p>
                  </a:txBody>
                  <a:tcPr marL="91440" marR="91440" marT="45720" marB="45720"/>
                </a:tc>
                <a:tc>
                  <a:txBody>
                    <a:bodyPr/>
                    <a:lstStyle/>
                    <a:p>
                      <a:r>
                        <a:rPr sz="975">
                          <a:solidFill>
                            <a:srgbClr val="0F172A"/>
                          </a:solidFill>
                        </a:rPr>
                        <a:t>Non significatif</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D2638B49-821A-41CF-8F3C-67FC9976EE9F}"/>
              </a:ext>
            </a:extLst>
          </p:cNvPr>
          <p:cNvSpPr>
            <a:spLocks xmlns:a="http://schemas.openxmlformats.org/drawingml/2006/main" noGrp="1"/>
          </p:cNvSpPr>
          <p:nvPr/>
        </p:nvSpPr>
        <p:spPr>
          <a:xfrm xmlns:a="http://schemas.openxmlformats.org/drawingml/2006/main">
            <a:off x="495300" y="4629150"/>
            <a:ext cx="5276850" cy="106680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A08EA36-C233-4585-8C50-69E768672F70}"/>
              </a:ext>
            </a:extLst>
          </p:cNvPr>
          <p:cNvSpPr>
            <a:spLocks xmlns:a="http://schemas.openxmlformats.org/drawingml/2006/main" noGrp="1"/>
          </p:cNvSpPr>
          <p:nvPr/>
        </p:nvSpPr>
        <p:spPr>
          <a:xfrm xmlns:a="http://schemas.openxmlformats.org/drawingml/2006/main">
            <a:off x="704850" y="48196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F172A"/>
                </a:solidFill>
              </a:defRPr>
            </a:pPr>
            <a:r>
              <a:rPr sz="1650" b="1">
                <a:solidFill>
                  <a:srgbClr val="0F172A"/>
                </a:solidFill>
              </a:rPr>
              <a:t>Ce que cela appuie</a:t>
            </a:r>
          </a:p>
        </p:txBody>
      </p:sp>
      <p:sp>
        <p:nvSpPr>
          <p:cNvPr id="9" name="">
            <a:extLst xmlns:a="http://schemas.openxmlformats.org/drawingml/2006/main">
              <a:ext uri="{FF2B5EF4-FFF2-40B4-BE49-F238E27FC236}">
                <a16:creationId xmlns:a16="http://schemas.microsoft.com/office/drawing/2014/main" id="{740E816B-8CB3-4B5C-B3D0-8509644CDC24}"/>
              </a:ext>
            </a:extLst>
          </p:cNvPr>
          <p:cNvSpPr>
            <a:spLocks xmlns:a="http://schemas.openxmlformats.org/drawingml/2006/main" noGrp="1"/>
          </p:cNvSpPr>
          <p:nvPr/>
        </p:nvSpPr>
        <p:spPr>
          <a:xfrm xmlns:a="http://schemas.openxmlformats.org/drawingml/2006/main">
            <a:off x="704850" y="51435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Un signal quotidien positif entre THI et alimentation, à confirmer sur davantage de jours.</a:t>
            </a:r>
          </a:p>
        </p:txBody>
      </p:sp>
      <p:sp>
        <p:nvSpPr>
          <p:cNvPr id="10" name="">
            <a:extLst xmlns:a="http://schemas.openxmlformats.org/drawingml/2006/main">
              <a:ext uri="{FF2B5EF4-FFF2-40B4-BE49-F238E27FC236}">
                <a16:creationId xmlns:a16="http://schemas.microsoft.com/office/drawing/2014/main" id="{BA64EF5F-65A9-4A05-8E3E-81FB8A2F9C00}"/>
              </a:ext>
            </a:extLst>
          </p:cNvPr>
          <p:cNvSpPr>
            <a:spLocks xmlns:a="http://schemas.openxmlformats.org/drawingml/2006/main" noGrp="1"/>
          </p:cNvSpPr>
          <p:nvPr/>
        </p:nvSpPr>
        <p:spPr>
          <a:xfrm xmlns:a="http://schemas.openxmlformats.org/drawingml/2006/main">
            <a:off x="6419850" y="4629150"/>
            <a:ext cx="5276850" cy="106680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0C22E435-5C7A-49D2-BEC2-BE7D66531DE1}"/>
              </a:ext>
            </a:extLst>
          </p:cNvPr>
          <p:cNvSpPr>
            <a:spLocks xmlns:a="http://schemas.openxmlformats.org/drawingml/2006/main" noGrp="1"/>
          </p:cNvSpPr>
          <p:nvPr/>
        </p:nvSpPr>
        <p:spPr>
          <a:xfrm xmlns:a="http://schemas.openxmlformats.org/drawingml/2006/main">
            <a:off x="6629400" y="48196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F172A"/>
                </a:solidFill>
              </a:defRPr>
            </a:pPr>
            <a:r>
              <a:rPr sz="1650" b="1">
                <a:solidFill>
                  <a:srgbClr val="0F172A"/>
                </a:solidFill>
              </a:rPr>
              <a:t>Ce qu’il ne démontre pas</a:t>
            </a:r>
          </a:p>
        </p:txBody>
      </p:sp>
      <p:sp>
        <p:nvSpPr>
          <p:cNvPr id="12" name="">
            <a:extLst xmlns:a="http://schemas.openxmlformats.org/drawingml/2006/main">
              <a:ext uri="{FF2B5EF4-FFF2-40B4-BE49-F238E27FC236}">
                <a16:creationId xmlns:a16="http://schemas.microsoft.com/office/drawing/2014/main" id="{DCFAB03E-03FB-499C-B803-4D796D1C0DB2}"/>
              </a:ext>
            </a:extLst>
          </p:cNvPr>
          <p:cNvSpPr>
            <a:spLocks xmlns:a="http://schemas.openxmlformats.org/drawingml/2006/main" noGrp="1"/>
          </p:cNvSpPr>
          <p:nvPr/>
        </p:nvSpPr>
        <p:spPr>
          <a:xfrm xmlns:a="http://schemas.openxmlformats.org/drawingml/2006/main">
            <a:off x="6629400" y="51435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Huit jours ne suffisent pas pour établir un effet stable, indépendant ou causal.</a:t>
            </a:r>
          </a:p>
        </p:txBody>
      </p:sp>
    </p:spTree>
    <p:extLst>
      <p:ext uri="{BB962C8B-B14F-4D97-AF65-F5344CB8AC3E}">
        <p14:creationId xmlns:p14="http://schemas.microsoft.com/office/powerpoint/2010/main" val="34924266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1767895-DF87-4B0C-BF82-FEA9A1B4B6CC}"/>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Le notebook est reproductible et correctement borné</a:t>
            </a:r>
          </a:p>
        </p:txBody>
      </p:sp>
      <p:sp>
        <p:nvSpPr>
          <p:cNvPr id="2" name="">
            <a:extLst xmlns:a="http://schemas.openxmlformats.org/drawingml/2006/main">
              <a:ext uri="{FF2B5EF4-FFF2-40B4-BE49-F238E27FC236}">
                <a16:creationId xmlns:a16="http://schemas.microsoft.com/office/drawing/2014/main" id="{D9647425-71DE-4052-9355-E3162C1D3DB4}"/>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Les obligations sont terminées; les renforcements futurs restent séparés du SOW.</a:t>
            </a:r>
          </a:p>
        </p:txBody>
      </p:sp>
      <p:sp>
        <p:nvSpPr>
          <p:cNvPr id="3" name="">
            <a:extLst xmlns:a="http://schemas.openxmlformats.org/drawingml/2006/main">
              <a:ext uri="{FF2B5EF4-FFF2-40B4-BE49-F238E27FC236}">
                <a16:creationId xmlns:a16="http://schemas.microsoft.com/office/drawing/2014/main" id="{5EB9BFE6-4C99-4FAD-A608-98371A090BFC}"/>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763553BA-081A-49F5-8EBB-7DB27E29E0FE}"/>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3</a:t>
            </a:r>
          </a:p>
        </p:txBody>
      </p:sp>
      <p:sp>
        <p:nvSpPr>
          <p:cNvPr id="5" name="">
            <a:extLst xmlns:a="http://schemas.openxmlformats.org/drawingml/2006/main">
              <a:ext uri="{FF2B5EF4-FFF2-40B4-BE49-F238E27FC236}">
                <a16:creationId xmlns:a16="http://schemas.microsoft.com/office/drawing/2014/main" id="{ACE653B9-B65B-44B8-904D-5AFC897F1D8B}"/>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11</a:t>
            </a:r>
          </a:p>
        </p:txBody>
      </p:sp>
      <p:sp>
        <p:nvSpPr>
          <p:cNvPr id="6" name="">
            <a:extLst xmlns:a="http://schemas.openxmlformats.org/drawingml/2006/main">
              <a:ext uri="{FF2B5EF4-FFF2-40B4-BE49-F238E27FC236}">
                <a16:creationId xmlns:a16="http://schemas.microsoft.com/office/drawing/2014/main" id="{0E6A3329-99D4-4F51-8AF6-A4FA71A289C5}"/>
              </a:ext>
            </a:extLst>
          </p:cNvPr>
          <p:cNvSpPr>
            <a:spLocks xmlns:a="http://schemas.openxmlformats.org/drawingml/2006/main" noGrp="1"/>
          </p:cNvSpPr>
          <p:nvPr/>
        </p:nvSpPr>
        <p:spPr>
          <a:xfrm xmlns:a="http://schemas.openxmlformats.org/drawingml/2006/main">
            <a:off x="495300" y="1562100"/>
            <a:ext cx="5334000" cy="1714500"/>
          </a:xfrm>
          <a:prstGeom xmlns:a="http://schemas.openxmlformats.org/drawingml/2006/main" prst="rect">
            <a:avLst/>
          </a:prstGeom>
          <a:solidFill xmlns:a="http://schemas.openxmlformats.org/drawingml/2006/main">
            <a:srgbClr val="F2F4F7"/>
          </a:solidFill>
          <a:ln xmlns:a="http://schemas.openxmlformats.org/drawingml/2006/main" w="9525">
            <a:solidFill>
              <a:srgbClr val="D3D7DE"/>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96A0F0B-05FE-443E-8F8E-1A3DFE153CC9}"/>
              </a:ext>
            </a:extLst>
          </p:cNvPr>
          <p:cNvSpPr>
            <a:spLocks xmlns:a="http://schemas.openxmlformats.org/drawingml/2006/main" noGrp="1"/>
          </p:cNvSpPr>
          <p:nvPr/>
        </p:nvSpPr>
        <p:spPr>
          <a:xfrm xmlns:a="http://schemas.openxmlformats.org/drawingml/2006/main">
            <a:off x="723900" y="17335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4F7A"/>
                </a:solidFill>
              </a:defRPr>
            </a:pPr>
            <a:r>
              <a:rPr sz="1800" b="1">
                <a:solidFill>
                  <a:srgbClr val="0B4F7A"/>
                </a:solidFill>
              </a:rPr>
              <a:t>Notebook</a:t>
            </a:r>
          </a:p>
        </p:txBody>
      </p:sp>
      <p:sp>
        <p:nvSpPr>
          <p:cNvPr id="8" name="">
            <a:extLst xmlns:a="http://schemas.openxmlformats.org/drawingml/2006/main">
              <a:ext uri="{FF2B5EF4-FFF2-40B4-BE49-F238E27FC236}">
                <a16:creationId xmlns:a16="http://schemas.microsoft.com/office/drawing/2014/main" id="{4C5BBA33-0E32-4AAC-A9A4-D2B8E628E1F9}"/>
              </a:ext>
            </a:extLst>
          </p:cNvPr>
          <p:cNvSpPr>
            <a:spLocks xmlns:a="http://schemas.openxmlformats.org/drawingml/2006/main" noGrp="1"/>
          </p:cNvSpPr>
          <p:nvPr/>
        </p:nvSpPr>
        <p:spPr>
          <a:xfrm xmlns:a="http://schemas.openxmlformats.org/drawingml/2006/main">
            <a:off x="7239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Terminé</a:t>
            </a:r>
          </a:p>
        </p:txBody>
      </p:sp>
      <p:sp>
        <p:nvSpPr>
          <p:cNvPr id="9" name="">
            <a:extLst xmlns:a="http://schemas.openxmlformats.org/drawingml/2006/main">
              <a:ext uri="{FF2B5EF4-FFF2-40B4-BE49-F238E27FC236}">
                <a16:creationId xmlns:a16="http://schemas.microsoft.com/office/drawing/2014/main" id="{A499147C-F363-4DC0-A4BE-405467245D73}"/>
              </a:ext>
            </a:extLst>
          </p:cNvPr>
          <p:cNvSpPr>
            <a:spLocks xmlns:a="http://schemas.openxmlformats.org/drawingml/2006/main" noGrp="1"/>
          </p:cNvSpPr>
          <p:nvPr/>
        </p:nvSpPr>
        <p:spPr>
          <a:xfrm xmlns:a="http://schemas.openxmlformats.org/drawingml/2006/main">
            <a:off x="723900" y="25146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475569"/>
                </a:solidFill>
              </a:defRPr>
            </a:pPr>
            <a:r>
              <a:rPr sz="1350" b="0">
                <a:solidFill>
                  <a:srgbClr val="475569"/>
                </a:solidFill>
              </a:rPr>
              <a:t>Neuf cellules de code exécutées sans erreur et sorties contrôlées.</a:t>
            </a:r>
          </a:p>
        </p:txBody>
      </p:sp>
      <p:sp>
        <p:nvSpPr>
          <p:cNvPr id="10" name="">
            <a:extLst xmlns:a="http://schemas.openxmlformats.org/drawingml/2006/main">
              <a:ext uri="{FF2B5EF4-FFF2-40B4-BE49-F238E27FC236}">
                <a16:creationId xmlns:a16="http://schemas.microsoft.com/office/drawing/2014/main" id="{55F52DC1-C56B-4CAE-A72D-6B3602A56D27}"/>
              </a:ext>
            </a:extLst>
          </p:cNvPr>
          <p:cNvSpPr>
            <a:spLocks xmlns:a="http://schemas.openxmlformats.org/drawingml/2006/main" noGrp="1"/>
          </p:cNvSpPr>
          <p:nvPr/>
        </p:nvSpPr>
        <p:spPr>
          <a:xfrm xmlns:a="http://schemas.openxmlformats.org/drawingml/2006/main">
            <a:off x="6362700" y="1562100"/>
            <a:ext cx="5334000" cy="171450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6C97086A-BCDC-4DEE-84C8-B63944F835A6}"/>
              </a:ext>
            </a:extLst>
          </p:cNvPr>
          <p:cNvSpPr>
            <a:spLocks xmlns:a="http://schemas.openxmlformats.org/drawingml/2006/main" noGrp="1"/>
          </p:cNvSpPr>
          <p:nvPr/>
        </p:nvSpPr>
        <p:spPr>
          <a:xfrm xmlns:a="http://schemas.openxmlformats.org/drawingml/2006/main">
            <a:off x="6591300" y="17335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4F7A"/>
                </a:solidFill>
              </a:defRPr>
            </a:pPr>
            <a:r>
              <a:rPr sz="1800" b="1">
                <a:solidFill>
                  <a:srgbClr val="0B4F7A"/>
                </a:solidFill>
              </a:rPr>
              <a:t>Paquet</a:t>
            </a:r>
          </a:p>
        </p:txBody>
      </p:sp>
      <p:sp>
        <p:nvSpPr>
          <p:cNvPr id="12" name="">
            <a:extLst xmlns:a="http://schemas.openxmlformats.org/drawingml/2006/main">
              <a:ext uri="{FF2B5EF4-FFF2-40B4-BE49-F238E27FC236}">
                <a16:creationId xmlns:a16="http://schemas.microsoft.com/office/drawing/2014/main" id="{12290873-0435-41AF-A8E7-0F9AC4A8AB91}"/>
              </a:ext>
            </a:extLst>
          </p:cNvPr>
          <p:cNvSpPr>
            <a:spLocks xmlns:a="http://schemas.openxmlformats.org/drawingml/2006/main" noGrp="1"/>
          </p:cNvSpPr>
          <p:nvPr/>
        </p:nvSpPr>
        <p:spPr>
          <a:xfrm xmlns:a="http://schemas.openxmlformats.org/drawingml/2006/main">
            <a:off x="6591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Autonome</a:t>
            </a:r>
          </a:p>
        </p:txBody>
      </p:sp>
      <p:sp>
        <p:nvSpPr>
          <p:cNvPr id="13" name="">
            <a:extLst xmlns:a="http://schemas.openxmlformats.org/drawingml/2006/main">
              <a:ext uri="{FF2B5EF4-FFF2-40B4-BE49-F238E27FC236}">
                <a16:creationId xmlns:a16="http://schemas.microsoft.com/office/drawing/2014/main" id="{A1486CFC-BC64-47F8-B6D0-483424CBA888}"/>
              </a:ext>
            </a:extLst>
          </p:cNvPr>
          <p:cNvSpPr>
            <a:spLocks xmlns:a="http://schemas.openxmlformats.org/drawingml/2006/main" noGrp="1"/>
          </p:cNvSpPr>
          <p:nvPr/>
        </p:nvSpPr>
        <p:spPr>
          <a:xfrm xmlns:a="http://schemas.openxmlformats.org/drawingml/2006/main">
            <a:off x="6591300" y="25146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475569"/>
                </a:solidFill>
              </a:defRPr>
            </a:pPr>
            <a:r>
              <a:rPr sz="1350" b="0">
                <a:solidFill>
                  <a:srgbClr val="475569"/>
                </a:solidFill>
              </a:rPr>
              <a:t>Données compactes, cœur de pipeline et paramètres inclus.</a:t>
            </a:r>
          </a:p>
        </p:txBody>
      </p:sp>
      <p:sp>
        <p:nvSpPr>
          <p:cNvPr id="14" name="">
            <a:extLst xmlns:a="http://schemas.openxmlformats.org/drawingml/2006/main">
              <a:ext uri="{FF2B5EF4-FFF2-40B4-BE49-F238E27FC236}">
                <a16:creationId xmlns:a16="http://schemas.microsoft.com/office/drawing/2014/main" id="{B307E516-E061-4959-B052-8E3135C2F983}"/>
              </a:ext>
            </a:extLst>
          </p:cNvPr>
          <p:cNvSpPr>
            <a:spLocks xmlns:a="http://schemas.openxmlformats.org/drawingml/2006/main" noGrp="1"/>
          </p:cNvSpPr>
          <p:nvPr/>
        </p:nvSpPr>
        <p:spPr>
          <a:xfrm xmlns:a="http://schemas.openxmlformats.org/drawingml/2006/main">
            <a:off x="495300" y="3676650"/>
            <a:ext cx="5334000" cy="171450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42113400-BD08-4A51-90BE-CC8ADFDBBC63}"/>
              </a:ext>
            </a:extLst>
          </p:cNvPr>
          <p:cNvSpPr>
            <a:spLocks xmlns:a="http://schemas.openxmlformats.org/drawingml/2006/main" noGrp="1"/>
          </p:cNvSpPr>
          <p:nvPr/>
        </p:nvSpPr>
        <p:spPr>
          <a:xfrm xmlns:a="http://schemas.openxmlformats.org/drawingml/2006/main">
            <a:off x="723900" y="38481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4F7A"/>
                </a:solidFill>
              </a:defRPr>
            </a:pPr>
            <a:r>
              <a:rPr sz="1800" b="1">
                <a:solidFill>
                  <a:srgbClr val="0B4F7A"/>
                </a:solidFill>
              </a:rPr>
              <a:t>Interprétation</a:t>
            </a:r>
          </a:p>
        </p:txBody>
      </p:sp>
      <p:sp>
        <p:nvSpPr>
          <p:cNvPr id="16" name="">
            <a:extLst xmlns:a="http://schemas.openxmlformats.org/drawingml/2006/main">
              <a:ext uri="{FF2B5EF4-FFF2-40B4-BE49-F238E27FC236}">
                <a16:creationId xmlns:a16="http://schemas.microsoft.com/office/drawing/2014/main" id="{E05EA4F9-BF67-4AC8-A741-C553218917CE}"/>
              </a:ext>
            </a:extLst>
          </p:cNvPr>
          <p:cNvSpPr>
            <a:spLocks xmlns:a="http://schemas.openxmlformats.org/drawingml/2006/main" noGrp="1"/>
          </p:cNvSpPr>
          <p:nvPr/>
        </p:nvSpPr>
        <p:spPr>
          <a:xfrm xmlns:a="http://schemas.openxmlformats.org/drawingml/2006/main">
            <a:off x="723900" y="42481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Prudente</a:t>
            </a:r>
          </a:p>
        </p:txBody>
      </p:sp>
      <p:sp>
        <p:nvSpPr>
          <p:cNvPr id="17" name="">
            <a:extLst xmlns:a="http://schemas.openxmlformats.org/drawingml/2006/main">
              <a:ext uri="{FF2B5EF4-FFF2-40B4-BE49-F238E27FC236}">
                <a16:creationId xmlns:a16="http://schemas.microsoft.com/office/drawing/2014/main" id="{E30FF2DB-5C4C-48E0-8EFD-1614C786E21E}"/>
              </a:ext>
            </a:extLst>
          </p:cNvPr>
          <p:cNvSpPr>
            <a:spLocks xmlns:a="http://schemas.openxmlformats.org/drawingml/2006/main" noGrp="1"/>
          </p:cNvSpPr>
          <p:nvPr/>
        </p:nvSpPr>
        <p:spPr>
          <a:xfrm xmlns:a="http://schemas.openxmlformats.org/drawingml/2006/main">
            <a:off x="723900" y="46291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475569"/>
                </a:solidFill>
              </a:defRPr>
            </a:pPr>
            <a:r>
              <a:rPr sz="1350" b="0">
                <a:solidFill>
                  <a:srgbClr val="475569"/>
                </a:solidFill>
              </a:rPr>
              <a:t>Une alerte est un signal à vérifier, jamais un diagnostic clinique.</a:t>
            </a:r>
          </a:p>
        </p:txBody>
      </p:sp>
      <p:sp>
        <p:nvSpPr>
          <p:cNvPr id="18" name="">
            <a:extLst xmlns:a="http://schemas.openxmlformats.org/drawingml/2006/main">
              <a:ext uri="{FF2B5EF4-FFF2-40B4-BE49-F238E27FC236}">
                <a16:creationId xmlns:a16="http://schemas.microsoft.com/office/drawing/2014/main" id="{7BD9A006-D400-45B7-8F86-A8084AE3ACC1}"/>
              </a:ext>
            </a:extLst>
          </p:cNvPr>
          <p:cNvSpPr>
            <a:spLocks xmlns:a="http://schemas.openxmlformats.org/drawingml/2006/main" noGrp="1"/>
          </p:cNvSpPr>
          <p:nvPr/>
        </p:nvSpPr>
        <p:spPr>
          <a:xfrm xmlns:a="http://schemas.openxmlformats.org/drawingml/2006/main">
            <a:off x="6362700" y="3676650"/>
            <a:ext cx="5334000" cy="171450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9DC1D49A-4D12-46CB-B7A9-881E83B65A40}"/>
              </a:ext>
            </a:extLst>
          </p:cNvPr>
          <p:cNvSpPr>
            <a:spLocks xmlns:a="http://schemas.openxmlformats.org/drawingml/2006/main" noGrp="1"/>
          </p:cNvSpPr>
          <p:nvPr/>
        </p:nvSpPr>
        <p:spPr>
          <a:xfrm xmlns:a="http://schemas.openxmlformats.org/drawingml/2006/main">
            <a:off x="6591300" y="38481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4F7A"/>
                </a:solidFill>
              </a:defRPr>
            </a:pPr>
            <a:r>
              <a:rPr sz="1800" b="1">
                <a:solidFill>
                  <a:srgbClr val="0B4F7A"/>
                </a:solidFill>
              </a:rPr>
              <a:t>Renforcement</a:t>
            </a:r>
          </a:p>
        </p:txBody>
      </p:sp>
      <p:sp>
        <p:nvSpPr>
          <p:cNvPr id="20" name="">
            <a:extLst xmlns:a="http://schemas.openxmlformats.org/drawingml/2006/main">
              <a:ext uri="{FF2B5EF4-FFF2-40B4-BE49-F238E27FC236}">
                <a16:creationId xmlns:a16="http://schemas.microsoft.com/office/drawing/2014/main" id="{6BCF221F-EB94-445F-ADDA-BF46759E65FA}"/>
              </a:ext>
            </a:extLst>
          </p:cNvPr>
          <p:cNvSpPr>
            <a:spLocks xmlns:a="http://schemas.openxmlformats.org/drawingml/2006/main" noGrp="1"/>
          </p:cNvSpPr>
          <p:nvPr/>
        </p:nvSpPr>
        <p:spPr>
          <a:xfrm xmlns:a="http://schemas.openxmlformats.org/drawingml/2006/main">
            <a:off x="6591300" y="42481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Optionnel</a:t>
            </a:r>
          </a:p>
        </p:txBody>
      </p:sp>
      <p:sp>
        <p:nvSpPr>
          <p:cNvPr id="21" name="">
            <a:extLst xmlns:a="http://schemas.openxmlformats.org/drawingml/2006/main">
              <a:ext uri="{FF2B5EF4-FFF2-40B4-BE49-F238E27FC236}">
                <a16:creationId xmlns:a16="http://schemas.microsoft.com/office/drawing/2014/main" id="{B03AF369-2FF4-4147-9A72-36542E556F73}"/>
              </a:ext>
            </a:extLst>
          </p:cNvPr>
          <p:cNvSpPr>
            <a:spLocks xmlns:a="http://schemas.openxmlformats.org/drawingml/2006/main" noGrp="1"/>
          </p:cNvSpPr>
          <p:nvPr/>
        </p:nvSpPr>
        <p:spPr>
          <a:xfrm xmlns:a="http://schemas.openxmlformats.org/drawingml/2006/main">
            <a:off x="6591300" y="46291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475569"/>
                </a:solidFill>
              </a:defRPr>
            </a:pPr>
            <a:r>
              <a:rPr sz="1350" b="0">
                <a:solidFill>
                  <a:srgbClr val="475569"/>
                </a:solidFill>
              </a:rPr>
              <a:t>Ajouter des labels cliniques synchrones et davantage de journées.</a:t>
            </a:r>
          </a:p>
        </p:txBody>
      </p:sp>
    </p:spTree>
    <p:extLst>
      <p:ext uri="{BB962C8B-B14F-4D97-AF65-F5344CB8AC3E}">
        <p14:creationId xmlns:p14="http://schemas.microsoft.com/office/powerpoint/2010/main" val="189448526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05D08A-89FB-4865-B7C9-E96E151E00AE}"/>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Objectif 3 livré</a:t>
            </a:r>
          </a:p>
        </p:txBody>
      </p:sp>
      <p:sp>
        <p:nvSpPr>
          <p:cNvPr id="2" name="">
            <a:extLst xmlns:a="http://schemas.openxmlformats.org/drawingml/2006/main">
              <a:ext uri="{FF2B5EF4-FFF2-40B4-BE49-F238E27FC236}">
                <a16:creationId xmlns:a16="http://schemas.microsoft.com/office/drawing/2014/main" id="{DC4D9E10-49ED-4610-8B05-586CBD8307D7}"/>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Notebook, données compactes, sorties et documentation sont réunis dans le paquet.</a:t>
            </a:r>
          </a:p>
        </p:txBody>
      </p:sp>
      <p:sp>
        <p:nvSpPr>
          <p:cNvPr id="3" name="">
            <a:extLst xmlns:a="http://schemas.openxmlformats.org/drawingml/2006/main">
              <a:ext uri="{FF2B5EF4-FFF2-40B4-BE49-F238E27FC236}">
                <a16:creationId xmlns:a16="http://schemas.microsoft.com/office/drawing/2014/main" id="{4C5F6E77-542B-423A-B6F0-13D4DEEDAE78}"/>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27E351AA-2C2A-4481-A340-F6BFAFA23E43}"/>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3</a:t>
            </a:r>
          </a:p>
        </p:txBody>
      </p:sp>
      <p:sp>
        <p:nvSpPr>
          <p:cNvPr id="5" name="">
            <a:extLst xmlns:a="http://schemas.openxmlformats.org/drawingml/2006/main">
              <a:ext uri="{FF2B5EF4-FFF2-40B4-BE49-F238E27FC236}">
                <a16:creationId xmlns:a16="http://schemas.microsoft.com/office/drawing/2014/main" id="{5E2C6042-B92D-4DE9-BEC8-66F10ED3F313}"/>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12</a:t>
            </a:r>
          </a:p>
        </p:txBody>
      </p:sp>
      <p:sp>
        <p:nvSpPr>
          <p:cNvPr id="6" name="">
            <a:extLst xmlns:a="http://schemas.openxmlformats.org/drawingml/2006/main">
              <a:ext uri="{FF2B5EF4-FFF2-40B4-BE49-F238E27FC236}">
                <a16:creationId xmlns:a16="http://schemas.microsoft.com/office/drawing/2014/main" id="{0C6963C2-FA4D-4BD2-B94B-9611767D711A}"/>
              </a:ext>
            </a:extLst>
          </p:cNvPr>
          <p:cNvSpPr>
            <a:spLocks xmlns:a="http://schemas.openxmlformats.org/drawingml/2006/main" noGrp="1"/>
          </p:cNvSpPr>
          <p:nvPr/>
        </p:nvSpPr>
        <p:spPr>
          <a:xfrm xmlns:a="http://schemas.openxmlformats.org/drawingml/2006/main">
            <a:off x="495300" y="1619250"/>
            <a:ext cx="11201400" cy="110490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6671222-D89C-40B6-A309-4E616ECEFDB0}"/>
              </a:ext>
            </a:extLst>
          </p:cNvPr>
          <p:cNvSpPr>
            <a:spLocks xmlns:a="http://schemas.openxmlformats.org/drawingml/2006/main" noGrp="1"/>
          </p:cNvSpPr>
          <p:nvPr/>
        </p:nvSpPr>
        <p:spPr>
          <a:xfrm xmlns:a="http://schemas.openxmlformats.org/drawingml/2006/main">
            <a:off x="704850" y="1809750"/>
            <a:ext cx="10782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F172A"/>
                </a:solidFill>
              </a:defRPr>
            </a:pPr>
            <a:r>
              <a:rPr sz="1650" b="0">
                <a:solidFill>
                  <a:srgbClr val="0F172A"/>
                </a:solidFill>
              </a:rPr>
              <a:t>À dire : l’Objectif 3 satisfait le SOW. Le notebook est autonome, exécute réellement la pipeline IceTag et encadre correctement la portée des résultats.</a:t>
            </a:r>
          </a:p>
        </p:txBody>
      </p:sp>
      <p:sp>
        <p:nvSpPr>
          <p:cNvPr id="8" name="">
            <a:extLst xmlns:a="http://schemas.openxmlformats.org/drawingml/2006/main">
              <a:ext uri="{FF2B5EF4-FFF2-40B4-BE49-F238E27FC236}">
                <a16:creationId xmlns:a16="http://schemas.microsoft.com/office/drawing/2014/main" id="{15B91F54-C03B-48FF-A3F6-14A93E072792}"/>
              </a:ext>
            </a:extLst>
          </p:cNvPr>
          <p:cNvSpPr>
            <a:spLocks xmlns:a="http://schemas.openxmlformats.org/drawingml/2006/main" noGrp="1"/>
          </p:cNvSpPr>
          <p:nvPr/>
        </p:nvSpPr>
        <p:spPr>
          <a:xfrm xmlns:a="http://schemas.openxmlformats.org/drawingml/2006/main">
            <a:off x="495300" y="32385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F172A"/>
                </a:solidFill>
              </a:defRPr>
            </a:pPr>
            <a:r>
              <a:rPr sz="2100" b="1">
                <a:solidFill>
                  <a:srgbClr val="0F172A"/>
                </a:solidFill>
              </a:rPr>
              <a:t>Contenu à livrer</a:t>
            </a:r>
          </a:p>
        </p:txBody>
      </p:sp>
      <p:sp>
        <p:nvSpPr>
          <p:cNvPr id="9" name="">
            <a:extLst xmlns:a="http://schemas.openxmlformats.org/drawingml/2006/main">
              <a:ext uri="{FF2B5EF4-FFF2-40B4-BE49-F238E27FC236}">
                <a16:creationId xmlns:a16="http://schemas.microsoft.com/office/drawing/2014/main" id="{434CCAC0-15C4-455C-B496-76A0ABE6A85C}"/>
              </a:ext>
            </a:extLst>
          </p:cNvPr>
          <p:cNvSpPr>
            <a:spLocks xmlns:a="http://schemas.openxmlformats.org/drawingml/2006/main" noGrp="1"/>
          </p:cNvSpPr>
          <p:nvPr/>
        </p:nvSpPr>
        <p:spPr>
          <a:xfrm xmlns:a="http://schemas.openxmlformats.org/drawingml/2006/main">
            <a:off x="495300" y="3695700"/>
            <a:ext cx="4095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F172A"/>
                </a:solidFill>
              </a:defRPr>
            </a:pPr>
            <a:r>
              <a:rPr sz="1650" b="0">
                <a:solidFill>
                  <a:srgbClr val="0F172A"/>
                </a:solidFill>
              </a:rPr>
              <a:t>• code/</a:t>
            </a:r>
          </a:p>
          <a:p xmlns:a="http://schemas.openxmlformats.org/drawingml/2006/main">
            <a:pPr algn="l">
              <a:buNone/>
              <a:defRPr sz="1650" b="0">
                <a:solidFill>
                  <a:srgbClr val="0F172A"/>
                </a:solidFill>
              </a:defRPr>
            </a:pPr>
            <a:r>
              <a:rPr sz="1650" b="0">
                <a:solidFill>
                  <a:srgbClr val="0F172A"/>
                </a:solidFill>
              </a:rPr>
              <a:t>• DONNEES_DEMO/</a:t>
            </a:r>
          </a:p>
          <a:p xmlns:a="http://schemas.openxmlformats.org/drawingml/2006/main">
            <a:pPr algn="l">
              <a:buNone/>
              <a:defRPr sz="1650" b="0">
                <a:solidFill>
                  <a:srgbClr val="0F172A"/>
                </a:solidFill>
              </a:defRPr>
            </a:pPr>
            <a:r>
              <a:rPr sz="1650" b="0">
                <a:solidFill>
                  <a:srgbClr val="0F172A"/>
                </a:solidFill>
              </a:rPr>
              <a:t>• RESULTATS/</a:t>
            </a:r>
          </a:p>
          <a:p xmlns:a="http://schemas.openxmlformats.org/drawingml/2006/main">
            <a:pPr algn="l">
              <a:buNone/>
              <a:defRPr sz="1650" b="0">
                <a:solidFill>
                  <a:srgbClr val="0F172A"/>
                </a:solidFill>
              </a:defRPr>
            </a:pPr>
            <a:r>
              <a:rPr sz="1650" b="0">
                <a:solidFill>
                  <a:srgbClr val="0F172A"/>
                </a:solidFill>
              </a:rPr>
              <a:t>• DOCUMENTATION/</a:t>
            </a:r>
          </a:p>
          <a:p xmlns:a="http://schemas.openxmlformats.org/drawingml/2006/main">
            <a:pPr algn="l">
              <a:buNone/>
              <a:defRPr sz="1650" b="0">
                <a:solidFill>
                  <a:srgbClr val="0F172A"/>
                </a:solidFill>
              </a:defRPr>
            </a:pPr>
            <a:r>
              <a:rPr sz="1650" b="0">
                <a:solidFill>
                  <a:srgbClr val="0F172A"/>
                </a:solidFill>
              </a:rPr>
              <a:t>• RAPPORTS/</a:t>
            </a:r>
          </a:p>
        </p:txBody>
      </p:sp>
      <p:sp>
        <p:nvSpPr>
          <p:cNvPr id="10" name="">
            <a:extLst xmlns:a="http://schemas.openxmlformats.org/drawingml/2006/main">
              <a:ext uri="{FF2B5EF4-FFF2-40B4-BE49-F238E27FC236}">
                <a16:creationId xmlns:a16="http://schemas.microsoft.com/office/drawing/2014/main" id="{5D9E34DD-33FF-45C0-8470-BE2A1E8499FA}"/>
              </a:ext>
            </a:extLst>
          </p:cNvPr>
          <p:cNvSpPr>
            <a:spLocks xmlns:a="http://schemas.openxmlformats.org/drawingml/2006/main" noGrp="1"/>
          </p:cNvSpPr>
          <p:nvPr/>
        </p:nvSpPr>
        <p:spPr>
          <a:xfrm xmlns:a="http://schemas.openxmlformats.org/drawingml/2006/main">
            <a:off x="5924550" y="32385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F172A"/>
                </a:solidFill>
              </a:defRPr>
            </a:pPr>
            <a:r>
              <a:rPr sz="2100" b="1">
                <a:solidFill>
                  <a:srgbClr val="0F172A"/>
                </a:solidFill>
              </a:rPr>
              <a:t>Points de vigilance</a:t>
            </a:r>
          </a:p>
        </p:txBody>
      </p:sp>
      <p:sp>
        <p:nvSpPr>
          <p:cNvPr id="11" name="">
            <a:extLst xmlns:a="http://schemas.openxmlformats.org/drawingml/2006/main">
              <a:ext uri="{FF2B5EF4-FFF2-40B4-BE49-F238E27FC236}">
                <a16:creationId xmlns:a16="http://schemas.microsoft.com/office/drawing/2014/main" id="{09732065-52B6-420E-B5EE-1DAC11AB6FAF}"/>
              </a:ext>
            </a:extLst>
          </p:cNvPr>
          <p:cNvSpPr>
            <a:spLocks xmlns:a="http://schemas.openxmlformats.org/drawingml/2006/main" noGrp="1"/>
          </p:cNvSpPr>
          <p:nvPr/>
        </p:nvSpPr>
        <p:spPr>
          <a:xfrm xmlns:a="http://schemas.openxmlformats.org/drawingml/2006/main">
            <a:off x="5924550" y="3695700"/>
            <a:ext cx="5334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F172A"/>
                </a:solidFill>
              </a:defRPr>
            </a:pPr>
            <a:r>
              <a:rPr sz="1650" b="0">
                <a:solidFill>
                  <a:srgbClr val="0F172A"/>
                </a:solidFill>
              </a:rPr>
              <a:t>• Une alerte n’est pas un diagnostic.</a:t>
            </a:r>
          </a:p>
          <a:p xmlns:a="http://schemas.openxmlformats.org/drawingml/2006/main">
            <a:pPr algn="l">
              <a:buNone/>
              <a:defRPr sz="1650" b="0">
                <a:solidFill>
                  <a:srgbClr val="0F172A"/>
                </a:solidFill>
              </a:defRPr>
            </a:pPr>
            <a:r>
              <a:rPr sz="1650" b="0">
                <a:solidFill>
                  <a:srgbClr val="0F172A"/>
                </a:solidFill>
              </a:rPr>
              <a:t>• Le THI intra-jour reste non concluant.</a:t>
            </a:r>
          </a:p>
          <a:p xmlns:a="http://schemas.openxmlformats.org/drawingml/2006/main">
            <a:pPr algn="l">
              <a:buNone/>
              <a:defRPr sz="1650" b="0">
                <a:solidFill>
                  <a:srgbClr val="0F172A"/>
                </a:solidFill>
              </a:defRPr>
            </a:pPr>
            <a:r>
              <a:rPr sz="1650" b="0">
                <a:solidFill>
                  <a:srgbClr val="0F172A"/>
                </a:solidFill>
              </a:rPr>
              <a:t>• L’alimentation est suggestive sur 8 jours.</a:t>
            </a:r>
          </a:p>
          <a:p xmlns:a="http://schemas.openxmlformats.org/drawingml/2006/main">
            <a:pPr algn="l">
              <a:buNone/>
              <a:defRPr sz="1650" b="0">
                <a:solidFill>
                  <a:srgbClr val="0F172A"/>
                </a:solidFill>
              </a:defRPr>
            </a:pPr>
            <a:r>
              <a:rPr sz="1650" b="0">
                <a:solidFill>
                  <a:srgbClr val="0F172A"/>
                </a:solidFill>
              </a:rPr>
              <a:t>• Les labels cliniques supplémentaires sont optionnels.</a:t>
            </a:r>
          </a:p>
        </p:txBody>
      </p:sp>
    </p:spTree>
    <p:extLst>
      <p:ext uri="{BB962C8B-B14F-4D97-AF65-F5344CB8AC3E}">
        <p14:creationId xmlns:p14="http://schemas.microsoft.com/office/powerpoint/2010/main" val="308120601"/>
      </p:ext>
    </p:extLst>
  </p:cSld>
</p:sld>
</file>

<file path=ppt/theme/theme1.xml><?xml version="1.0" encoding="utf-8"?>
<a:theme xmlns:a="http://schemas.openxmlformats.org/drawingml/2006/main" name="McGill WELL-E">
  <a:themeElements>
    <a:clrScheme name="McGill WELL-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McGill WEL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Aliou Barry</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Aliou Barry</dc:creator>
  <lastModifiedBy>Aliou Barry</lastModifiedBy>
  <dc:title>Presentation</dc:title>
  <dcterms:created xsi:type="dcterms:W3CDTF">2026-07-22T22:12:14.8540000Z</dcterms:created>
  <dcterms:modified xsi:type="dcterms:W3CDTF">2026-07-22T22:12:14.8540000Z</dcterms:modified>
  <dc:description/>
  <category/>
  <keywords/>
</coreProperties>
</file>