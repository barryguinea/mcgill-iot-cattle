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706e63c5e52844fa" Type="http://schemas.openxmlformats.org/officeDocument/2006/relationships/officeDocument" Target="ppt/presentation.xml"/><Relationship Id="Raf4cd5e796d241e8" Type="http://schemas.openxmlformats.org/package/2006/relationships/metadata/core-properties" Target="docProps/core.xml"/><Relationship Id="Rfa023c5ca8cb41ad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364f5c3ac345cd"/>
  </p:sldMasterIdLst>
  <p:sldIdLst>
    <p:sldId xmlns:r="http://schemas.openxmlformats.org/officeDocument/2006/relationships" id="256" r:id="R3c6850c9f9b04851"/>
    <p:sldId xmlns:r="http://schemas.openxmlformats.org/officeDocument/2006/relationships" id="257" r:id="Rb8caf705adb94232"/>
    <p:sldId xmlns:r="http://schemas.openxmlformats.org/officeDocument/2006/relationships" id="258" r:id="Rbfd2c3a4f3374fad"/>
    <p:sldId xmlns:r="http://schemas.openxmlformats.org/officeDocument/2006/relationships" id="259" r:id="R79e66e53da5c403e"/>
    <p:sldId xmlns:r="http://schemas.openxmlformats.org/officeDocument/2006/relationships" id="260" r:id="R3dd619b2bc534e49"/>
    <p:sldId xmlns:r="http://schemas.openxmlformats.org/officeDocument/2006/relationships" id="261" r:id="Re233ca6b92ec499c"/>
    <p:sldId xmlns:r="http://schemas.openxmlformats.org/officeDocument/2006/relationships" id="262" r:id="Rc67d22d0d1a44ea1"/>
    <p:sldId xmlns:r="http://schemas.openxmlformats.org/officeDocument/2006/relationships" id="263" r:id="R0a82d16f4c584e32"/>
    <p:sldId xmlns:r="http://schemas.openxmlformats.org/officeDocument/2006/relationships" id="264" r:id="R6abf913aa9ab4f39"/>
    <p:sldId xmlns:r="http://schemas.openxmlformats.org/officeDocument/2006/relationships" id="265" r:id="Rf7ca21fd235e4155"/>
    <p:sldId xmlns:r="http://schemas.openxmlformats.org/officeDocument/2006/relationships" id="266" r:id="R81b8801e55ef41bd"/>
    <p:sldId xmlns:r="http://schemas.openxmlformats.org/officeDocument/2006/relationships" id="267" r:id="R7c1c8fcc3a9f4ad5"/>
    <p:sldId xmlns:r="http://schemas.openxmlformats.org/officeDocument/2006/relationships" id="268" r:id="R86ece17fa01d4cc2"/>
    <p:sldId xmlns:ns0="http://schemas.openxmlformats.org/officeDocument/2006/relationships" id="271" ns0:id="rId22"/>
    <p:sldId xmlns:r="http://schemas.openxmlformats.org/officeDocument/2006/relationships" id="269" r:id="R5291264e0aa14393"/>
    <p:sldId xmlns:r="http://schemas.openxmlformats.org/officeDocument/2006/relationships" id="270" r:id="R42301d325d9047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474f3d1aadb4073" Type="http://schemas.openxmlformats.org/officeDocument/2006/relationships/viewProps" Target="viewProps.xml"/><Relationship Id="R0a82d16f4c584e32" Type="http://schemas.openxmlformats.org/officeDocument/2006/relationships/slide" Target="slides/slide8.xml"/><Relationship Id="R201e8496865944f4" Type="http://schemas.openxmlformats.org/officeDocument/2006/relationships/tableStyles" Target="tableStyles.xml"/><Relationship Id="R30364f5c3ac345cd" Type="http://schemas.openxmlformats.org/officeDocument/2006/relationships/slideMaster" Target="slideMasters/slideMaster1.xml"/><Relationship Id="R3c6850c9f9b04851" Type="http://schemas.openxmlformats.org/officeDocument/2006/relationships/slide" Target="slides/slide1.xml"/><Relationship Id="R3dd619b2bc534e49" Type="http://schemas.openxmlformats.org/officeDocument/2006/relationships/slide" Target="slides/slide5.xml"/><Relationship Id="R42301d325d90473b" Type="http://schemas.openxmlformats.org/officeDocument/2006/relationships/slide" Target="slides/slide16.xml"/><Relationship Id="R478f704948bc4510" Type="http://schemas.openxmlformats.org/officeDocument/2006/relationships/theme" Target="theme/theme1.xml"/><Relationship Id="R5291264e0aa14393" Type="http://schemas.openxmlformats.org/officeDocument/2006/relationships/slide" Target="slides/slide15.xml"/><Relationship Id="R6abf913aa9ab4f39" Type="http://schemas.openxmlformats.org/officeDocument/2006/relationships/slide" Target="slides/slide9.xml"/><Relationship Id="R79e66e53da5c403e" Type="http://schemas.openxmlformats.org/officeDocument/2006/relationships/slide" Target="slides/slide4.xml"/><Relationship Id="R7c1c8fcc3a9f4ad5" Type="http://schemas.openxmlformats.org/officeDocument/2006/relationships/slide" Target="slides/slide12.xml"/><Relationship Id="R81b8801e55ef41bd" Type="http://schemas.openxmlformats.org/officeDocument/2006/relationships/slide" Target="slides/slide11.xml"/><Relationship Id="R86ece17fa01d4cc2" Type="http://schemas.openxmlformats.org/officeDocument/2006/relationships/slide" Target="slides/slide13.xml"/><Relationship Id="Ra200ba5609bc46c5" Type="http://schemas.openxmlformats.org/officeDocument/2006/relationships/presProps" Target="presProps.xml"/><Relationship Id="Rb8caf705adb94232" Type="http://schemas.openxmlformats.org/officeDocument/2006/relationships/slide" Target="slides/slide2.xml"/><Relationship Id="Rbfd2c3a4f3374fad" Type="http://schemas.openxmlformats.org/officeDocument/2006/relationships/slide" Target="slides/slide3.xml"/><Relationship Id="Rc67d22d0d1a44ea1" Type="http://schemas.openxmlformats.org/officeDocument/2006/relationships/slide" Target="slides/slide7.xml"/><Relationship Id="Re233ca6b92ec499c" Type="http://schemas.openxmlformats.org/officeDocument/2006/relationships/slide" Target="slides/slide6.xml"/><Relationship Id="Rf7ca21fd235e4155" Type="http://schemas.openxmlformats.org/officeDocument/2006/relationships/slide" Target="slides/slide10.xml"/><Relationship Id="rId22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a50ec91c6009452d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8a562f33f5cb4a8c" Type="http://schemas.openxmlformats.org/officeDocument/2006/relationships/slideLayout" Target="../slideLayouts/slideLayout1.xml"/><Relationship Id="Rf76a214bcee04d99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562f33f5cb4a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McGill WELL-E">
  <a:themeElements>
    <a:clrScheme name="McGill WELL-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cGill WELL-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51dedcbdf2084a5a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d44572507120452a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7762bd2c5fec4e9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697b74da821b44a3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70c98df042364c6a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24a43eac8f704625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81fc132bde64438c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6aee52d82549418e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5fc382f123a1477d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0102df81c3a94194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9a11f232a3844fc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ceb1758d275b4052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0280e530ec4a472c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d50cf2f170ad438e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9dfb7667ee7349c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0A2BEF2-5AB8-469A-B3F5-F8FE3F32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0"/>
            <a:ext cx="2619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6FB23F9-6D3B-4F2E-AEB6-DB7D3F69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4E5"/>
          </a:solidFill>
          <a:ln xmlns:a="http://schemas.openxmlformats.org/drawingml/2006/main" w="0">
            <a:solidFill>
              <a:srgbClr val="65C4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E1B7471-0244-4B25-A614-462CE14C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rPr>
              <a:t>McGILL / WELL-E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9E0F3BB-1298-45E6-A681-AA847C0C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Bilan des travaux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8664817-D39D-4970-95B8-3BA49773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762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95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rPr>
              <a:t>Objectif 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6E112F1-2A30-4264-981E-46894A8E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Application et évaluation de la pipeline de détection sur les données IceTag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A9BBBA5-2315-417F-B7A9-C4CB603A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Réunion du 30 juillet 2026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3FDF8EF-EEFA-4BAC-824D-AFADC92A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4292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Aliou Barry</a:t>
            </a:r>
          </a:p>
        </p:txBody>
      </p:sp>
    </p:spTree>
    <p:extLst>
      <p:ext uri="{BB962C8B-B14F-4D97-AF65-F5344CB8AC3E}">
        <p14:creationId xmlns:p14="http://schemas.microsoft.com/office/powerpoint/2010/main" val="3430154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E0A59E9-CB08-4733-92C6-89CDF1C0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rPr>
              <a:t>CONTEXTE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B4C566A-41FD-4905-8551-BA2F2630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Le mandat de l’objectif 1</a:t>
            </a:r>
          </a:p>
        </p:txBody>
      </p:sp>
      <p:cxnSp>
        <p:nvCxnSpPr>
          <p:cNvPr id="66" name="Connecteur droit avec flèche 23"/>
          <p:cNvCxnSpPr/>
          <p:nvPr/>
        </p:nvCxnSpPr>
        <p:spPr>
          <a:xfrm xmlns:a="http://schemas.openxmlformats.org/drawingml/2006/main">
            <a:off x="495300" y="12763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0"/>
            </a:solidFill>
            <a:prstDash val="solid"/>
          </a:ln>
        </p:spPr>
      </p:cxn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FC92921-888A-470E-9D8A-1CD5963D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EF75E30-F3F2-4EBF-A96D-4F50E902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Appliquer et évaluer une pipeline existante de détection sur quatre nouveaux corpus IceTag.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7B8824C-DD20-47C3-84F4-92BE373C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098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rPr>
              <a:t>1.1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76298E8-D76B-4664-BAFA-0E8D68E2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098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Adapter les entrées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62CD4C5-C15B-4A8C-B036-99531820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098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Rendre les quatre expériences compatibles avec la pipeline.</a:t>
            </a:r>
          </a:p>
        </p:txBody>
      </p:sp>
      <p:cxnSp>
        <p:nvCxnSpPr>
          <p:cNvPr id="72" name="Connecteur droit avec flèche 29"/>
          <p:cNvCxnSpPr/>
          <p:nvPr/>
        </p:nvCxnSpPr>
        <p:spPr>
          <a:xfrm xmlns:a="http://schemas.openxmlformats.org/drawingml/2006/main">
            <a:off x="1295400" y="3133725"/>
            <a:ext cx="9715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0"/>
            </a:solidFill>
            <a:prstDash val="solid"/>
          </a:ln>
        </p:spPr>
      </p:cxn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FAB9377-73B5-4999-9F18-FC9EA937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90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rPr>
              <a:t>1.1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1AAB694-95C4-4E37-9836-4EA6C67F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909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Exécuter la pipeline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398CE75-E23D-4375-92BC-42E11A28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909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Produire scores, épisodes et alertes avec les paramètres existants.</a:t>
            </a:r>
          </a:p>
        </p:txBody>
      </p:sp>
      <p:cxnSp>
        <p:nvCxnSpPr>
          <p:cNvPr id="76" name="Connecteur droit avec flèche 33"/>
          <p:cNvCxnSpPr/>
          <p:nvPr/>
        </p:nvCxnSpPr>
        <p:spPr>
          <a:xfrm xmlns:a="http://schemas.openxmlformats.org/drawingml/2006/main">
            <a:off x="1295400" y="3914775"/>
            <a:ext cx="9715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0"/>
            </a:solidFill>
            <a:prstDash val="solid"/>
          </a:ln>
        </p:spPr>
      </p:cxn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E5E8EC1-C80C-4E4A-B239-E96C8E9E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487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4877E"/>
                </a:solidFill>
                <a:latin typeface="Helvetica Neue"/>
                <a:ea typeface="Helvetica Neue"/>
                <a:cs typeface="Helvetica Neue"/>
              </a:rPr>
              <a:t>1.2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B025A4B-832A-490A-8232-CA29EE32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719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Évaluer la concordance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24B198E-28AF-4468-A788-753FC09C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7195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Aligner les alertes avec les scans et les informations disponibles.</a:t>
            </a:r>
          </a:p>
        </p:txBody>
      </p:sp>
      <p:cxnSp>
        <p:nvCxnSpPr>
          <p:cNvPr id="80" name="Connecteur droit avec flèche 37"/>
          <p:cNvCxnSpPr/>
          <p:nvPr/>
        </p:nvCxnSpPr>
        <p:spPr>
          <a:xfrm xmlns:a="http://schemas.openxmlformats.org/drawingml/2006/main">
            <a:off x="1295400" y="4695825"/>
            <a:ext cx="9715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0"/>
            </a:solidFill>
            <a:prstDash val="solid"/>
          </a:ln>
        </p:spPr>
      </p:cxn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9C37EC32-1B3D-437F-96A6-CA3CA0F2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487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4877E"/>
                </a:solidFill>
                <a:latin typeface="Helvetica Neue"/>
                <a:ea typeface="Helvetica Neue"/>
                <a:cs typeface="Helvetica Neue"/>
              </a:rPr>
              <a:t>1.2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894699F-B165-452D-997D-11F68EA9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530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Documenter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7BF906AE-8E5B-4B88-B4C0-A185D34B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530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Fournir données traitées, tableaux et notes de reproductibilité.</a:t>
            </a:r>
          </a:p>
        </p:txBody>
      </p:sp>
      <p:cxnSp>
        <p:nvCxnSpPr>
          <p:cNvPr id="84" name="Connecteur droit avec flèche 41"/>
          <p:cNvCxnSpPr/>
          <p:nvPr/>
        </p:nvCxnSpPr>
        <p:spPr>
          <a:xfrm xmlns:a="http://schemas.openxmlformats.org/drawingml/2006/main">
            <a:off x="1295400" y="5476875"/>
            <a:ext cx="9715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0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7259900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A8B9B00-5CB3-4281-B1BA-FA116CE6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rPr>
              <a:t>BILAN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AA5A9D-F2D4-440C-BB87-0AA5D3E9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Le travail réalisé en synthèse</a:t>
            </a:r>
          </a:p>
        </p:txBody>
      </p:sp>
      <p:cxnSp>
        <p:nvCxnSpPr>
          <p:cNvPr id="25" name="Connecteur droit avec flèche 18"/>
          <p:cNvCxnSpPr/>
          <p:nvPr/>
        </p:nvCxnSpPr>
        <p:spPr>
          <a:xfrm xmlns:a="http://schemas.openxmlformats.org/drawingml/2006/main">
            <a:off x="495300" y="12763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0"/>
            </a:solidFill>
            <a:prstDash val="solid"/>
          </a:ln>
        </p:spPr>
      </p:cxn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3F972F6-E9A2-429A-B435-AF0BF2FF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AE8A661-D3A9-4B1E-89E2-C946CBED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Les quatre saisons ont été traitées et les sorties sont disponibles à trois niveaux : intervalle, notification et synthèse.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D4384D6-79FD-4922-84F0-C64A98FC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28900"/>
            <a:ext cx="33528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02C7DAF-E56D-4340-A635-0ED0974C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28900"/>
            <a:ext cx="33528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D8632FA-CDB6-46A8-B3CD-72376CCF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28900"/>
            <a:ext cx="33528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426C70B-A018-498F-A1EE-70231667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rPr>
              <a:t>4 / 4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6EB0549-BC67-4AA2-8EC2-D79EF13A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saisons IceTag traitées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467D6E4-45BB-4A15-A644-6D3932CA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861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487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 i="0">
                <a:solidFill>
                  <a:srgbClr val="14877E"/>
                </a:solidFill>
                <a:latin typeface="Helvetica Neue"/>
                <a:ea typeface="Helvetica Neue"/>
                <a:cs typeface="Helvetica Neue"/>
              </a:rPr>
              <a:t>375 031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C34BAE3-3816-4D07-8C1F-E0F570AC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528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intervalles de 15 minutes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28945FA-CEA2-4826-8A2D-6FAF7C2A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8610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7656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 i="0">
                <a:solidFill>
                  <a:srgbClr val="7656B6"/>
                </a:solidFill>
                <a:latin typeface="Helvetica Neue"/>
                <a:ea typeface="Helvetica Neue"/>
                <a:cs typeface="Helvetica Neue"/>
              </a:rPr>
              <a:t>385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BF4764E-2ADF-438E-9987-868482B4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528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notifications de la baseline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7C01AFA-82A4-49AF-BECF-E8941598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67350"/>
            <a:ext cx="11125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A7671E2-B311-491B-B2C7-EDC39BA5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483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Les quatre livrables prévus au SOW sont présents et reliés aux résultats.</a:t>
            </a:r>
          </a:p>
        </p:txBody>
      </p:sp>
    </p:spTree>
    <p:extLst>
      <p:ext uri="{BB962C8B-B14F-4D97-AF65-F5344CB8AC3E}">
        <p14:creationId xmlns:p14="http://schemas.microsoft.com/office/powerpoint/2010/main" val="11584266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Rectangle 55">
            <a:extLst xmlns:a="http://schemas.openxmlformats.org/drawingml/2006/main">
              <a:ext uri="{FF2B5EF4-FFF2-40B4-BE49-F238E27FC236}">
                <a16:creationId xmlns:a16="http://schemas.microsoft.com/office/drawing/2014/main" id="{79FD047E-A7AA-4800-BC37-BB3D12D0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rPr>
              <a:t>DONNÉES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00E83D9-5E65-4DB8-B2EC-114F3654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Quatre corpus, quatre contextes expérimentaux</a:t>
            </a:r>
          </a:p>
        </p:txBody>
      </p:sp>
      <p:cxnSp>
        <p:nvCxnSpPr>
          <p:cNvPr id="64" name="Connecteur droit avec flèche 57"/>
          <p:cNvCxnSpPr/>
          <p:nvPr/>
        </p:nvCxnSpPr>
        <p:spPr>
          <a:xfrm xmlns:a="http://schemas.openxmlformats.org/drawingml/2006/main">
            <a:off x="495300" y="12763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0"/>
            </a:solidFill>
            <a:prstDash val="solid"/>
          </a:ln>
        </p:spPr>
      </p:cxn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A1507E5-DFD9-47CB-89F3-DCCDE910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9A1DF1C-3E53-44DA-8C1E-13C75D61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228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752D22A-B3E8-47CE-9B79-5BF5B907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81175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Saison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EEBC8D9-2CB8-4151-814C-986FD339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76400"/>
            <a:ext cx="1762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AB80733-4D99-4305-9DB4-A951C863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81175"/>
            <a:ext cx="1571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Profils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842EBA1-0A80-4B3D-A2BE-90918ACE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1D870EB-46D5-4C6E-B318-A84FBDAD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781175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Intervalles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A04FDD7-4818-4C95-A942-029DF6A5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676400"/>
            <a:ext cx="2714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FBDF56B-3DC7-4746-A8A6-24D16B6B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781175"/>
            <a:ext cx="252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Période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C4E3AC2-514B-41DB-90DE-4F0909B7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76400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557C036-8A2B-4586-9791-D6CAFAD9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81175"/>
            <a:ext cx="2076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Couverture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FE55957-FE67-4560-851C-6F178C6E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228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94AA242-AE7B-4DAB-B314-74F1616B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66975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Winter 2019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6D5DF8C-B0F4-4128-BE11-C29CB5C1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62200"/>
            <a:ext cx="1762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FD68C07-41C8-4376-9A6F-2A46CD93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66975"/>
            <a:ext cx="1571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820C0FA9-85F1-41E0-BDC8-32888FA2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28ACA79-D78A-4697-9AA1-DC12285D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66975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136 929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880513F-0369-4BC6-BEF7-CA735D3A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62200"/>
            <a:ext cx="2714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B574BDB-2DDC-42BD-A1B7-9E22A28C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466975"/>
            <a:ext cx="252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janv. - avr. 2019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1443B844-7DEC-4A01-976E-1245E62E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62200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CA8482F-C1FF-4C09-A7D4-7DA9B6D0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66975"/>
            <a:ext cx="2076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94,4 %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A478BE80-C45B-4360-ADB3-4C6D42A8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0"/>
            <a:ext cx="228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8717604-17F5-43FC-80B8-2D8426EC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52775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Summer 2019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05B515A-5045-45B3-9867-6AE8FC66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48000"/>
            <a:ext cx="1762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CBC6CE9-E759-4A43-AD13-3F2B6781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52775"/>
            <a:ext cx="1571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364EA550-D737-4E4F-8750-FDB852FA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D237219-C0A5-4FE0-B30A-D8D01EC6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152775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139 111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9DD57336-6CF8-4D5F-A4F1-579D866F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048000"/>
            <a:ext cx="2714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82BE4497-69E3-470C-A6DA-23357E84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152775"/>
            <a:ext cx="252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juin - sept. 2019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8D450B82-A1F2-4137-82DE-5EA9EB41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48000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A68FFAC4-43D7-4E71-8247-598871C6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52775"/>
            <a:ext cx="2076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98,3 %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1BA330E8-2BDB-41D2-9DC0-0E8FE538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33800"/>
            <a:ext cx="228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FB4487CF-35E1-4C5A-AFCB-A29C2063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38575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Fall 2019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E5A8DFF5-A9EF-4F71-93D9-31702A5D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33800"/>
            <a:ext cx="1762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C59AD11E-D45B-45A7-932F-E4087CBD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38575"/>
            <a:ext cx="1571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61E22E43-AF06-4BD6-B941-31C5ACE4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A14132DB-CDCD-4026-A1A4-C241C443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838575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93 860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568FE1BF-ABCB-4D7C-B853-08FF5537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733800"/>
            <a:ext cx="2714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7A197DE3-BBB8-45A1-9B87-CFE1F2DD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838575"/>
            <a:ext cx="252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nov. - déc. 2019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C3BEF0A9-A9BA-4A6B-8ECE-EE353322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33800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082FB069-B69F-4D69-A312-5EE0529B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38575"/>
            <a:ext cx="2076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99,3 %</a:t>
            </a: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DE93C805-2864-4D43-87EF-921E5C10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19600"/>
            <a:ext cx="228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226E7C12-9D5F-44AF-8FA9-F5DB6808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24375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Fall 2021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844152E1-7F17-4162-8FCF-21F3919A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19600"/>
            <a:ext cx="1762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BBB98080-D0BF-446A-8189-28F6854D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524375"/>
            <a:ext cx="1571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10 traités / 8 complets</a:t>
            </a:r>
          </a:p>
        </p:txBody>
      </p:sp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73FFE9D1-22F7-4FC9-B21A-31C7B959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A3991CFB-2FB0-4BE4-B97D-2F22C86D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524375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5 131</a:t>
            </a:r>
          </a:p>
        </p:txBody>
      </p:sp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A17D8B32-E6AA-4BF2-810C-09B64FC0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419600"/>
            <a:ext cx="2714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66EA0FDC-79DA-4F41-96FB-BB962026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524375"/>
            <a:ext cx="2524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30 nov. - 6 déc.</a:t>
            </a:r>
          </a:p>
        </p:txBody>
      </p:sp>
      <p:sp>
        <p:nvSpPr>
          <p:cNvPr id="53" name="Rectangle 52">
            <a:extLst xmlns:a="http://schemas.openxmlformats.org/drawingml/2006/main">
              <a:ext uri="{FF2B5EF4-FFF2-40B4-BE49-F238E27FC236}">
                <a16:creationId xmlns:a16="http://schemas.microsoft.com/office/drawing/2014/main" id="{DA69FC9E-5AB8-4DAE-8C7B-E2E35C23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19600"/>
            <a:ext cx="2266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Rectangle 53">
            <a:extLst xmlns:a="http://schemas.openxmlformats.org/drawingml/2006/main">
              <a:ext uri="{FF2B5EF4-FFF2-40B4-BE49-F238E27FC236}">
                <a16:creationId xmlns:a16="http://schemas.microsoft.com/office/drawing/2014/main" id="{7F58E3AA-1289-4096-9E3C-808D9E1B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524375"/>
            <a:ext cx="2076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100,0 %</a:t>
            </a:r>
          </a:p>
        </p:txBody>
      </p:sp>
      <p:sp>
        <p:nvSpPr>
          <p:cNvPr id="55" name="Rectangle 54">
            <a:extLst xmlns:a="http://schemas.openxmlformats.org/drawingml/2006/main">
              <a:ext uri="{FF2B5EF4-FFF2-40B4-BE49-F238E27FC236}">
                <a16:creationId xmlns:a16="http://schemas.microsoft.com/office/drawing/2014/main" id="{FD39BEB2-F23B-4D55-B927-5AC81539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673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L’inventaire complet a permis d’identifier les bonnes sources; l’analyse porte ensuite sur les quatre corpus définis dans le SOW.</a:t>
            </a:r>
          </a:p>
        </p:txBody>
      </p:sp>
    </p:spTree>
    <p:extLst>
      <p:ext uri="{BB962C8B-B14F-4D97-AF65-F5344CB8AC3E}">
        <p14:creationId xmlns:p14="http://schemas.microsoft.com/office/powerpoint/2010/main" val="13698899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EE2E62D-CCCC-44C5-9248-66DC5F51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rPr>
              <a:t>TRAVAIL RÉALISÉ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1726ACC-0DC2-4AC8-B88B-3523B336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Cinq étapes pour rendre l’analyse reproductible</a:t>
            </a:r>
          </a:p>
        </p:txBody>
      </p:sp>
      <p:cxnSp>
        <p:nvCxnSpPr>
          <p:cNvPr id="73" name="Connecteur droit avec flèche 28"/>
          <p:cNvCxnSpPr/>
          <p:nvPr/>
        </p:nvCxnSpPr>
        <p:spPr>
          <a:xfrm xmlns:a="http://schemas.openxmlformats.org/drawingml/2006/main">
            <a:off x="495300" y="12763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0"/>
            </a:solidFill>
            <a:prstDash val="solid"/>
          </a:ln>
        </p:spPr>
      </p:cxn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304ACD7-F15F-406C-AC0C-9F496DC4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796C88C-3E82-4D03-8429-F1EAB9FA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cxnSp>
        <p:nvCxnSpPr>
          <p:cNvPr id="76" name="Connecteur droit avec flèche 31"/>
          <p:cNvCxnSpPr/>
          <p:nvPr/>
        </p:nvCxnSpPr>
        <p:spPr>
          <a:xfrm xmlns:a="http://schemas.openxmlformats.org/drawingml/2006/main">
            <a:off x="495300" y="2247900"/>
            <a:ext cx="18478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474E5"/>
            </a:solidFill>
            <a:prstDash val="solid"/>
          </a:ln>
        </p:spPr>
      </p:cxn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5D688E9-6F9D-4750-96CE-9904455E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289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Inventorier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7EA3F10-BCB4-4D8B-B7BB-355F8924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14700"/>
            <a:ext cx="190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Formats, périodes, identités et qualité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CDE5310-462F-4A7E-8996-EA29399E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526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487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4877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cxnSp>
        <p:nvCxnSpPr>
          <p:cNvPr id="80" name="Connecteur droit avec flèche 35"/>
          <p:cNvCxnSpPr/>
          <p:nvPr/>
        </p:nvCxnSpPr>
        <p:spPr>
          <a:xfrm xmlns:a="http://schemas.openxmlformats.org/drawingml/2006/main">
            <a:off x="2724150" y="2247900"/>
            <a:ext cx="18478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4877E"/>
            </a:solidFill>
            <a:prstDash val="solid"/>
          </a:ln>
        </p:spPr>
      </p:cxn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FCAAB89-2B5A-43A9-BAF9-3ED4CA98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289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Harmoniser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7CB9A07-DB4B-45A2-A8BF-8871AFFA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14700"/>
            <a:ext cx="190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Schéma commun Cow, T et mesures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7B456AA-A298-412D-A02E-F9B8F36B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526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84" name="Connecteur droit avec flèche 39"/>
          <p:cNvCxnSpPr/>
          <p:nvPr/>
        </p:nvCxnSpPr>
        <p:spPr>
          <a:xfrm xmlns:a="http://schemas.openxmlformats.org/drawingml/2006/main">
            <a:off x="4953000" y="2247900"/>
            <a:ext cx="18478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474E5"/>
            </a:solidFill>
            <a:prstDash val="solid"/>
          </a:ln>
        </p:spPr>
      </p:cxn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6754C58-050E-4EC8-8C75-0B739287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289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Exécuter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DCDE72A-B23E-4F21-9ABD-BE5FC96C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14700"/>
            <a:ext cx="190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Même logique sur les quatre saisons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72BDAFA-4BC9-449E-9A7F-C28967B3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526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487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4877E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cxnSp>
        <p:nvCxnSpPr>
          <p:cNvPr id="88" name="Connecteur droit avec flèche 43"/>
          <p:cNvCxnSpPr/>
          <p:nvPr/>
        </p:nvCxnSpPr>
        <p:spPr>
          <a:xfrm xmlns:a="http://schemas.openxmlformats.org/drawingml/2006/main">
            <a:off x="7181850" y="2247900"/>
            <a:ext cx="18478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4877E"/>
            </a:solidFill>
            <a:prstDash val="solid"/>
          </a:ln>
        </p:spPr>
      </p:cxn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D07E290-2907-4697-848B-D2AEE0E2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289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Évaluer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015C157-4F94-431C-8971-866FD94A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14700"/>
            <a:ext cx="190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Scans, SLS, couverture et contexte troupeau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FD5AA6B-D8CA-4472-B39D-0FAFAA1B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7526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cxnSp>
        <p:nvCxnSpPr>
          <p:cNvPr id="92" name="Connecteur droit avec flèche 47"/>
          <p:cNvCxnSpPr/>
          <p:nvPr/>
        </p:nvCxnSpPr>
        <p:spPr>
          <a:xfrm xmlns:a="http://schemas.openxmlformats.org/drawingml/2006/main">
            <a:off x="9410700" y="2247900"/>
            <a:ext cx="18478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474E5"/>
            </a:solidFill>
            <a:prstDash val="solid"/>
          </a:ln>
        </p:spPr>
      </p:cxn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3F06EC2-3CFD-4290-8EC7-9F0F89D9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289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Livrer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494B49F-103C-4B03-B439-F80A4FD9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14700"/>
            <a:ext cx="190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CSV, notes, rapport et annexes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1F90DD09-5E9A-42FA-A4E2-8A96C376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10150"/>
            <a:ext cx="11125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11AC060C-F38E-4994-B7E2-6312758E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67325"/>
            <a:ext cx="1062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487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4877E"/>
                </a:solidFill>
                <a:latin typeface="Helvetica Neue"/>
                <a:ea typeface="Helvetica Neue"/>
                <a:cs typeface="Helvetica Neue"/>
              </a:rPr>
              <a:t>Résultat : une même chaîne peut lire les quatre saisons sans réécrire la logique pour chaque expérience.</a:t>
            </a:r>
          </a:p>
        </p:txBody>
      </p:sp>
    </p:spTree>
    <p:extLst>
      <p:ext uri="{BB962C8B-B14F-4D97-AF65-F5344CB8AC3E}">
        <p14:creationId xmlns:p14="http://schemas.microsoft.com/office/powerpoint/2010/main" val="4361349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63DBAA69-9717-498A-819E-CC9C4A68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rPr>
              <a:t>MÉTHODE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F04AFDE-BD95-4A63-8DDA-5904F890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La chaîne analytique appliquée</a:t>
            </a:r>
          </a:p>
        </p:txBody>
      </p:sp>
      <p:cxnSp>
        <p:nvCxnSpPr>
          <p:cNvPr id="44" name="Connecteur droit avec flèche 37"/>
          <p:cNvCxnSpPr/>
          <p:nvPr/>
        </p:nvCxnSpPr>
        <p:spPr>
          <a:xfrm xmlns:a="http://schemas.openxmlformats.org/drawingml/2006/main">
            <a:off x="495300" y="12763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0"/>
            </a:solidFill>
            <a:prstDash val="solid"/>
          </a:ln>
        </p:spPr>
      </p:cxn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1272478-85E8-4351-B2BF-8F11949D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25DE560-CB22-4B80-8729-EF878BEF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52650"/>
            <a:ext cx="16192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B71F4B7-BB13-42FD-9922-7D3C5449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6BC2A3E-67AA-4E0E-B715-C90CB2A9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Données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F322FCC-0673-4A45-81FD-54CA4812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IceTag brut</a:t>
            </a:r>
          </a:p>
        </p:txBody>
      </p:sp>
      <p:sp>
        <p:nvSpPr>
          <p:cNvPr id="9" name="Chevron 8">
            <a:extLst xmlns:a="http://schemas.openxmlformats.org/drawingml/2006/main">
              <a:ext uri="{FF2B5EF4-FFF2-40B4-BE49-F238E27FC236}">
                <a16:creationId xmlns:a16="http://schemas.microsoft.com/office/drawing/2014/main" id="{BE6B4482-7433-4080-BBA5-95EB60C2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48000"/>
            <a:ext cx="1333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474E5"/>
          </a:solidFill>
          <a:ln xmlns:a="http://schemas.openxmlformats.org/drawingml/2006/main" w="0">
            <a:solidFill>
              <a:srgbClr val="2474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F9003AA-6C39-4861-AE9C-5BF4ABF2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52650"/>
            <a:ext cx="16192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F7ADB8B-8B94-4D36-95F1-3BD66CAD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ECD21AC-2864-4F77-89B0-31B95288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97180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15 min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C588738-67F3-406A-AEEF-E2AB6AF9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52425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Agrégation</a:t>
            </a:r>
          </a:p>
        </p:txBody>
      </p:sp>
      <p:sp>
        <p:nvSpPr>
          <p:cNvPr id="14" name="Chevron 13">
            <a:extLst xmlns:a="http://schemas.openxmlformats.org/drawingml/2006/main">
              <a:ext uri="{FF2B5EF4-FFF2-40B4-BE49-F238E27FC236}">
                <a16:creationId xmlns:a16="http://schemas.microsoft.com/office/drawing/2014/main" id="{8ED37E0C-3D0B-4D5D-8049-09152AE3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48000"/>
            <a:ext cx="1333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474E5"/>
          </a:solidFill>
          <a:ln xmlns:a="http://schemas.openxmlformats.org/drawingml/2006/main" w="0">
            <a:solidFill>
              <a:srgbClr val="2474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E89F5D8-957B-415B-B162-84FCF9AF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52650"/>
            <a:ext cx="16192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159B606-ED82-43D6-9657-52A8A455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6FFEC143-4249-44AB-864D-D70D0B19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7180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Features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FEC59FBC-59A3-4484-A52C-70727272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2425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Profils robustes</a:t>
            </a:r>
          </a:p>
        </p:txBody>
      </p:sp>
      <p:sp>
        <p:nvSpPr>
          <p:cNvPr id="19" name="Chevron 18">
            <a:extLst xmlns:a="http://schemas.openxmlformats.org/drawingml/2006/main">
              <a:ext uri="{FF2B5EF4-FFF2-40B4-BE49-F238E27FC236}">
                <a16:creationId xmlns:a16="http://schemas.microsoft.com/office/drawing/2014/main" id="{CD74D3F8-FC5D-4CBD-AE38-57313329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1333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474E5"/>
          </a:solidFill>
          <a:ln xmlns:a="http://schemas.openxmlformats.org/drawingml/2006/main" w="0">
            <a:solidFill>
              <a:srgbClr val="2474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A73F922-3C77-455B-A642-5D1122BE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52650"/>
            <a:ext cx="16192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8536F45-926A-4BD3-862D-B684A108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EB656141-7986-450A-94EB-3978B76C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7180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IF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60CCB64-2575-48A1-9923-9CF3527E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Anomalies par vache</a:t>
            </a:r>
          </a:p>
        </p:txBody>
      </p:sp>
      <p:sp>
        <p:nvSpPr>
          <p:cNvPr id="24" name="Chevron 23">
            <a:extLst xmlns:a="http://schemas.openxmlformats.org/drawingml/2006/main">
              <a:ext uri="{FF2B5EF4-FFF2-40B4-BE49-F238E27FC236}">
                <a16:creationId xmlns:a16="http://schemas.microsoft.com/office/drawing/2014/main" id="{3474AA11-1BB3-4CF9-9FCA-CBF26CEE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48000"/>
            <a:ext cx="1333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474E5"/>
          </a:solidFill>
          <a:ln xmlns:a="http://schemas.openxmlformats.org/drawingml/2006/main" w="0">
            <a:solidFill>
              <a:srgbClr val="2474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DFF8DD53-8C8C-4261-9F03-7F7E58A4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52650"/>
            <a:ext cx="16192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4F372F5-7F9D-4230-9A5E-FD9EC618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360A09D4-C4CF-48B5-BA66-D2298169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7180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Règles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F7C73A46-5656-42F1-9B76-72C69281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2425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Persistance + cohérence</a:t>
            </a:r>
          </a:p>
        </p:txBody>
      </p:sp>
      <p:sp>
        <p:nvSpPr>
          <p:cNvPr id="29" name="Chevron 28">
            <a:extLst xmlns:a="http://schemas.openxmlformats.org/drawingml/2006/main">
              <a:ext uri="{FF2B5EF4-FFF2-40B4-BE49-F238E27FC236}">
                <a16:creationId xmlns:a16="http://schemas.microsoft.com/office/drawing/2014/main" id="{E3A6D0B6-2C64-48A3-A0C3-7A0898B1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48000"/>
            <a:ext cx="1333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474E5"/>
          </a:solidFill>
          <a:ln xmlns:a="http://schemas.openxmlformats.org/drawingml/2006/main" w="0">
            <a:solidFill>
              <a:srgbClr val="2474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436DBFA8-B63A-4204-9CF1-C76F3E6D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52650"/>
            <a:ext cx="16192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0C08BAF9-E9E1-43AF-9823-9DFA3B69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62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65C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65C4E5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DFE19AA0-DF35-41D0-8CFB-8789AAC4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7180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/ B / C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A08AFEF-4F27-4E07-928A-6115CFB9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2425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D2D8D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D2D8DF"/>
                </a:solidFill>
                <a:latin typeface="Helvetica Neue"/>
                <a:ea typeface="Helvetica Neue"/>
                <a:cs typeface="Helvetica Neue"/>
              </a:rPr>
              <a:t>Contexte troupeau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7A630390-F6D5-449A-A95B-1D04F466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149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Paramètres communs : 15 min | IF 6 % | persistance 7 h | cooldown 12 h | couverture ≥ 25 %.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747C6440-AB15-4C31-8CE8-393972F5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7690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B9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B94A4A"/>
                </a:solidFill>
                <a:latin typeface="Helvetica Neue"/>
                <a:ea typeface="Helvetica Neue"/>
                <a:cs typeface="Helvetica Neue"/>
              </a:rPr>
              <a:t>Étape 1 : IF + règles produit une notification. Étape 2 : A/B/C en fixe la priorité.</a:t>
            </a:r>
          </a:p>
        </p:txBody>
      </p:sp>
    </p:spTree>
    <p:extLst>
      <p:ext uri="{BB962C8B-B14F-4D97-AF65-F5344CB8AC3E}">
        <p14:creationId xmlns:p14="http://schemas.microsoft.com/office/powerpoint/2010/main" val="8907041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C29F8505-A198-4429-BBB9-16C7BFAC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rPr>
              <a:t>RÉSULTATS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CB96CDF-2A28-40F1-B631-EBC130D0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Notifications par saison et niveau de priorité</a:t>
            </a:r>
          </a:p>
        </p:txBody>
      </p:sp>
      <p:cxnSp>
        <p:nvCxnSpPr>
          <p:cNvPr id="46" name="Connecteur droit avec flèche 39"/>
          <p:cNvCxnSpPr/>
          <p:nvPr/>
        </p:nvCxnSpPr>
        <p:spPr>
          <a:xfrm xmlns:a="http://schemas.openxmlformats.org/drawingml/2006/main">
            <a:off x="495300" y="12763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0"/>
            </a:solidFill>
            <a:prstDash val="solid"/>
          </a:ln>
        </p:spPr>
      </p:cxn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B82AC81-5BAA-4FD3-9FB9-87C82C03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A370B31-A2F8-4914-839B-1E3AC308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Winter 2019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8E623C5-D927-4E7D-B534-637E74BA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95450"/>
            <a:ext cx="750094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4E5"/>
          </a:solidFill>
          <a:ln xmlns:a="http://schemas.openxmlformats.org/drawingml/2006/main" w="0">
            <a:solidFill>
              <a:srgbClr val="2474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1185B35-10AC-4A7A-8604-F2FA12AB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57375"/>
            <a:ext cx="75009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39195E5-DCAD-4A7E-B49A-DFBA1754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344" y="1695450"/>
            <a:ext cx="2464594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4E5"/>
          </a:solidFill>
          <a:ln xmlns:a="http://schemas.openxmlformats.org/drawingml/2006/main" w="0">
            <a:solidFill>
              <a:srgbClr val="65C4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8EC208D-FCA9-4EF5-9C7D-8AC1ECA0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344" y="1857375"/>
            <a:ext cx="246459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46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65658D6-CF72-40EE-885E-F2CE41C0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938" y="1695450"/>
            <a:ext cx="4768453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B5C0"/>
          </a:solidFill>
          <a:ln xmlns:a="http://schemas.openxmlformats.org/drawingml/2006/main" w="0">
            <a:solidFill>
              <a:srgbClr val="ADB5C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3BBC75C-B6CE-44D8-826D-4F56DE28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5938" y="1857375"/>
            <a:ext cx="476845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89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6F0A0B5-5719-41CE-99E7-23616FC0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8691" y="18478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149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33DBB57-AB34-41D4-841A-AFC44A55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38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Summer 2019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A9F9E59-40D7-4AA7-A4CB-AF51E8B2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86050"/>
            <a:ext cx="857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4E5"/>
          </a:solidFill>
          <a:ln xmlns:a="http://schemas.openxmlformats.org/drawingml/2006/main" w="0">
            <a:solidFill>
              <a:srgbClr val="2474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8C2FFC7-527B-49DC-B587-800243A6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479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7993C22-EEA0-4E2D-8ED5-FD8D4068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86050"/>
            <a:ext cx="5036344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4E5"/>
          </a:solidFill>
          <a:ln xmlns:a="http://schemas.openxmlformats.org/drawingml/2006/main" w="0">
            <a:solidFill>
              <a:srgbClr val="65C4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6A3DA41-9858-482D-86B1-C9CB67C9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47975"/>
            <a:ext cx="503634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94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6C16808-CE0C-418B-8B3A-A6C0BDE2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844" y="2686050"/>
            <a:ext cx="91082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B5C0"/>
          </a:solidFill>
          <a:ln xmlns:a="http://schemas.openxmlformats.org/drawingml/2006/main" w="0">
            <a:solidFill>
              <a:srgbClr val="ADB5C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8076E1C-3039-4405-9B21-54A0D0A9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844" y="2847975"/>
            <a:ext cx="91082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7A84A66D-9D6A-4B5D-99E6-DB0B3933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972" y="28384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127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40791F10-2047-48E2-9485-C0E678DE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29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Fall 2019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1A4BD3D-3B4C-4603-9C04-6874B278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76650"/>
            <a:ext cx="375047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4E5"/>
          </a:solidFill>
          <a:ln xmlns:a="http://schemas.openxmlformats.org/drawingml/2006/main" w="0">
            <a:solidFill>
              <a:srgbClr val="2474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A67285FF-E0DC-4CF7-B555-79935A3A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38575"/>
            <a:ext cx="37504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1C3CADF-6D4D-4D49-852B-24627101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297" y="3676650"/>
            <a:ext cx="2732484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4E5"/>
          </a:solidFill>
          <a:ln xmlns:a="http://schemas.openxmlformats.org/drawingml/2006/main" w="0">
            <a:solidFill>
              <a:srgbClr val="65C4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0EDC09C1-961B-4A37-950C-C2C54DAB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297" y="3838575"/>
            <a:ext cx="273248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51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F045DB32-3E02-49D6-93C9-EA171BC2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8781" y="3676650"/>
            <a:ext cx="2518172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B5C0"/>
          </a:solidFill>
          <a:ln xmlns:a="http://schemas.openxmlformats.org/drawingml/2006/main" w="0">
            <a:solidFill>
              <a:srgbClr val="ADB5C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79B20E9-B244-4A69-821A-96069DC1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8781" y="3838575"/>
            <a:ext cx="251817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47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91C1E48-97C6-4D40-87AD-41C88995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253" y="3829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105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C098E6B0-96FF-4E07-B0DD-F61DA143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Fall 2021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4305E0E3-6358-4E7E-93C0-C3DB4E43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67250"/>
            <a:ext cx="214313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4E5"/>
          </a:solidFill>
          <a:ln xmlns:a="http://schemas.openxmlformats.org/drawingml/2006/main" w="0">
            <a:solidFill>
              <a:srgbClr val="65C4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220ECBCE-EE6E-4038-9F27-7141AFD7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9863" y="4819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0565D9A3-1834-4123-B78C-BFDB2DDF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86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4E5"/>
          </a:solidFill>
          <a:ln xmlns:a="http://schemas.openxmlformats.org/drawingml/2006/main" w="0">
            <a:solidFill>
              <a:srgbClr val="2474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BA23B5E-EDEB-4545-8A49-B8B46A1F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8483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: prioritaire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525D7EB9-EA96-4F18-9E43-50A33EE1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886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4E5"/>
          </a:solidFill>
          <a:ln xmlns:a="http://schemas.openxmlformats.org/drawingml/2006/main" w="0">
            <a:solidFill>
              <a:srgbClr val="65C4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AA2A2175-0BAC-4939-9A2A-AB7B395D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8483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 : individuelle à vérifier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1AABED88-2474-4F6E-8721-431A2EE9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886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B5C0"/>
          </a:solidFill>
          <a:ln xmlns:a="http://schemas.openxmlformats.org/drawingml/2006/main" w="0">
            <a:solidFill>
              <a:srgbClr val="ADB5C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0F987C47-1306-4098-816E-DED19ACF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8483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 : événement collectif probable</a:t>
            </a:r>
          </a:p>
        </p:txBody>
      </p:sp>
    </p:spTree>
    <p:extLst>
      <p:ext uri="{BB962C8B-B14F-4D97-AF65-F5344CB8AC3E}">
        <p14:creationId xmlns:p14="http://schemas.microsoft.com/office/powerpoint/2010/main" val="18299595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6EE90C7-1F6F-4442-92F1-CB31B420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rPr>
              <a:t>RENFORCEMENT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738C7F6-66FC-4674-B04C-BBE322A8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A, B et C hiérarchisent la revue, pas la boiterie</a:t>
            </a:r>
          </a:p>
        </p:txBody>
      </p:sp>
      <p:cxnSp>
        <p:nvCxnSpPr>
          <p:cNvPr id="76" name="Connecteur droit avec flèche 29"/>
          <p:cNvCxnSpPr/>
          <p:nvPr/>
        </p:nvCxnSpPr>
        <p:spPr>
          <a:xfrm xmlns:a="http://schemas.openxmlformats.org/drawingml/2006/main">
            <a:off x="495300" y="12763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0"/>
            </a:solidFill>
            <a:prstDash val="solid"/>
          </a:ln>
        </p:spPr>
      </p:cxn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A56A152-890B-47C1-B45D-AD85197E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EFDFEB6-DD10-46FE-93F7-4A09DDCC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Les 385 notifications IF + règles sont conservées. Le contexte troupeau est ajouté ensuite pour fixer leur priorité.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41D0E34-9968-417B-B909-0634AA8B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1076498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4E5"/>
          </a:solidFill>
          <a:ln xmlns:a="http://schemas.openxmlformats.org/drawingml/2006/main" w="0">
            <a:solidFill>
              <a:srgbClr val="2474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E92BE31-BED8-485E-96B3-1A6BDD81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107649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37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4CA3926-E44B-400F-8E74-DBA6EB3D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107649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10 %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6C85FB9-D1C5-4A5F-97A5-33E7799F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798" y="2571750"/>
            <a:ext cx="5673436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4E5"/>
          </a:solidFill>
          <a:ln xmlns:a="http://schemas.openxmlformats.org/drawingml/2006/main" w="0">
            <a:solidFill>
              <a:srgbClr val="65C4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5F2430E-8A94-42D3-A89F-5C267C07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798" y="2724150"/>
            <a:ext cx="567343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195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71D522C-EB0A-46D7-810D-DFCB4A48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798" y="3105150"/>
            <a:ext cx="567343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51 %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47C3E09-CFD6-4BF5-AF86-253D2074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5235" y="2571750"/>
            <a:ext cx="445146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B5C0"/>
          </a:solidFill>
          <a:ln xmlns:a="http://schemas.openxmlformats.org/drawingml/2006/main" w="0">
            <a:solidFill>
              <a:srgbClr val="ADB5C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D59E5C9-3685-4F7A-ABD9-B83C392F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5235" y="2724150"/>
            <a:ext cx="445146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153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36FD5FD-047B-4859-A1B9-B02D2005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5235" y="3105150"/>
            <a:ext cx="445146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40 %</a:t>
            </a:r>
          </a:p>
        </p:txBody>
      </p:sp>
      <p:cxnSp>
        <p:nvCxnSpPr>
          <p:cNvPr id="88" name="Connecteur droit avec flèche 41"/>
          <p:cNvCxnSpPr/>
          <p:nvPr/>
        </p:nvCxnSpPr>
        <p:spPr>
          <a:xfrm xmlns:a="http://schemas.openxmlformats.org/drawingml/2006/main">
            <a:off x="495300" y="409575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474E5"/>
            </a:solidFill>
            <a:prstDash val="solid"/>
          </a:ln>
        </p:spPr>
      </p:cxn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A1FC437-C354-45BF-BE65-F1BCE109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05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: 37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D8509DD-F140-4F68-A228-B1247D75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4345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Non collective + profil distinct du troupeau + score interne ≥ 45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FCF3EEE-B711-4DDB-9D2E-3323CB82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673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rPr>
              <a:t>Revoir en premier</a:t>
            </a:r>
          </a:p>
        </p:txBody>
      </p:sp>
      <p:cxnSp>
        <p:nvCxnSpPr>
          <p:cNvPr id="92" name="Connecteur droit avec flèche 45"/>
          <p:cNvCxnSpPr/>
          <p:nvPr/>
        </p:nvCxnSpPr>
        <p:spPr>
          <a:xfrm xmlns:a="http://schemas.openxmlformats.org/drawingml/2006/main">
            <a:off x="4248150" y="409575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4877E"/>
            </a:solidFill>
            <a:prstDash val="solid"/>
          </a:ln>
        </p:spPr>
      </p:cxn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FB59052A-7871-41D2-943F-43C59BCF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05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 : 195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F2597283-E380-4720-9990-1CBD7DDF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4345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Non collective + appui troupeau moins net ou score modéré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5C0C56C1-C995-4203-9D4A-612FC3B2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673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487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4877E"/>
                </a:solidFill>
                <a:latin typeface="Helvetica Neue"/>
                <a:ea typeface="Helvetica Neue"/>
                <a:cs typeface="Helvetica Neue"/>
              </a:rPr>
              <a:t>Vérifier la vache</a:t>
            </a:r>
          </a:p>
        </p:txBody>
      </p:sp>
      <p:cxnSp>
        <p:nvCxnSpPr>
          <p:cNvPr id="96" name="Connecteur droit avec flèche 49"/>
          <p:cNvCxnSpPr/>
          <p:nvPr/>
        </p:nvCxnSpPr>
        <p:spPr>
          <a:xfrm xmlns:a="http://schemas.openxmlformats.org/drawingml/2006/main">
            <a:off x="8001000" y="4095750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7656B6"/>
            </a:solidFill>
            <a:prstDash val="solid"/>
          </a:ln>
        </p:spPr>
      </p:cxn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AE298146-09A5-49ED-8983-F7B69EB3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05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 : 153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5A5FC0A7-F69E-4FA8-BDC1-0D26D8DD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4345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≥ 30 % des vaches sur ± 1 jour, ou ≥ 50 % sur ± 3 jours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CE10B454-4B17-4F46-B2A1-C7CD1A91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673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7656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7656B6"/>
                </a:solidFill>
                <a:latin typeface="Helvetica Neue"/>
                <a:ea typeface="Helvetica Neue"/>
                <a:cs typeface="Helvetica Neue"/>
              </a:rPr>
              <a:t>Rechercher une cause commune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27A4A05-2C50-4522-8005-7494EA57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B9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B94A4A"/>
                </a:solidFill>
                <a:latin typeface="Helvetica Neue"/>
                <a:ea typeface="Helvetica Neue"/>
                <a:cs typeface="Helvetica Neue"/>
              </a:rPr>
              <a:t>Ce ne sont ni des stades cliniques ni des sorties HYPO. Une catégorie D est prévue pour les données insuffisantes : 0 cas.</a:t>
            </a:r>
          </a:p>
        </p:txBody>
      </p:sp>
    </p:spTree>
    <p:extLst>
      <p:ext uri="{BB962C8B-B14F-4D97-AF65-F5344CB8AC3E}">
        <p14:creationId xmlns:p14="http://schemas.microsoft.com/office/powerpoint/2010/main" val="15864350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02997B7-349B-4C81-95C7-8ED627E9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rPr>
              <a:t>CONTEXTE TROUPEAU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387C4AC-C6A0-4EAF-9902-EDF9E5B7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Une part importante des signaux est collective</a:t>
            </a:r>
          </a:p>
        </p:txBody>
      </p:sp>
      <p:cxnSp>
        <p:nvCxnSpPr>
          <p:cNvPr id="34" name="Connecteur droit avec flèche 27"/>
          <p:cNvCxnSpPr/>
          <p:nvPr/>
        </p:nvCxnSpPr>
        <p:spPr>
          <a:xfrm xmlns:a="http://schemas.openxmlformats.org/drawingml/2006/main">
            <a:off x="495300" y="12763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0"/>
            </a:solidFill>
            <a:prstDash val="solid"/>
          </a:ln>
        </p:spPr>
      </p:cxn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757759E-80CB-4713-853A-048F6BE7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DD11035-04D2-4C17-8373-A161B0A0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Winter 2019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8A02E4B-C6F9-4E5F-AD7D-50867D38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9545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solidFill>
              <a:srgbClr val="E9E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686ADBD-F901-412D-B339-B9178C70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95450"/>
            <a:ext cx="682371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6B6"/>
          </a:solidFill>
          <a:ln xmlns:a="http://schemas.openxmlformats.org/drawingml/2006/main" w="0">
            <a:solidFill>
              <a:srgbClr val="7656B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A71F546-E9E1-42B7-9D9A-9665A3B4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716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59,7 %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B332C0F-3741-45DA-9B24-93B17FD8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81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89 / 149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C347FC9-B5C4-41A2-8142-4504604D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62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Fall 2019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87B0ABD-C7D8-4106-8EC8-8FD8D902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6700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solidFill>
              <a:srgbClr val="E9E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FDC3E3B-3F18-484A-9F41-54D6EFBC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67000"/>
            <a:ext cx="51206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7E"/>
          </a:solidFill>
          <a:ln xmlns:a="http://schemas.openxmlformats.org/drawingml/2006/main" w="0">
            <a:solidFill>
              <a:srgbClr val="14877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1F7572C-4A4E-4838-ACCF-1BF22FFF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432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44,8 %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F56DEBA-59C3-454C-91A9-6053B580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7527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47 / 105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C365B2F-2091-4BBE-945D-7046BC39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33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Summer 2019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25D5207-E6DB-4DCC-9076-E31D65C3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3855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solidFill>
              <a:srgbClr val="E9E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C1E4297-535F-4C6F-BDAE-02C22053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38550"/>
            <a:ext cx="15316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7E"/>
          </a:solidFill>
          <a:ln xmlns:a="http://schemas.openxmlformats.org/drawingml/2006/main" w="0">
            <a:solidFill>
              <a:srgbClr val="14877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902F82B9-DC00-4E8B-947D-81871BF9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147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13,4 %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30C74014-C5E4-4CCE-B40E-4628D5F3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242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17 / 127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056D756-55FF-43F2-8D80-E5BFF524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053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Fall 2021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3F2EF60-E109-43F9-A56F-CBDF0A10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1010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solidFill>
              <a:srgbClr val="E9E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A7E42E8-A019-408C-8CC6-5F5739C1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86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0,0 %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31FAEF2-4D79-4729-8F72-601766B6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958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0 / 4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0ACACF76-CF06-420A-8752-E15826E9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62600"/>
            <a:ext cx="11125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6"/>
          </a:solidFill>
          <a:ln xmlns:a="http://schemas.openxmlformats.org/drawingml/2006/main" w="0">
            <a:solidFill>
              <a:srgbClr val="FFF5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93E4CCFB-D700-4574-BAD6-E951834D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34050"/>
            <a:ext cx="1064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Cette lecture réduit le risque d’interpréter un changement collectif comme un problème individuel.</a:t>
            </a:r>
          </a:p>
        </p:txBody>
      </p:sp>
    </p:spTree>
    <p:extLst>
      <p:ext uri="{BB962C8B-B14F-4D97-AF65-F5344CB8AC3E}">
        <p14:creationId xmlns:p14="http://schemas.microsoft.com/office/powerpoint/2010/main" val="3508324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21F0F640-5742-4815-8A4B-859C5244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rPr>
              <a:t>ÉVALUATION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A28C4DF-60B0-4725-BA68-FD5461D8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Concordance temporelle avec les scans comportementaux</a:t>
            </a:r>
          </a:p>
        </p:txBody>
      </p:sp>
      <p:cxnSp>
        <p:nvCxnSpPr>
          <p:cNvPr id="35" name="Connecteur droit avec flèche 28"/>
          <p:cNvCxnSpPr/>
          <p:nvPr/>
        </p:nvCxnSpPr>
        <p:spPr>
          <a:xfrm xmlns:a="http://schemas.openxmlformats.org/drawingml/2006/main">
            <a:off x="495300" y="12763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0"/>
            </a:solidFill>
            <a:prstDash val="solid"/>
          </a:ln>
        </p:spPr>
      </p:cxn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57A8B04-9175-4069-957D-62F99943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5006481-D328-4DA4-BA0C-11015CFF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0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Fall 2019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29B5AAC-20ED-4C1C-B7F4-DE189B3F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14500"/>
            <a:ext cx="685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solidFill>
              <a:srgbClr val="E9E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3E20C8D-15E1-4745-900A-8B2809E5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14500"/>
            <a:ext cx="6089904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4E5"/>
          </a:solidFill>
          <a:ln xmlns:a="http://schemas.openxmlformats.org/drawingml/2006/main" w="0">
            <a:solidFill>
              <a:srgbClr val="2474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5747870-02BC-4582-BD6C-B87D4C29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7811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44,4 %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5CEA23F-6687-4904-A1BB-40B810F4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7907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12 / 27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360BCFD-411F-4425-A360-7D8D773E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05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Winter 2019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8CABCCD-D6F1-4D2F-ACBF-890D8DA2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19375"/>
            <a:ext cx="685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solidFill>
              <a:srgbClr val="E9E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9AD5BDE-2893-428A-831D-013277BD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19375"/>
            <a:ext cx="3675888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7E"/>
          </a:solidFill>
          <a:ln xmlns:a="http://schemas.openxmlformats.org/drawingml/2006/main" w="0">
            <a:solidFill>
              <a:srgbClr val="14877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CFE7220-5216-49A7-927A-EEF5CB32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6860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26,8 %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4D470A6-9592-4088-AC01-AA5AEB67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955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11 / 41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FA94AE3-3A48-45E3-9250-09AC7582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99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Summer 2019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375E90B-3FDE-4B4D-99CA-846CC814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24250"/>
            <a:ext cx="685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solidFill>
              <a:srgbClr val="E9E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1D06260-DA2D-4444-8EE8-BDF9E48D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24250"/>
            <a:ext cx="349758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7E"/>
          </a:solidFill>
          <a:ln xmlns:a="http://schemas.openxmlformats.org/drawingml/2006/main" w="0">
            <a:solidFill>
              <a:srgbClr val="14877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0722A562-500C-4204-A882-DAB6327B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5909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25,5 %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B339285-8295-4E30-AB9F-09429EA0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600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14 / 55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EF47C3B-C081-4D55-A27C-751B2967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14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Fall 2021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11500D3-3D4D-4C38-B2AB-F212EDEF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29125"/>
            <a:ext cx="685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DF1"/>
          </a:solidFill>
          <a:ln xmlns:a="http://schemas.openxmlformats.org/drawingml/2006/main" w="0">
            <a:solidFill>
              <a:srgbClr val="E9EDF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00F6843-E7B6-482C-A1A1-37324A0D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291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7E"/>
          </a:solidFill>
          <a:ln xmlns:a="http://schemas.openxmlformats.org/drawingml/2006/main" w="0">
            <a:solidFill>
              <a:srgbClr val="14877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284C536-16D4-4F0B-8838-512AA4C3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958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10,0 %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0CA9DE1-93D1-45C1-9048-CB6C52F9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5053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1 / 10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F90D206B-EDF5-4540-B8D8-F62F9F83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864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Dénominateur corrigé : scans couverts par IceTag à ±1 jour; 38/133 = 28,6 %.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6570ECC-8C6E-429B-A8E2-70750B9E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B9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B94A4A"/>
                </a:solidFill>
                <a:latin typeface="Helvetica Neue"/>
                <a:ea typeface="Helvetica Neue"/>
                <a:cs typeface="Helvetica Neue"/>
              </a:rPr>
              <a:t>Contrôle strict : 29,9 % observé vs 27,8 % attendu (p = 0,32). Ce n’est pas une précision diagnostique.</a:t>
            </a:r>
          </a:p>
        </p:txBody>
      </p:sp>
    </p:spTree>
    <p:extLst>
      <p:ext uri="{BB962C8B-B14F-4D97-AF65-F5344CB8AC3E}">
        <p14:creationId xmlns:p14="http://schemas.microsoft.com/office/powerpoint/2010/main" val="256577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82B367B-BB6D-42C9-BF05-560E16CE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rPr>
              <a:t>VALIDATION EXPLORATOIRE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6CB95-E1BE-42D3-95E5-A13291B4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Les scores SLS distinguent les deux approches</a:t>
            </a:r>
          </a:p>
        </p:txBody>
      </p:sp>
      <p:cxnSp>
        <p:nvCxnSpPr>
          <p:cNvPr id="26" name="Connecteur droit avec flèche 19"/>
          <p:cNvCxnSpPr/>
          <p:nvPr/>
        </p:nvCxnSpPr>
        <p:spPr>
          <a:xfrm xmlns:a="http://schemas.openxmlformats.org/drawingml/2006/main">
            <a:off x="495300" y="12763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0"/>
            </a:solidFill>
            <a:prstDash val="solid"/>
          </a:ln>
        </p:spPr>
      </p:cxn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FB84AF5-9901-4E3D-88EE-98755CBD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7ED0408-5E47-4F64-88BF-A0EAAF79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Winter 2019, score SLS du 12 mars. Même cohorte de 14 vaches, mêmes sept jours précédant le score.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07A8971-C58D-4057-81C2-734293B0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85950"/>
            <a:ext cx="51435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08041F-BC8B-4EBB-BC75-4A974263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85950"/>
            <a:ext cx="55245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623FE12-CCE0-4E0B-B33F-5EBB322B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rPr>
              <a:t>BASELINE DU SOW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A64C8EF-9E9D-4EB3-943D-9FDC5A4D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IF + règles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D888667-7F06-4E3F-A12C-1EA88D3E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3619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14 évaluables; 3 avec SLS ≥ 2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1,00 vs 0,27 notifications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AUC = 0,576  |  p = 0,695</a:t>
            </a:r>
          </a:p>
          <a:p xmlns:a="http://schemas.openxmlformats.org/drawingml/2006/main">
            <a:pPr algn="l">
              <a:buNone/>
              <a:defRPr sz="165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ρ = 0,241  |  p = 0,407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45D1A90-C8DE-4F33-BB37-DD73B315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B9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B94A4A"/>
                </a:solidFill>
                <a:latin typeface="Helvetica Neue"/>
                <a:ea typeface="Helvetica Neue"/>
                <a:cs typeface="Helvetica Neue"/>
              </a:rPr>
              <a:t>Au niveau du hasard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4CBDCF9-96B9-43FE-9E67-4CC6329E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717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5C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5C4E5"/>
                </a:solidFill>
                <a:latin typeface="Helvetica Neue"/>
                <a:ea typeface="Helvetica Neue"/>
                <a:cs typeface="Helvetica Neue"/>
              </a:rPr>
              <a:t>APPROCHE ACTUELLE : ANNEXE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2D78BC7-8086-444A-8B40-3C3F529E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527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HYPO + instabilité + hybride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C87120F-CD25-4606-81D4-75D1F543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81350"/>
            <a:ext cx="4476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D7DD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D7DDE4"/>
                </a:solidFill>
                <a:latin typeface="Helvetica Neue"/>
                <a:ea typeface="Helvetica Neue"/>
                <a:cs typeface="Helvetica Neue"/>
              </a:rPr>
              <a:t>14 évaluables; 3 avec SLS ≥ 2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D7DD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D7DDE4"/>
                </a:solidFill>
                <a:latin typeface="Helvetica Neue"/>
                <a:ea typeface="Helvetica Neue"/>
                <a:cs typeface="Helvetica Neue"/>
              </a:rPr>
              <a:t>6,67 vs 4,45 notifications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D7DD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D7DDE4"/>
                </a:solidFill>
                <a:latin typeface="Helvetica Neue"/>
                <a:ea typeface="Helvetica Neue"/>
                <a:cs typeface="Helvetica Neue"/>
              </a:rPr>
              <a:t>AUC = 0,924  |  p = 0,031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D7DD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D7DDE4"/>
                </a:solidFill>
                <a:latin typeface="Helvetica Neue"/>
                <a:ea typeface="Helvetica Neue"/>
                <a:cs typeface="Helvetica Neue"/>
              </a:rPr>
              <a:t>ρ = 0,504  |  p = 0,066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3DF8DD0-874C-410A-A13E-01347E64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86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65C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65C4E5"/>
                </a:solidFill>
                <a:latin typeface="Helvetica Neue"/>
                <a:ea typeface="Helvetica Neue"/>
                <a:cs typeface="Helvetica Neue"/>
              </a:rPr>
              <a:t>Alignement exploratoire positif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AA7BBE9-0020-4CD1-AF8D-8419B4A4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62600"/>
            <a:ext cx="11125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6"/>
          </a:solidFill>
          <a:ln xmlns:a="http://schemas.openxmlformats.org/drawingml/2006/main" w="0">
            <a:solidFill>
              <a:srgbClr val="FFF5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07598EC-C41F-4911-9E14-3B1154FD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43575"/>
            <a:ext cx="1064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Résultat</a:t>
            </a: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prometteur</a:t>
            </a: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mais</a:t>
            </a: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non </a:t>
            </a: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diagnostique</a:t>
            </a: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: </a:t>
            </a: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seulement</a:t>
            </a: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3 </a:t>
            </a: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cas</a:t>
            </a: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positifs</a:t>
            </a: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, SLS maximal = 2 et </a:t>
            </a: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traitement</a:t>
            </a: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 Exercise </a:t>
            </a: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confondu</a:t>
            </a:r>
            <a:r>
              <a:rPr sz="15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9816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E01D5916-6290-472C-92F8-473909B1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rPr>
              <a:t>DOSSIER DE LIVRAISON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D3CD4D-40DB-40F8-8009-76550333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Les livrables disponibles</a:t>
            </a:r>
          </a:p>
        </p:txBody>
      </p:sp>
      <p:cxnSp>
        <p:nvCxnSpPr>
          <p:cNvPr id="50" name="Connecteur droit avec flèche 43"/>
          <p:cNvCxnSpPr/>
          <p:nvPr/>
        </p:nvCxnSpPr>
        <p:spPr>
          <a:xfrm xmlns:a="http://schemas.openxmlformats.org/drawingml/2006/main">
            <a:off x="495300" y="12763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0"/>
            </a:solidFill>
            <a:prstDash val="solid"/>
          </a:ln>
        </p:spPr>
      </p:cxn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2BC61BA-A13A-47DE-83AA-D8B99E45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1025D50-7A74-48B5-A270-72514494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3381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1203304-2B3F-4B77-9582-F3BA8FA2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85925"/>
            <a:ext cx="3190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Dossier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C430617-49B2-490B-8E4A-D430688C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581150"/>
            <a:ext cx="4048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99CC859-DB3C-4C7A-8853-E1D08D06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685925"/>
            <a:ext cx="3857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Contenu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72D66EA-1028-43A1-97FE-1523B820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81150"/>
            <a:ext cx="3695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D3EB1AB-4582-450E-8898-ADC7662E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85925"/>
            <a:ext cx="350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Utilisation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21610D8-16C7-4174-BAA5-9424B5A0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47900"/>
            <a:ext cx="3381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6B1A26A-3312-4754-A6E5-4BE3F33C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52675"/>
            <a:ext cx="3190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RAPPORTS/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24038E3-1846-4FC6-80E5-1A5E6FF2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47900"/>
            <a:ext cx="4048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7058824-B314-4246-B8AF-8CD7EDEB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352675"/>
            <a:ext cx="3857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Rapport Word et présentations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FDD03E6-8B77-4FEC-8C25-E1DB2037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47900"/>
            <a:ext cx="3695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8AD714F-D8CE-4624-8146-8F39F21F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52675"/>
            <a:ext cx="350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Lecture et communication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5CD1E05-D651-4494-A087-443F577D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14650"/>
            <a:ext cx="3381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FD4CAA40-316F-425E-94E1-95B7ACF4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19425"/>
            <a:ext cx="3190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DONNEES_TRAITEES_ALERTES/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21D729A-EA14-4D36-83D4-2BEB014A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914650"/>
            <a:ext cx="4048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ADC5A8F-1FEF-4F73-8619-7BCECCCA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019425"/>
            <a:ext cx="3857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Prédictions, alertes et résumés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B4948F3-6B5B-448D-8E80-77E39F1F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14650"/>
            <a:ext cx="3695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C42A85CE-97A0-42AB-B5E8-3B1BE13B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19425"/>
            <a:ext cx="350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Audit détaillé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586948F-B6C5-432D-BD95-4802407E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81400"/>
            <a:ext cx="3381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EEDF171A-A499-4175-B1DA-8B16E8BD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86175"/>
            <a:ext cx="3190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TABLEAUX_CSV/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D567637E-B8FC-4BCD-98DB-B650E11D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81400"/>
            <a:ext cx="4048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516EF62E-AD6D-4B12-8ADC-2273EA6E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686175"/>
            <a:ext cx="3857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Synthèses, priorités et concordance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1DA3158D-4ACF-4114-B0CF-B45D0861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81400"/>
            <a:ext cx="3695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4F44B7F5-3915-4974-B813-CD7B5663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86175"/>
            <a:ext cx="350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Vérification des chiffres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42958FE5-B08B-4EB9-891A-11314058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48150"/>
            <a:ext cx="3381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0F841F4-F2B5-4040-BD92-77D85079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3190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NOTES_SOW/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ED84519C-1439-4C42-9762-71D0FFB0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248150"/>
            <a:ext cx="4048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B877276C-E92C-4A3A-878A-56D1E7EC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352925"/>
            <a:ext cx="3857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Reproductibilité et validation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62F67BF5-FDE1-4E48-AC0D-D741237C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48150"/>
            <a:ext cx="3695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EDC7F376-5E0E-4505-AB15-0266F625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52925"/>
            <a:ext cx="350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Preuves contractuelles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E7869730-0E9A-474A-A202-EB7C098D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14900"/>
            <a:ext cx="3381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67D12A1E-E9F9-42CF-94C8-BFACBF44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9675"/>
            <a:ext cx="3190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ANNEXE_pipeline_actuelle_…/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11D6553C-84C1-4BA1-8128-986087C1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914900"/>
            <a:ext cx="4048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C0E28E6D-2A5B-488B-B9CD-20FA0108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019675"/>
            <a:ext cx="3857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HYPO + instabilité + hybride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B4393AD7-BA99-4075-B369-BC3B062E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14900"/>
            <a:ext cx="3695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D10ADD04-28AB-427D-9A84-E92F50EE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9675"/>
            <a:ext cx="350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Évolution scientifique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CAEE9546-A264-4F01-810C-7E051AAB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rPr>
              <a:t>Point d’entrée recommandé : README_livraison_objectif1.txt</a:t>
            </a:r>
          </a:p>
        </p:txBody>
      </p:sp>
    </p:spTree>
    <p:extLst>
      <p:ext uri="{BB962C8B-B14F-4D97-AF65-F5344CB8AC3E}">
        <p14:creationId xmlns:p14="http://schemas.microsoft.com/office/powerpoint/2010/main" val="18436515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1D48B88-15CE-4105-BACF-F48BCE9F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rPr>
              <a:t>PORTÉE SCIENTIFIQUE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77EFE32-CD69-4249-908C-B742B08C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Ce que les résultats permettent de conclure</a:t>
            </a:r>
          </a:p>
        </p:txBody>
      </p:sp>
      <p:cxnSp>
        <p:nvCxnSpPr>
          <p:cNvPr id="38" name="Connecteur droit avec flèche 31"/>
          <p:cNvCxnSpPr/>
          <p:nvPr/>
        </p:nvCxnSpPr>
        <p:spPr>
          <a:xfrm xmlns:a="http://schemas.openxmlformats.org/drawingml/2006/main">
            <a:off x="495300" y="12763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0"/>
            </a:solidFill>
            <a:prstDash val="solid"/>
          </a:ln>
        </p:spPr>
      </p:cxn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F27EC21-58BD-4F52-95BC-2FB8993F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610F50D-C68F-4834-906C-02984FFD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52387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EE"/>
          </a:solidFill>
          <a:ln xmlns:a="http://schemas.openxmlformats.org/drawingml/2006/main" w="0">
            <a:solidFill>
              <a:srgbClr val="E9F4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2DD4D23-2F9B-4469-B743-11D313DF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76400"/>
            <a:ext cx="56197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D"/>
          </a:solidFill>
          <a:ln xmlns:a="http://schemas.openxmlformats.org/drawingml/2006/main" w="0">
            <a:solidFill>
              <a:srgbClr val="FBED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30A2347-BE36-4482-9723-E9EFCB14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D8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2D8A57"/>
                </a:solidFill>
                <a:latin typeface="Helvetica Neue"/>
                <a:ea typeface="Helvetica Neue"/>
                <a:cs typeface="Helvetica Neue"/>
              </a:rPr>
              <a:t>ÉTABLI PAR LE TRAVAIL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4FF89D7-83E6-4D16-84DC-3C15D0AC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2D8A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4E0B84D-561F-49A3-876A-92223C95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57450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Transfert réussi sur quatre saisons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24E06EF-2B4B-4A36-84D8-5F5BAB7B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57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2D8A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3836D79-0666-4C6C-A707-848850B7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81325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Paramètres communs et sorties reproductibles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82E3247-5721-4B32-9374-8E57CC91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2D8A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24921DD-DC02-4B8B-A992-2B6781A6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Alertes priorisées par contexte troupeau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330D49A-A10A-49F5-9841-3D9E5B7E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052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2D8A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09DDBA6-AE1E-439D-9AFC-341FBAE9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29075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Concordance comportementale documentée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FA253C3-2A81-4050-AC43-91F318DD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A57"/>
          </a:solidFill>
          <a:ln xmlns:a="http://schemas.openxmlformats.org/drawingml/2006/main" w="0">
            <a:solidFill>
              <a:srgbClr val="2D8A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3B643AC-79F5-451C-9F1C-C92C0A72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52950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Livrables complets et traçables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579AB27-0EC8-4292-B680-30137868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002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B94A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94A4A"/>
                </a:solidFill>
                <a:latin typeface="Helvetica Neue"/>
                <a:ea typeface="Helvetica Neue"/>
                <a:cs typeface="Helvetica Neue"/>
              </a:rPr>
              <a:t>À CONFIRMER PAR UNE ÉTUDE CLINIQUE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FB8D303-FE76-49AB-A07B-4A77B307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336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A"/>
          </a:solidFill>
          <a:ln xmlns:a="http://schemas.openxmlformats.org/drawingml/2006/main" w="0">
            <a:solidFill>
              <a:srgbClr val="B94A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1E4C8A2-35BE-494F-B5A8-E61FC964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455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Sensibilité et spécificité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6A89D0C-EAF9-4458-9667-19A2B17A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57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A"/>
          </a:solidFill>
          <a:ln xmlns:a="http://schemas.openxmlformats.org/drawingml/2006/main" w="0">
            <a:solidFill>
              <a:srgbClr val="B94A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BF1E5A3-FC6D-4A17-8BBB-20C07770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81325"/>
            <a:ext cx="455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Seuils généralisables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A8508B05-D7A4-4DD8-9D16-8BC410F9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81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A"/>
          </a:solidFill>
          <a:ln xmlns:a="http://schemas.openxmlformats.org/drawingml/2006/main" w="0">
            <a:solidFill>
              <a:srgbClr val="B94A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1B061194-0231-4310-9B16-FD0E6C7B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455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Délai entre signal et boiterie clinique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1BDCEB13-DB3E-4948-B3B3-E9A42BF1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052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A"/>
          </a:solidFill>
          <a:ln xmlns:a="http://schemas.openxmlformats.org/drawingml/2006/main" w="0">
            <a:solidFill>
              <a:srgbClr val="B94A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DDC9CD34-C5EA-4032-A469-3062BD27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29075"/>
            <a:ext cx="455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Charge d’alertes acceptable sur le terrain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540A254-A4BC-4DE9-856B-02D73247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29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A"/>
          </a:solidFill>
          <a:ln xmlns:a="http://schemas.openxmlformats.org/drawingml/2006/main" w="0">
            <a:solidFill>
              <a:srgbClr val="B94A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AB90318C-8AE3-4B58-8AA8-3F2BD464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52950"/>
            <a:ext cx="455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Supériorité clinique de l’approche hybride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51F306FB-078C-4EAC-846F-928E84C4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293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487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4877E"/>
                </a:solidFill>
                <a:latin typeface="Helvetica Neue"/>
                <a:ea typeface="Helvetica Neue"/>
                <a:cs typeface="Helvetica Neue"/>
              </a:rPr>
              <a:t>Conclusion : une chaîne d’alerte comportementale exploitable pour la recherche et la revue ciblée.</a:t>
            </a:r>
          </a:p>
        </p:txBody>
      </p:sp>
    </p:spTree>
    <p:extLst>
      <p:ext uri="{BB962C8B-B14F-4D97-AF65-F5344CB8AC3E}">
        <p14:creationId xmlns:p14="http://schemas.microsoft.com/office/powerpoint/2010/main" val="796012418"/>
      </p:ext>
    </p:extLst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5300" y="254000"/>
            <a:ext cx="4381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4877E"/>
                </a:solidFill>
                <a:latin typeface="Helvetica Neue"/>
              </a:rPr>
              <a:t>OBJECTIF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300" y="558800"/>
            <a:ext cx="109474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50" b="1">
                <a:solidFill>
                  <a:srgbClr val="111111"/>
                </a:solidFill>
                <a:latin typeface="Helvetica Neue"/>
              </a:rPr>
              <a:t>Environnement et comportement : le prochain livrable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300" y="1270000"/>
            <a:ext cx="11201400" cy="9525"/>
          </a:xfrm>
          <a:prstGeom prst="rect">
            <a:avLst/>
          </a:prstGeom>
          <a:solidFill>
            <a:srgbClr val="D5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277600" y="6400800"/>
            <a:ext cx="4064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5E6875"/>
                </a:solidFill>
                <a:latin typeface="Helvetica Neue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300" y="1676400"/>
            <a:ext cx="5232400" cy="3784600"/>
          </a:xfrm>
          <a:prstGeom prst="rect">
            <a:avLst/>
          </a:prstGeom>
          <a:solidFill>
            <a:srgbClr val="E9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00100" y="2006600"/>
            <a:ext cx="4470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4877E"/>
                </a:solidFill>
                <a:latin typeface="Helvetica Neue"/>
              </a:rPr>
              <a:t>CE QUI EST DÉJÀ FAIT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" y="2540000"/>
            <a:ext cx="88900" cy="88900"/>
          </a:xfrm>
          <a:prstGeom prst="rect">
            <a:avLst/>
          </a:prstGeom>
          <a:solidFill>
            <a:srgbClr val="14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16000" y="2463800"/>
            <a:ext cx="4254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0">
                <a:solidFill>
                  <a:srgbClr val="111111"/>
                </a:solidFill>
                <a:latin typeface="Helvetica Neue"/>
              </a:rPr>
              <a:t>IceTag, sondes HOBO et scans synchronisés (Summer 2019)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" y="3060700"/>
            <a:ext cx="88900" cy="88900"/>
          </a:xfrm>
          <a:prstGeom prst="rect">
            <a:avLst/>
          </a:prstGeom>
          <a:solidFill>
            <a:srgbClr val="14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16000" y="2984500"/>
            <a:ext cx="4254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0">
                <a:solidFill>
                  <a:srgbClr val="111111"/>
                </a:solidFill>
                <a:latin typeface="Helvetica Neue"/>
              </a:rPr>
              <a:t>87 501 intervalles de 15 min, 17 vaches, 62 jours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" y="3581400"/>
            <a:ext cx="88900" cy="88900"/>
          </a:xfrm>
          <a:prstGeom prst="rect">
            <a:avLst/>
          </a:prstGeom>
          <a:solidFill>
            <a:srgbClr val="14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16000" y="3505200"/>
            <a:ext cx="4254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0">
                <a:solidFill>
                  <a:srgbClr val="111111"/>
                </a:solidFill>
                <a:latin typeface="Helvetica Neue"/>
              </a:rPr>
              <a:t>Indice THI calculé et aligné au même pas de temps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" y="4102100"/>
            <a:ext cx="88900" cy="88900"/>
          </a:xfrm>
          <a:prstGeom prst="rect">
            <a:avLst/>
          </a:prstGeom>
          <a:solidFill>
            <a:srgbClr val="14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16000" y="4025900"/>
            <a:ext cx="4254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0">
                <a:solidFill>
                  <a:srgbClr val="111111"/>
                </a:solidFill>
                <a:latin typeface="Helvetica Neue"/>
              </a:rPr>
              <a:t>Analyses de sensibilité à plusieurs niveaux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4597400"/>
            <a:ext cx="1905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4877E"/>
                </a:solidFill>
                <a:latin typeface="Helvetica Neue"/>
              </a:rPr>
              <a:t>87 501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5054600"/>
            <a:ext cx="1905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E6875"/>
                </a:solidFill>
                <a:latin typeface="Helvetica Neue"/>
              </a:rPr>
              <a:t>intervalles synchronisés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6400" y="45974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474E5"/>
                </a:solidFill>
                <a:latin typeface="Helvetica Neue"/>
              </a:rPr>
              <a:t>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6400" y="5054600"/>
            <a:ext cx="1016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E6875"/>
                </a:solidFill>
                <a:latin typeface="Helvetica Neue"/>
              </a:rPr>
              <a:t>vaches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1000" y="4597400"/>
            <a:ext cx="1016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7656B6"/>
                </a:solidFill>
                <a:latin typeface="Helvetica Neue"/>
              </a:rPr>
              <a:t>62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1000" y="5054600"/>
            <a:ext cx="1016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E6875"/>
                </a:solidFill>
                <a:latin typeface="Helvetica Neue"/>
              </a:rPr>
              <a:t>jours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94400" y="1676400"/>
            <a:ext cx="5613400" cy="378460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99200" y="2006600"/>
            <a:ext cx="4762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474E5"/>
                </a:solidFill>
                <a:latin typeface="Helvetica Neue"/>
              </a:rPr>
              <a:t>RÉSULTAT PRINCIPAL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99200" y="2438400"/>
            <a:ext cx="2921000" cy="381000"/>
          </a:xfrm>
          <a:prstGeom prst="rect">
            <a:avLst/>
          </a:prstGeom>
          <a:solidFill>
            <a:srgbClr val="111111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00800" y="2540000"/>
            <a:ext cx="2717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 Neue"/>
              </a:rPr>
              <a:t>Association THI et activité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20200" y="2438400"/>
            <a:ext cx="1168400" cy="381000"/>
          </a:xfrm>
          <a:prstGeom prst="rect">
            <a:avLst/>
          </a:prstGeom>
          <a:solidFill>
            <a:srgbClr val="111111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1800" y="2540000"/>
            <a:ext cx="96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 Neue"/>
              </a:rPr>
              <a:t>Effet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88600" y="2438400"/>
            <a:ext cx="914400" cy="381000"/>
          </a:xfrm>
          <a:prstGeom prst="rect">
            <a:avLst/>
          </a:prstGeom>
          <a:solidFill>
            <a:srgbClr val="111111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490200" y="2540000"/>
            <a:ext cx="71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 Neue"/>
              </a:rPr>
              <a:t>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99200" y="2819400"/>
            <a:ext cx="29210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00800" y="2921000"/>
            <a:ext cx="2717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Helvetica Neue"/>
              </a:rPr>
              <a:t>Avant contrôle du jour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20200" y="2819400"/>
            <a:ext cx="11684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321800" y="2921000"/>
            <a:ext cx="96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Helvetica Neue"/>
              </a:rPr>
              <a:t>+0,221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88600" y="2819400"/>
            <a:ext cx="9144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490200" y="2921000"/>
            <a:ext cx="71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Helvetica Neue"/>
              </a:rPr>
              <a:t>&lt; 0,001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99200" y="3200400"/>
            <a:ext cx="2921000" cy="381000"/>
          </a:xfrm>
          <a:prstGeom prst="rect">
            <a:avLst/>
          </a:prstGeom>
          <a:solidFill>
            <a:srgbClr val="F5F6F7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400800" y="3302000"/>
            <a:ext cx="2717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Helvetica Neue"/>
              </a:rPr>
              <a:t>Après contrôle du jour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20200" y="3200400"/>
            <a:ext cx="1168400" cy="381000"/>
          </a:xfrm>
          <a:prstGeom prst="rect">
            <a:avLst/>
          </a:prstGeom>
          <a:solidFill>
            <a:srgbClr val="F5F6F7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321800" y="3302000"/>
            <a:ext cx="96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Helvetica Neue"/>
              </a:rPr>
              <a:t>+0,061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388600" y="3200400"/>
            <a:ext cx="914400" cy="381000"/>
          </a:xfrm>
          <a:prstGeom prst="rect">
            <a:avLst/>
          </a:prstGeom>
          <a:solidFill>
            <a:srgbClr val="F5F6F7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0490200" y="3302000"/>
            <a:ext cx="711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111"/>
                </a:solidFill>
                <a:latin typeface="Helvetica Neue"/>
              </a:rPr>
              <a:t>0,36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99200" y="3759200"/>
            <a:ext cx="5003800" cy="1498600"/>
          </a:xfrm>
          <a:prstGeom prst="rect">
            <a:avLst/>
          </a:prstGeom>
          <a:solidFill>
            <a:srgbClr val="FB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527800" y="3962400"/>
            <a:ext cx="45466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94A4A"/>
                </a:solidFill>
                <a:latin typeface="Helvetica Neue"/>
              </a:rPr>
              <a:t>L’association positive disparaît une fois le jour contrôlé : elle existe entre les journées, sans effet thermique propre démontré.
Le stress sévère (THI ≥ 80) ne concerne que 1,1 % des intervalles.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5300" y="5829300"/>
            <a:ext cx="10769600" cy="58420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23900" y="5994400"/>
            <a:ext cx="10312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474E5"/>
                </a:solidFill>
                <a:latin typeface="Helvetica Neue"/>
              </a:rPr>
              <a:t>Livrable 2 prêt à être remis : rapport, jeu de données intégré, tableaux, figures et code de reproduction.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CD618171-1153-4F6C-B3C6-1FD5FFBE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rPr>
              <a:t>SUITE DU PROJET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42954B-A0CD-4FEF-B595-148907D8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Proposition pour la prochaine étape</a:t>
            </a:r>
          </a:p>
        </p:txBody>
      </p:sp>
      <p:cxnSp>
        <p:nvCxnSpPr>
          <p:cNvPr id="61" name="Connecteur droit avec flèche 24"/>
          <p:cNvCxnSpPr/>
          <p:nvPr/>
        </p:nvCxnSpPr>
        <p:spPr>
          <a:xfrm xmlns:a="http://schemas.openxmlformats.org/drawingml/2006/main">
            <a:off x="495300" y="12763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5DAE0"/>
            </a:solidFill>
            <a:prstDash val="solid"/>
          </a:ln>
        </p:spPr>
      </p:cxn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C9340BD-0E86-4F05-8540-FABE0394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1F5B0A5-A21F-495A-869F-01F804A3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526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cxnSp>
        <p:nvCxnSpPr>
          <p:cNvPr id="64" name="Connecteur droit avec flèche 27"/>
          <p:cNvCxnSpPr/>
          <p:nvPr/>
        </p:nvCxnSpPr>
        <p:spPr>
          <a:xfrm xmlns:a="http://schemas.openxmlformats.org/drawingml/2006/main">
            <a:off x="495300" y="2247900"/>
            <a:ext cx="23241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474E5"/>
            </a:solidFill>
            <a:prstDash val="solid"/>
          </a:ln>
        </p:spPr>
      </p:cxn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756B57A-5DAA-4D30-BF7D-66C1D7E8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0985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Sélectionner la cohorte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AA644BA-A250-4E8D-8E61-2009C8B9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0"/>
            <a:ext cx="23241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Meilleur recouvrement entre IceTag et scores locomoteurs datés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9DF6242-B3A0-4574-B89B-8A586213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526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487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4877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cxnSp>
        <p:nvCxnSpPr>
          <p:cNvPr id="68" name="Connecteur droit avec flèche 31"/>
          <p:cNvCxnSpPr/>
          <p:nvPr/>
        </p:nvCxnSpPr>
        <p:spPr>
          <a:xfrm xmlns:a="http://schemas.openxmlformats.org/drawingml/2006/main">
            <a:off x="3276600" y="2247900"/>
            <a:ext cx="23241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4877E"/>
            </a:solidFill>
            <a:prstDash val="solid"/>
          </a:ln>
        </p:spPr>
      </p:cxn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F3C76F8-1E69-4C78-83F6-9191A2CB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0985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Geler le protocole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2B7A3F5-2307-4CC4-8E7D-398D48EA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33750"/>
            <a:ext cx="23241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Version, seuils, fenêtre d’alerte et métriques définis avant l’analyse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5451594-7ABB-4E3E-B4EB-5EFF9C7A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526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7656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7656B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72" name="Connecteur droit avec flèche 35"/>
          <p:cNvCxnSpPr/>
          <p:nvPr/>
        </p:nvCxnSpPr>
        <p:spPr>
          <a:xfrm xmlns:a="http://schemas.openxmlformats.org/drawingml/2006/main">
            <a:off x="6057900" y="2247900"/>
            <a:ext cx="23241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7656B6"/>
            </a:solidFill>
            <a:prstDash val="solid"/>
          </a:ln>
        </p:spPr>
      </p:cxn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0401843-8B6D-456C-8194-FFBCAC91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0985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Valider prospectivement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844064F-CCCF-4B80-9BCD-130EDCDB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33750"/>
            <a:ext cx="23241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Sensibilité, spécificité, délai et intervalles de confiance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766B192-CA0C-4584-AB1C-1AC4FC73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526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2D8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2D8A5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cxnSp>
        <p:nvCxnSpPr>
          <p:cNvPr id="76" name="Connecteur droit avec flèche 39"/>
          <p:cNvCxnSpPr/>
          <p:nvPr/>
        </p:nvCxnSpPr>
        <p:spPr>
          <a:xfrm xmlns:a="http://schemas.openxmlformats.org/drawingml/2006/main">
            <a:off x="8839200" y="2247900"/>
            <a:ext cx="23241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D8A57"/>
            </a:solidFill>
            <a:prstDash val="solid"/>
          </a:ln>
        </p:spPr>
      </p:cxn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1A3D1456-DF50-4839-8BDE-F4EECB0D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0985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Évaluer l’usage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53E5C3F-E756-4B8B-A632-825A3BB9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33750"/>
            <a:ext cx="23241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E6875"/>
                </a:solidFill>
                <a:latin typeface="Helvetica Neue"/>
                <a:ea typeface="Helvetica Neue"/>
                <a:cs typeface="Helvetica Neue"/>
              </a:rPr>
              <a:t>Charge de revue A/B/C et causes des événements collectifs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89643A70-48C5-49DE-AA0E-0A4F31C9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00650"/>
            <a:ext cx="11125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B"/>
          </a:solidFill>
          <a:ln xmlns:a="http://schemas.openxmlformats.org/drawingml/2006/main" w="0">
            <a:solidFill>
              <a:srgbClr val="E8F0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42C4B21-DA1E-4591-8461-A9EB91AE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062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2474E5"/>
                </a:solidFill>
                <a:latin typeface="Helvetica Neue"/>
                <a:ea typeface="Helvetica Neue"/>
                <a:cs typeface="Helvetica Neue"/>
              </a:rPr>
              <a:t>Décisions proposées : confirmer la livraison de l’objectif 1 et identifier la cohorte clinique de validation.</a:t>
            </a:r>
          </a:p>
        </p:txBody>
      </p:sp>
    </p:spTree>
    <p:extLst>
      <p:ext uri="{BB962C8B-B14F-4D97-AF65-F5344CB8AC3E}">
        <p14:creationId xmlns:p14="http://schemas.microsoft.com/office/powerpoint/2010/main" val="19339405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CE1E22A-B528-4BBA-B212-1EBEEE06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C4E5"/>
          </a:solidFill>
          <a:ln xmlns:a="http://schemas.openxmlformats.org/drawingml/2006/main" w="0">
            <a:solidFill>
              <a:srgbClr val="65C4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E965AAF-C584-45CD-91C7-46E23866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5C4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5C4E5"/>
                </a:solidFill>
                <a:latin typeface="Helvetica Neue"/>
                <a:ea typeface="Helvetica Neue"/>
                <a:cs typeface="Helvetica Neue"/>
              </a:rPr>
              <a:t>McGILL / WELL-E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D14FF6F-F573-41E7-80E9-2C8BAED6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8382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Objectif 1 :</a:t>
            </a:r>
          </a:p>
          <a:p xmlns:a="http://schemas.openxmlformats.org/drawingml/2006/main">
            <a:pPr algn="l">
              <a:buNone/>
              <a:defRPr sz="39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traité, documenté</a:t>
            </a:r>
          </a:p>
          <a:p xmlns:a="http://schemas.openxmlformats.org/drawingml/2006/main">
            <a:pPr algn="l">
              <a:buNone/>
              <a:defRPr sz="39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et prêt pour la validation suivante.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D389C13-ACCA-476C-BD7C-33313E5D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530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D2D8D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 i="0">
                <a:solidFill>
                  <a:srgbClr val="D2D8DF"/>
                </a:solidFill>
                <a:latin typeface="Helvetica Neue"/>
                <a:ea typeface="Helvetica Neue"/>
                <a:cs typeface="Helvetica Neue"/>
              </a:rPr>
              <a:t>Merci. Questions et discussion.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5EB3CC5-DA20-47B0-9317-A8C0D244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867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30 juillet 2026</a:t>
            </a:r>
          </a:p>
        </p:txBody>
      </p:sp>
    </p:spTree>
    <p:extLst>
      <p:ext uri="{BB962C8B-B14F-4D97-AF65-F5344CB8AC3E}">
        <p14:creationId xmlns:p14="http://schemas.microsoft.com/office/powerpoint/2010/main" val="411169161"/>
      </p:ext>
    </p:extLst>
  </p:cSld>
</p:sld>
</file>

<file path=ppt/theme/theme1.xml><?xml version="1.0" encoding="utf-8"?>
<a:theme xmlns:a="http://schemas.openxmlformats.org/drawingml/2006/main" name="McGill WELL-E">
  <a:themeElements>
    <a:clrScheme name="McGill WELL-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cGill WELL-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Objectif 1 - Pipeline de détection sur données IceTag</dc:title>
  <dc:subject>Projet McGill / WELL-E - Livrable 1</dc:subject>
  <dc:creator>Aliou Barry</dc:creator>
  <cp:lastModifiedBy>Aliou Barry</cp:lastModifiedBy>
  <cp:revision>1</cp:revision>
</cp:coreProperties>
</file>