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Objectif 2 : relier les conditions environnementales au comportement locomoteur.</a:t>
            </a:r>
          </a:p>
          <a:p>
            <a:r>
              <a:t>Le message d'ouverture fixe la portee : analyse exploratoire des associations, sans demonstration causale.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SOW ne fixe aucune saison : il demande un jeu integre accelerometres, environnement et comportements.</a:t>
            </a:r>
          </a:p>
          <a:p>
            <a:r>
              <a:t>Les quatre livrables exiges sont couverts et localises dans le paquet.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87 501 intervalles vache-quinze minutes, 17 vaches, 62 jours.</a:t>
            </a:r>
          </a:p>
          <a:p>
            <a:r>
              <a:t>L'ecart avec les 139 111 intervalles de l'objectif 1 est attendu : les sondes ne couvrent la periode qu'a partir du 1er juillet.</a:t>
            </a:r>
          </a:p>
          <a:p>
            <a:r>
              <a:t>La vache 2067 est absente du sous-ensemble, faute de mesure environnementale concomitante.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THI est un indice de stress thermique estival, combinant temperature et humidite.</a:t>
            </a:r>
          </a:p>
          <a:p>
            <a:r>
              <a:t>Le climat etant commun a tout le troupeau, l'unite d'analyse est le timestamp troupeau, pas la vache.</a:t>
            </a:r>
          </a:p>
          <a:p>
            <a:r>
              <a:t>Le controle du jour est l'element clef : sans lui, on confond l'effet thermique avec tout ce qui distingue les journees.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Sans controle du jour : +0,221 pas par unite de THI, p = 6,15e-8.</a:t>
            </a:r>
          </a:p>
          <a:p>
            <a:r>
              <a:t>Avec controle du jour : +0,061, p = 0,364, non concluant.</a:t>
            </a:r>
          </a:p>
          <a:p>
            <a:r>
              <a:t>Interpretation : l'association est confondue avec le protocole d'exercice et la progression saisonniere.</a:t>
            </a:r>
          </a:p>
          <a:p>
            <a:r>
              <a:t>Le stress severe est trop rare dans ce corpus quebecois pour etre etudie.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modeles montrent une gradation, pas une opposition binaire.</a:t>
            </a:r>
          </a:p>
          <a:p>
            <a:r>
              <a:t>L'association resiste a une tendance calendaire simple, ce qui exclut une simple derive saisonniere lineaire.</a:t>
            </a:r>
          </a:p>
          <a:p>
            <a:r>
              <a:t>Elle ne resiste pas au controle complet du jour : d'autres differences entre journees expliquent le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section repond a la critique « une seule saison ».</a:t>
            </a:r>
          </a:p>
          <a:p>
            <a:r>
              <a:t>Seul Summer 2019 dispose de sondes exterieures : la comparaison utilise donc la temperature interieure, commune aux trois corpus.</a:t>
            </a:r>
          </a:p>
          <a:p>
            <a:r>
              <a:t>Winter 2019 ne comporte aucune donnee environnementale, il est structurellement exclu.</a:t>
            </a:r>
          </a:p>
          <a:p>
            <a:r>
              <a:t>Les releves de Fall 2021 melangent Celsius et Fahrenheit ; seuls les fichiers en Celsius recouvrent la fenetre analysee.</a:t>
            </a:r>
          </a:p>
          <a:p>
            <a:r>
              <a:t>PLACEMENT DES SONDES — Pour Summer 2019 il est documente : les fichiers sont ranges dans des repertoires Inside et Outside. Pour les deux automnes, aucune documentation : le placement interieur est deduit des releves eux-memes : 3,8 a 17,8 degres du 11 novembre au 13 decembre pour Fall 2019, 6,5 a 16,4 pour Fall 2021 sur les fichiers en Celsius. Valeurs impossibles dehors au Quebec a cette periode, et aucun releve sous zero. Deduction solide, mais a confirmer par McGill.</a:t>
            </a:r>
          </a:p>
          <a:p>
            <a:r>
              <a:t>QUALITE DES DONNEES — Fall 2019 est propre : aucun doublon sur 34 847 releves. Fall 2021 contient 12 % de doublons exacts et des fichiers en Fahrenheit, tous hors de la fenetre analysee.</a:t>
            </a:r>
          </a:p>
          <a:p>
            <a:r>
              <a:t>ROBUSTESSE — L'analyse de Fall 2021 a ete refaite selon trois preparations (tous les fichiers, dedoublonne, seul le repertoire de la fenetre). Les trois donnent le meme resultat, p entre 0,447 et 0,454. Les doublons etant exacts, ils ne modifient pas une moyenne.</a:t>
            </a:r>
          </a:p>
          <a:p>
            <a:r>
              <a:t>QUESTION POSSIBLE — « Comment savez-vous ou etaient les sondes ? » Repondre : documente pour Summer, deduit des temperatures pour les automnes, et je vous invite a le confirmer.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scans sont rares : 51 observations sur 8 jours, pour 8 vaches.</a:t>
            </a:r>
          </a:p>
          <a:p>
            <a:r>
              <a:t>L'alimentation montre un signal positif, mais sur 8 jours seulement.</a:t>
            </a:r>
          </a:p>
          <a:p>
            <a:r>
              <a:t>Conclusion : le comportement ne peut pas encore servir de covariable robuste.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livrables du SOW sont presents et localises.</a:t>
            </a:r>
          </a:p>
          <a:p>
            <a:r>
              <a:t>Le code livre permet de recalculer toutes les analyses depuis le paquet, sans acces au projet complet pour les deux premiers scripts.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separation entre ce qui est etabli et ce qui ne l'est pas doit rester explicite.</a:t>
            </a:r>
          </a:p>
          <a:p>
            <a:r>
              <a:t>Le stress severe etant rare (1,1 % des intervalles), ce corpus ne permet pas de l'etudier.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priorite n'est pas un modele plus complexe, mais une meilleure structure de collecte.</a:t>
            </a:r>
          </a:p>
          <a:p>
            <a:r>
              <a:t>Fall 2019 dispose de sondes exploitables pour les basses temperatures, avec un indicateur adapte au froid.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Conclure sur les trois messages, puis ouvrir la discussion sur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563100" y="0"/>
            <a:ext cx="165100" cy="6858000"/>
          </a:xfrm>
          <a:prstGeom prst="rect">
            <a:avLst/>
          </a:prstGeom>
          <a:solidFill>
            <a:srgbClr val="65C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95300" y="406400"/>
            <a:ext cx="508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5C4E5"/>
                </a:solidFill>
                <a:latin typeface="Helvetica Neue"/>
              </a:rPr>
              <a:t>McGILL / WELL-E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286000"/>
            <a:ext cx="889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Helvetica Neue"/>
              </a:rPr>
              <a:t>Objectif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" y="3124200"/>
            <a:ext cx="8890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Helvetica Neue"/>
              </a:rPr>
              <a:t>Conditions environnementales et</a:t>
            </a:r>
          </a:p>
          <a:p>
            <a:pPr algn="l"/>
            <a:r>
              <a:rPr sz="2400" b="0" i="0">
                <a:solidFill>
                  <a:srgbClr val="FFFFFF"/>
                </a:solidFill>
                <a:latin typeface="Helvetica Neue"/>
              </a:rPr>
              <a:t>comportement locomoteur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5461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5C4E5"/>
                </a:solidFill>
                <a:latin typeface="Helvetica Neue"/>
              </a:rPr>
              <a:t>Rapport de livraison  ·  Aliou Barry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877E"/>
                </a:solidFill>
                <a:latin typeface="Helvetica Neue"/>
              </a:rPr>
              <a:t>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Ce que demandait le mandat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" y="1676400"/>
            <a:ext cx="5232400" cy="3175000"/>
          </a:xfrm>
          <a:prstGeom prst="rect">
            <a:avLst/>
          </a:prstGeom>
          <a:solidFill>
            <a:srgbClr val="E9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0100" y="2006600"/>
            <a:ext cx="4470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877E"/>
                </a:solidFill>
                <a:latin typeface="Helvetica Neue"/>
              </a:rPr>
              <a:t>TÂCHE 2.1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" y="2540000"/>
            <a:ext cx="88900" cy="88900"/>
          </a:xfrm>
          <a:prstGeom prst="rect">
            <a:avLst/>
          </a:prstGeom>
          <a:solidFill>
            <a:srgbClr val="14877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6000" y="2463800"/>
            <a:ext cx="42545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0" i="0">
                <a:solidFill>
                  <a:srgbClr val="111111"/>
                </a:solidFill>
                <a:latin typeface="Helvetica Neue"/>
              </a:rPr>
              <a:t>Synchroniser environnement et accéléromètres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" y="3098800"/>
            <a:ext cx="88900" cy="88900"/>
          </a:xfrm>
          <a:prstGeom prst="rect">
            <a:avLst/>
          </a:prstGeom>
          <a:solidFill>
            <a:srgbClr val="14877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16000" y="3022600"/>
            <a:ext cx="42545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0" i="0">
                <a:solidFill>
                  <a:srgbClr val="111111"/>
                </a:solidFill>
                <a:latin typeface="Helvetica Neue"/>
              </a:rPr>
              <a:t>Fusionner activité, environnement et comportement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" y="3657600"/>
            <a:ext cx="88900" cy="88900"/>
          </a:xfrm>
          <a:prstGeom prst="rect">
            <a:avLst/>
          </a:prstGeom>
          <a:solidFill>
            <a:srgbClr val="14877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16000" y="3581400"/>
            <a:ext cx="42545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0" i="0">
                <a:solidFill>
                  <a:srgbClr val="111111"/>
                </a:solidFill>
                <a:latin typeface="Helvetica Neue"/>
              </a:rPr>
              <a:t>Documenter la procédure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4400" y="1676400"/>
            <a:ext cx="5613400" cy="3175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2006600"/>
            <a:ext cx="4762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474E5"/>
                </a:solidFill>
                <a:latin typeface="Helvetica Neue"/>
              </a:rPr>
              <a:t>TÂCHE 2.2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99200" y="2540000"/>
            <a:ext cx="88900" cy="88900"/>
          </a:xfrm>
          <a:prstGeom prst="rect">
            <a:avLst/>
          </a:prstGeom>
          <a:solidFill>
            <a:srgbClr val="247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5100" y="2463800"/>
            <a:ext cx="47371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0" i="0">
                <a:solidFill>
                  <a:srgbClr val="111111"/>
                </a:solidFill>
                <a:latin typeface="Helvetica Neue"/>
              </a:rPr>
              <a:t>Analyser l'activité selon température et humidité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9200" y="3098800"/>
            <a:ext cx="88900" cy="88900"/>
          </a:xfrm>
          <a:prstGeom prst="rect">
            <a:avLst/>
          </a:prstGeom>
          <a:solidFill>
            <a:srgbClr val="247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5100" y="3022600"/>
            <a:ext cx="47371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0" i="0">
                <a:solidFill>
                  <a:srgbClr val="111111"/>
                </a:solidFill>
                <a:latin typeface="Helvetica Neue"/>
              </a:rPr>
              <a:t>Évaluer si le comportement peut servir de covariable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99200" y="3657600"/>
            <a:ext cx="88900" cy="88900"/>
          </a:xfrm>
          <a:prstGeom prst="rect">
            <a:avLst/>
          </a:prstGeom>
          <a:solidFill>
            <a:srgbClr val="247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15100" y="3581400"/>
            <a:ext cx="47371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25" b="0" i="0">
                <a:solidFill>
                  <a:srgbClr val="111111"/>
                </a:solidFill>
                <a:latin typeface="Helvetica Neue"/>
              </a:rPr>
              <a:t>Identifier les limites et les pistes de modélisation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300" y="5130800"/>
            <a:ext cx="11112500" cy="584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3900" y="53086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474E5"/>
                </a:solidFill>
                <a:latin typeface="Helvetica Neue"/>
              </a:rPr>
              <a:t>Livrable attendu : jeu de données intégré, documentation, rapport exploratoire et note de faisabilité.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877E"/>
                </a:solidFill>
                <a:latin typeface="Helvetica Neue"/>
              </a:rPr>
              <a:t>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Trois modalités synchronisées sur Summer 2019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778000"/>
            <a:ext cx="254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4877E"/>
                </a:solidFill>
                <a:latin typeface="Helvetica Neue"/>
              </a:rPr>
              <a:t>87 501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" y="2235200"/>
            <a:ext cx="254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E6875"/>
                </a:solidFill>
                <a:latin typeface="Helvetica Neue"/>
              </a:rPr>
              <a:t>intervalles vache-15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8500" y="1778000"/>
            <a:ext cx="190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474E5"/>
                </a:solidFill>
                <a:latin typeface="Helvetica Neue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2352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E6875"/>
                </a:solidFill>
                <a:latin typeface="Helvetica Neue"/>
              </a:rPr>
              <a:t>vaches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0" y="1778000"/>
            <a:ext cx="190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656B6"/>
                </a:solidFill>
                <a:latin typeface="Helvetica Neue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22352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E6875"/>
                </a:solidFill>
                <a:latin typeface="Helvetica Neue"/>
              </a:rPr>
              <a:t>jours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1778000"/>
            <a:ext cx="254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D8A57"/>
                </a:solidFill>
                <a:latin typeface="Helvetica Neue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2235200"/>
            <a:ext cx="254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E6875"/>
                </a:solidFill>
                <a:latin typeface="Helvetica Neue"/>
              </a:rPr>
              <a:t>scans comportementaux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3048000"/>
            <a:ext cx="3175000" cy="3810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6900" y="3149600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Modalité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0300" y="3048000"/>
            <a:ext cx="3810000" cy="3810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71900" y="3149600"/>
            <a:ext cx="360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80300" y="3048000"/>
            <a:ext cx="4127500" cy="3810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81900" y="3149600"/>
            <a:ext cx="3924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Résolution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5300" y="3429000"/>
            <a:ext cx="3175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6900" y="3530600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Activité locomotrice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70300" y="3429000"/>
            <a:ext cx="3810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771900" y="3530600"/>
            <a:ext cx="360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Accéléromètres IceTag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80300" y="3429000"/>
            <a:ext cx="4127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581900" y="3530600"/>
            <a:ext cx="3924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intervalles de 15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5300" y="3810000"/>
            <a:ext cx="31750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6900" y="3911600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Environnement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70300" y="3810000"/>
            <a:ext cx="38100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771900" y="3911600"/>
            <a:ext cx="360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Sondes HOBO extérieures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80300" y="3810000"/>
            <a:ext cx="41275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581900" y="3911600"/>
            <a:ext cx="3924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agrégé à 15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5300" y="4191000"/>
            <a:ext cx="3175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6900" y="4292600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Comportement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0300" y="4191000"/>
            <a:ext cx="3810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771900" y="4292600"/>
            <a:ext cx="360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Scans d'observation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80300" y="4191000"/>
            <a:ext cx="4127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581900" y="4292600"/>
            <a:ext cx="3924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ponctuel, par jour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5300" y="5080000"/>
            <a:ext cx="11112500" cy="787400"/>
          </a:xfrm>
          <a:prstGeom prst="rect">
            <a:avLst/>
          </a:prstGeom>
          <a:solidFill>
            <a:srgbClr val="FBEDED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23900" y="5257800"/>
            <a:ext cx="10668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94A4A"/>
                </a:solidFill>
                <a:latin typeface="Helvetica Neue"/>
              </a:rPr>
              <a:t>Périmètre : les sondes HOBO démarrent le 1er juillet alors que les IceTag tournent depuis le 5 juin.</a:t>
            </a:r>
          </a:p>
          <a:p>
            <a:pPr algn="l"/>
            <a:r>
              <a:rPr sz="1300" b="0" i="0">
                <a:solidFill>
                  <a:srgbClr val="B94A4A"/>
                </a:solidFill>
                <a:latin typeface="Helvetica Neue"/>
              </a:rPr>
              <a:t>L'analyse porte donc sur 62,9 % du corpus Summer 2019, soit le sous-ensemble réellement apparié.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656B6"/>
                </a:solidFill>
                <a:latin typeface="Helvetica Neue"/>
              </a:rPr>
              <a:t>MÉTHODE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Une question simple, trois niveaux de contrôle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8415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474E5"/>
                </a:solidFill>
                <a:latin typeface="Helvetica Neue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300" y="2311400"/>
            <a:ext cx="2476500" cy="50800"/>
          </a:xfrm>
          <a:prstGeom prst="rect">
            <a:avLst/>
          </a:prstGeom>
          <a:solidFill>
            <a:srgbClr val="247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95300" y="2565400"/>
            <a:ext cx="24765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Helvetica Neue"/>
              </a:rPr>
              <a:t>Indice THI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" y="32766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E6875"/>
                </a:solidFill>
                <a:latin typeface="Helvetica Neue"/>
              </a:rPr>
              <a:t>Température et humidité combinées en un indice de stress thermique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4700" y="18415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4877E"/>
                </a:solidFill>
                <a:latin typeface="Helvetica Neue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4700" y="2311400"/>
            <a:ext cx="2476500" cy="50800"/>
          </a:xfrm>
          <a:prstGeom prst="rect">
            <a:avLst/>
          </a:prstGeom>
          <a:solidFill>
            <a:srgbClr val="14877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14700" y="2565400"/>
            <a:ext cx="24765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Helvetica Neue"/>
              </a:rPr>
              <a:t>Agrégation troupeau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4700" y="32766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E6875"/>
                </a:solidFill>
                <a:latin typeface="Helvetica Neue"/>
              </a:rPr>
              <a:t>Le climat est commun : moyenne du troupeau par intervalle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4100" y="18415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7656B6"/>
                </a:solidFill>
                <a:latin typeface="Helvetica Neue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4100" y="2311400"/>
            <a:ext cx="2476500" cy="50800"/>
          </a:xfrm>
          <a:prstGeom prst="rect">
            <a:avLst/>
          </a:prstGeom>
          <a:solidFill>
            <a:srgbClr val="7656B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34100" y="2565400"/>
            <a:ext cx="24765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Helvetica Neue"/>
              </a:rPr>
              <a:t>Contrôle de l'heure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4100" y="32766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E6875"/>
                </a:solidFill>
                <a:latin typeface="Helvetica Neue"/>
              </a:rPr>
              <a:t>Le rythme circadien est retiré du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3500" y="18415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D8A57"/>
                </a:solidFill>
                <a:latin typeface="Helvetica Neue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3500" y="2311400"/>
            <a:ext cx="2476500" cy="50800"/>
          </a:xfrm>
          <a:prstGeom prst="rect">
            <a:avLst/>
          </a:prstGeom>
          <a:solidFill>
            <a:srgbClr val="2D8A5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53500" y="2565400"/>
            <a:ext cx="24765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Helvetica Neue"/>
              </a:rPr>
              <a:t>Contrôle du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0" y="32766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E6875"/>
                </a:solidFill>
                <a:latin typeface="Helvetica Neue"/>
              </a:rPr>
              <a:t>On compare uniquement à l'intérieur d'une même journée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300" y="5130800"/>
            <a:ext cx="11112500" cy="584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3900" y="53086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474E5"/>
                </a:solidFill>
                <a:latin typeface="Helvetica Neue"/>
              </a:rPr>
              <a:t>Le contrôle du jour est décisif : il sépare ce qui distingue les journées de l'effet propre à la température.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B94A4A"/>
                </a:solidFill>
                <a:latin typeface="Helvetica Neue"/>
              </a:rPr>
              <a:t>RÉSULTAT PRINCIPAL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L'association disparaît après contrôle du jour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" y="1778000"/>
            <a:ext cx="54610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6900" y="1879600"/>
            <a:ext cx="5257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Analyse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56300" y="1778000"/>
            <a:ext cx="19050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57900" y="18796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Effet THI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1300" y="1778000"/>
            <a:ext cx="18415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62900" y="1879600"/>
            <a:ext cx="1638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IC 95 %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02800" y="1778000"/>
            <a:ext cx="19050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804400" y="18796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2184400"/>
            <a:ext cx="5461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6900" y="2286000"/>
            <a:ext cx="5257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Modèle mixte vache : Steps ~ THI + heure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56300" y="2184400"/>
            <a:ext cx="1905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57900" y="22860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+0,198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1300" y="2184400"/>
            <a:ext cx="18415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62900" y="2286000"/>
            <a:ext cx="1638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[0,180 ; 0,216]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02800" y="2184400"/>
            <a:ext cx="1905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804400" y="22860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7,7e-102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300" y="2590800"/>
            <a:ext cx="5461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6900" y="2692400"/>
            <a:ext cx="5257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Troupeau : Steps ~ THI + heure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56300" y="2590800"/>
            <a:ext cx="1905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57900" y="26924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+0,221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1300" y="2590800"/>
            <a:ext cx="18415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962900" y="2692400"/>
            <a:ext cx="1638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[0,141 ; 0,301]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02800" y="2590800"/>
            <a:ext cx="1905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804400" y="26924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6,15e-8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5300" y="2997200"/>
            <a:ext cx="5461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6900" y="3098800"/>
            <a:ext cx="5257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Troupeau : Steps ~ THI + heure + jour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56300" y="2997200"/>
            <a:ext cx="1905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057900" y="30988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+0,061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1300" y="2997200"/>
            <a:ext cx="18415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962900" y="3098800"/>
            <a:ext cx="1638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[-0,070 ; 0,192]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02800" y="2997200"/>
            <a:ext cx="1905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804400" y="30988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0,364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5300" y="3403600"/>
            <a:ext cx="5461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96900" y="3505200"/>
            <a:ext cx="5257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Motion Index ~ THI + heure + jour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56300" y="3403600"/>
            <a:ext cx="1905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057900" y="35052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+0,091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1300" y="3403600"/>
            <a:ext cx="18415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962900" y="3505200"/>
            <a:ext cx="1638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[-0,473 ; 0,655]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702800" y="3403600"/>
            <a:ext cx="1905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804400" y="3505200"/>
            <a:ext cx="1701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0,752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300" y="4064000"/>
            <a:ext cx="11112500" cy="965200"/>
          </a:xfrm>
          <a:prstGeom prst="rect">
            <a:avLst/>
          </a:prstGeom>
          <a:solidFill>
            <a:srgbClr val="FBEDED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23900" y="4267200"/>
            <a:ext cx="10668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B94A4A"/>
                </a:solidFill>
                <a:latin typeface="Helvetica Neue"/>
              </a:rPr>
              <a:t>Sans contrôle du jour, l'effet paraît fort et très significatif. Avec ce contrôle, il tombe à +0,061 et devient</a:t>
            </a:r>
          </a:p>
          <a:p>
            <a:pPr algn="l"/>
            <a:r>
              <a:rPr sz="1400" b="0" i="0">
                <a:solidFill>
                  <a:srgbClr val="B94A4A"/>
                </a:solidFill>
                <a:latin typeface="Helvetica Neue"/>
              </a:rPr>
              <a:t>non concluant. L'association existe donc entre les journées, sans effet thermique propre démontré.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5300" y="5232400"/>
            <a:ext cx="11112500" cy="5842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23900" y="54102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Helvetica Neue"/>
              </a:rPr>
              <a:t>Le stress sévère (THI ≥ 80) ne concerne que 1,1 % des intervalles : ce corpus ne permet pas de l'étudier.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474E5"/>
                </a:solidFill>
                <a:latin typeface="Helvetica Neue"/>
              </a:rPr>
              <a:t>CONTRÔLES COMPLÉMENTAIRES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Six modèles pour situer l'association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" y="1778000"/>
            <a:ext cx="5969000" cy="3810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6900" y="1879600"/>
            <a:ext cx="576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Modèle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64300" y="1778000"/>
            <a:ext cx="2540000" cy="3810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65900" y="18796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Effet THI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4300" y="1778000"/>
            <a:ext cx="2603500" cy="3810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05900" y="1879600"/>
            <a:ext cx="2400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2159000"/>
            <a:ext cx="5969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6900" y="2260600"/>
            <a:ext cx="576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Global, ajusté pour l'heure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300" y="2159000"/>
            <a:ext cx="2540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65900" y="22606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+0,221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4300" y="2159000"/>
            <a:ext cx="2603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05900" y="2260600"/>
            <a:ext cx="2400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6,15e-8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300" y="2540000"/>
            <a:ext cx="59690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6900" y="2641600"/>
            <a:ext cx="576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Global + tendance calendaire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64300" y="2540000"/>
            <a:ext cx="25400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65900" y="26416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+0,129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4300" y="2540000"/>
            <a:ext cx="26035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05900" y="2641600"/>
            <a:ext cx="2400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0,020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300" y="2921000"/>
            <a:ext cx="5969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6900" y="3022600"/>
            <a:ext cx="576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Entre journées (62 jours)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64300" y="2921000"/>
            <a:ext cx="2540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65900" y="30226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+0,273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04300" y="2921000"/>
            <a:ext cx="2603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05900" y="3022600"/>
            <a:ext cx="2400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9,20e-8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5300" y="3302000"/>
            <a:ext cx="59690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6900" y="3403600"/>
            <a:ext cx="576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Entre journées + tendance calendaire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64300" y="3302000"/>
            <a:ext cx="25400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565900" y="34036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+0,162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4300" y="3302000"/>
            <a:ext cx="26035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05900" y="3403600"/>
            <a:ext cx="2400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0,030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5300" y="3683000"/>
            <a:ext cx="5969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6900" y="3784600"/>
            <a:ext cx="576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Intra-jour strict (jour fixe)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64300" y="3683000"/>
            <a:ext cx="2540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65900" y="37846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+0,061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04300" y="3683000"/>
            <a:ext cx="26035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05900" y="3784600"/>
            <a:ext cx="2400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0,364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300" y="4064000"/>
            <a:ext cx="59690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96900" y="4165600"/>
            <a:ext cx="576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Intra-jour, autre estimation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64300" y="4064000"/>
            <a:ext cx="25400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565900" y="4165600"/>
            <a:ext cx="233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+0,061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04300" y="4064000"/>
            <a:ext cx="2603500" cy="3810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105900" y="4165600"/>
            <a:ext cx="2400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0,291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5300" y="4445000"/>
            <a:ext cx="11112500" cy="8382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23900" y="4648200"/>
            <a:ext cx="10668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Helvetica Neue"/>
              </a:rPr>
              <a:t>L'association survit à une tendance saisonnière linéaire, mais pas au contrôle complet du jour.</a:t>
            </a:r>
          </a:p>
          <a:p>
            <a:pPr algn="l"/>
            <a:r>
              <a:rPr sz="1400" b="1" i="0">
                <a:solidFill>
                  <a:srgbClr val="111111"/>
                </a:solidFill>
                <a:latin typeface="Helvetica Neue"/>
              </a:rPr>
              <a:t>Elle est donc réelle entre les journées, sans être attribuable à la seule température.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D8A57"/>
                </a:solidFill>
                <a:latin typeface="Helvetica Neue"/>
              </a:rPr>
              <a:t>ROBUSTESSE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Le résultat se reproduit sur trois corpus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" y="1778000"/>
            <a:ext cx="27940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6900" y="1879600"/>
            <a:ext cx="2590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Corpus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9300" y="1778000"/>
            <a:ext cx="13970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390900" y="1879600"/>
            <a:ext cx="1193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Vaches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778000"/>
            <a:ext cx="13970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787900" y="1879600"/>
            <a:ext cx="1193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Jours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3300" y="1778000"/>
            <a:ext cx="27940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84900" y="1879600"/>
            <a:ext cx="2590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Entre journées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77300" y="1778000"/>
            <a:ext cx="27305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978900" y="1879600"/>
            <a:ext cx="2527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Intra-jour strict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300" y="2184400"/>
            <a:ext cx="2794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96900" y="2286000"/>
            <a:ext cx="2590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Summer 2019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9300" y="2184400"/>
            <a:ext cx="1397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390900" y="2286000"/>
            <a:ext cx="1193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184400"/>
            <a:ext cx="1397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787900" y="2286000"/>
            <a:ext cx="1193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74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3300" y="2184400"/>
            <a:ext cx="2794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84900" y="2286000"/>
            <a:ext cx="2590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+0,527 (p &lt; 0,001)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77300" y="2184400"/>
            <a:ext cx="27305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78900" y="2286000"/>
            <a:ext cx="2527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+0,043 (p = 0,655)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5300" y="2590800"/>
            <a:ext cx="2794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6900" y="2692400"/>
            <a:ext cx="2590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Fall 2019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89300" y="2590800"/>
            <a:ext cx="1397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390900" y="2692400"/>
            <a:ext cx="1193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6300" y="2590800"/>
            <a:ext cx="1397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787900" y="2692400"/>
            <a:ext cx="1193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33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3300" y="2590800"/>
            <a:ext cx="2794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184900" y="2692400"/>
            <a:ext cx="2590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+0,107 (p = 0,618)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77300" y="2590800"/>
            <a:ext cx="27305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78900" y="2692400"/>
            <a:ext cx="2527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-0,182 (p = 0,171)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5300" y="2997200"/>
            <a:ext cx="2794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6900" y="3098800"/>
            <a:ext cx="2590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Fall 2021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89300" y="2997200"/>
            <a:ext cx="1397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390900" y="3098800"/>
            <a:ext cx="1193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86300" y="2997200"/>
            <a:ext cx="1397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787900" y="3098800"/>
            <a:ext cx="1193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83300" y="2997200"/>
            <a:ext cx="2794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84900" y="3098800"/>
            <a:ext cx="2590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+0,824 (p = 0,003)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77300" y="2997200"/>
            <a:ext cx="27305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978900" y="3098800"/>
            <a:ext cx="2527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+0,311 (p = 0,454)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300" y="3657600"/>
            <a:ext cx="11112500" cy="914400"/>
          </a:xfrm>
          <a:prstGeom prst="rect">
            <a:avLst/>
          </a:prstGeom>
          <a:solidFill>
            <a:srgbClr val="E9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23900" y="3860800"/>
            <a:ext cx="10668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4877E"/>
                </a:solidFill>
                <a:latin typeface="Helvetica Neue"/>
              </a:rPr>
              <a:t>L'effet intra-jour est non concluant dans les trois corpus. Summer 2019 et Fall 2021 montrent pourtant une</a:t>
            </a:r>
          </a:p>
          <a:p>
            <a:pPr algn="l"/>
            <a:r>
              <a:rPr sz="1400" b="0" i="0">
                <a:solidFill>
                  <a:srgbClr val="14877E"/>
                </a:solidFill>
                <a:latin typeface="Helvetica Neue"/>
              </a:rPr>
              <a:t>association forte entre les journées : le contrôle du jour écarte donc un artefact de façon reproductible.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5300" y="4775200"/>
            <a:ext cx="11112500" cy="1041400"/>
          </a:xfrm>
          <a:prstGeom prst="rect">
            <a:avLst/>
          </a:prstGeom>
          <a:solidFill>
            <a:srgbClr val="FBEDED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23900" y="4953000"/>
            <a:ext cx="10668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94A4A"/>
                </a:solidFill>
                <a:latin typeface="Helvetica Neue"/>
              </a:rPr>
              <a:t>Limites. Comparaison faite sur la température intérieure, seule mesure commune aux trois corpus : elle complète</a:t>
            </a:r>
          </a:p>
          <a:p>
            <a:pPr algn="l"/>
            <a:r>
              <a:rPr sz="1300" b="0" i="0">
                <a:solidFill>
                  <a:srgbClr val="B94A4A"/>
                </a:solidFill>
                <a:latin typeface="Helvetica Neue"/>
              </a:rPr>
              <a:t>l'analyse THI extérieure sans la remplacer. Fall 2021 ne couvre que sept jours. Winter 2019 est écarté, faute de</a:t>
            </a:r>
          </a:p>
          <a:p>
            <a:pPr algn="l"/>
            <a:r>
              <a:rPr sz="1300" b="0" i="0">
                <a:solidFill>
                  <a:srgbClr val="B94A4A"/>
                </a:solidFill>
                <a:latin typeface="Helvetica Neue"/>
              </a:rPr>
              <a:t>toute donnée environnementale.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7656B6"/>
                </a:solidFill>
                <a:latin typeface="Helvetica Neue"/>
              </a:rPr>
              <a:t>COMPORTEMENT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Le volet comportemental reste exploratoire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905000"/>
            <a:ext cx="228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656B6"/>
                </a:solidFill>
                <a:latin typeface="Helvetica Neue"/>
              </a:rPr>
              <a:t>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" y="2362200"/>
            <a:ext cx="228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E6875"/>
                </a:solidFill>
                <a:latin typeface="Helvetica Neue"/>
              </a:rPr>
              <a:t>scans comportementaux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1500" y="1905000"/>
            <a:ext cx="228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4877E"/>
                </a:solidFill>
                <a:latin typeface="Helvetica Neue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1500" y="2362200"/>
            <a:ext cx="228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E6875"/>
                </a:solidFill>
                <a:latin typeface="Helvetica Neue"/>
              </a:rPr>
              <a:t>scans trimodaux complets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0" y="1905000"/>
            <a:ext cx="1905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474E5"/>
                </a:solidFill>
                <a:latin typeface="Helvetica Neue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0" y="23622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E6875"/>
                </a:solidFill>
                <a:latin typeface="Helvetica Neue"/>
              </a:rPr>
              <a:t>jours de 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0" y="1905000"/>
            <a:ext cx="2286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2D8A57"/>
                </a:solidFill>
                <a:latin typeface="Helvetica Neue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0" y="2362200"/>
            <a:ext cx="2286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E6875"/>
                </a:solidFill>
                <a:latin typeface="Helvetica Neue"/>
              </a:rPr>
              <a:t>vaches observées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3327400"/>
            <a:ext cx="11112500" cy="7620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23900" y="3505200"/>
            <a:ext cx="10668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Helvetica Neue"/>
              </a:rPr>
              <a:t>Au niveau du jour, seule l'alimentation ressort : rho = 0,738, p = 0,037, sur 8 jours.</a:t>
            </a:r>
          </a:p>
          <a:p>
            <a:pPr algn="l"/>
            <a:r>
              <a:rPr sz="1500" b="1" i="0">
                <a:solidFill>
                  <a:srgbClr val="111111"/>
                </a:solidFill>
                <a:latin typeface="Helvetica Neue"/>
              </a:rPr>
              <a:t>Les autres catégories ne sont pas significatives.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300" y="4318000"/>
            <a:ext cx="11112500" cy="1041400"/>
          </a:xfrm>
          <a:prstGeom prst="rect">
            <a:avLst/>
          </a:prstGeom>
          <a:solidFill>
            <a:srgbClr val="FBEDED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3900" y="4495800"/>
            <a:ext cx="10668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94A4A"/>
                </a:solidFill>
                <a:latin typeface="Helvetica Neue"/>
              </a:rPr>
              <a:t>Portée. Ce résultat est suggestif, pas confirmatoire. Les 51 scans ne représentent pas 51 expositions thermiques</a:t>
            </a:r>
          </a:p>
          <a:p>
            <a:pPr algn="l"/>
            <a:r>
              <a:rPr sz="1300" b="0" i="0">
                <a:solidFill>
                  <a:srgbClr val="B94A4A"/>
                </a:solidFill>
                <a:latin typeface="Helvetica Neue"/>
              </a:rPr>
              <a:t>indépendantes, puisque plusieurs vaches partagent le même THI journalier. Huit jours sont insuffisants pour</a:t>
            </a:r>
          </a:p>
          <a:p>
            <a:pPr algn="l"/>
            <a:r>
              <a:rPr sz="1300" b="0" i="0">
                <a:solidFill>
                  <a:srgbClr val="B94A4A"/>
                </a:solidFill>
                <a:latin typeface="Helvetica Neue"/>
              </a:rPr>
              <a:t>intégrer le comportement comme covariable robuste.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474E5"/>
                </a:solidFill>
                <a:latin typeface="Helvetica Neue"/>
              </a:rPr>
              <a:t>DOSSIER DE LIVRAISON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Les livrables du SOW sont couverts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" y="1778000"/>
            <a:ext cx="38100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6900" y="1879600"/>
            <a:ext cx="3606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Livrable SOW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305300" y="1778000"/>
            <a:ext cx="7302500" cy="406400"/>
          </a:xfrm>
          <a:prstGeom prst="rect">
            <a:avLst/>
          </a:prstGeom>
          <a:solidFill>
            <a:srgbClr val="111111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6900" y="1879600"/>
            <a:ext cx="7099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Helvetica Neue"/>
              </a:rPr>
              <a:t>Fichier livré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2184400"/>
            <a:ext cx="3810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6900" y="2286000"/>
            <a:ext cx="3606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2.1 Jeu intégré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5300" y="2184400"/>
            <a:ext cx="73025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06900" y="2286000"/>
            <a:ext cx="7099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DONNEES_SYNCHRONISEES/summer2019_multimodal_cow_day.csv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2590800"/>
            <a:ext cx="3810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6900" y="2692400"/>
            <a:ext cx="3606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2.1 Documentation de synchronisation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5300" y="2590800"/>
            <a:ext cx="73025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06900" y="2692400"/>
            <a:ext cx="7099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NOTES_SOW/documentation_synchronisation.md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5300" y="2997200"/>
            <a:ext cx="3810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6900" y="3098800"/>
            <a:ext cx="3606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2.2 Rapport d'analyse exploratoire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05300" y="2997200"/>
            <a:ext cx="73025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06900" y="3098800"/>
            <a:ext cx="7099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RAPPORTS/Objectif2_rapport_livraison.docx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300" y="3403600"/>
            <a:ext cx="38100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6900" y="3505200"/>
            <a:ext cx="36068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2.2 Faisabilité d'un modèle intégré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05300" y="3403600"/>
            <a:ext cx="7302500" cy="406400"/>
          </a:xfrm>
          <a:prstGeom prst="rect">
            <a:avLst/>
          </a:prstGeom>
          <a:solidFill>
            <a:srgbClr val="F5F6F7"/>
          </a:solidFill>
          <a:ln w="9525">
            <a:solidFill>
              <a:srgbClr val="D5DAE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406900" y="3505200"/>
            <a:ext cx="70993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Helvetica Neue"/>
              </a:rPr>
              <a:t>NOTES_SOW/notes_faisabilite_modelisation.md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5300" y="4089400"/>
            <a:ext cx="11112500" cy="965200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23900" y="4292600"/>
            <a:ext cx="10668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Helvetica Neue"/>
              </a:rPr>
              <a:t>Le paquet contient également 8 tableaux CSV, 2 figures, 4 tables synchronisées et le code de reproduction</a:t>
            </a:r>
          </a:p>
          <a:p>
            <a:pPr algn="l"/>
            <a:r>
              <a:rPr sz="1400" b="1" i="0">
                <a:solidFill>
                  <a:srgbClr val="111111"/>
                </a:solidFill>
                <a:latin typeface="Helvetica Neue"/>
              </a:rPr>
              <a:t>(notebook de synchronisation et trois scripts d'analyse), avec un guide d'exécution.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D8A57"/>
                </a:solidFill>
                <a:latin typeface="Helvetica Neue"/>
              </a:rPr>
              <a:t>PORTÉE SCIENTIFIQUE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Ce que les résultats permettent de conclure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300" y="1676400"/>
            <a:ext cx="5232400" cy="3683000"/>
          </a:xfrm>
          <a:prstGeom prst="rect">
            <a:avLst/>
          </a:prstGeom>
          <a:solidFill>
            <a:srgbClr val="E9F4E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0100" y="2006600"/>
            <a:ext cx="4470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4877E"/>
                </a:solidFill>
                <a:latin typeface="Helvetica Neue"/>
              </a:rPr>
              <a:t>ÉTABLI PAR LE TRAVAIL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" y="2540000"/>
            <a:ext cx="88900" cy="88900"/>
          </a:xfrm>
          <a:prstGeom prst="rect">
            <a:avLst/>
          </a:prstGeom>
          <a:solidFill>
            <a:srgbClr val="14877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6000" y="2463800"/>
            <a:ext cx="42545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11111"/>
                </a:solidFill>
                <a:latin typeface="Helvetica Neue"/>
              </a:rPr>
              <a:t>Synchronisation des trois modalités réalisée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" y="3124200"/>
            <a:ext cx="88900" cy="88900"/>
          </a:xfrm>
          <a:prstGeom prst="rect">
            <a:avLst/>
          </a:prstGeom>
          <a:solidFill>
            <a:srgbClr val="14877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16000" y="3048000"/>
            <a:ext cx="42545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11111"/>
                </a:solidFill>
                <a:latin typeface="Helvetica Neue"/>
              </a:rPr>
              <a:t>Association positive entre les journées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" y="3708400"/>
            <a:ext cx="88900" cy="88900"/>
          </a:xfrm>
          <a:prstGeom prst="rect">
            <a:avLst/>
          </a:prstGeom>
          <a:solidFill>
            <a:srgbClr val="14877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16000" y="3632200"/>
            <a:ext cx="42545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11111"/>
                </a:solidFill>
                <a:latin typeface="Helvetica Neue"/>
              </a:rPr>
              <a:t>Effet intra-jour non concluant, reproduit sur 3 corpus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" y="4292600"/>
            <a:ext cx="88900" cy="88900"/>
          </a:xfrm>
          <a:prstGeom prst="rect">
            <a:avLst/>
          </a:prstGeom>
          <a:solidFill>
            <a:srgbClr val="14877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16000" y="4216400"/>
            <a:ext cx="42545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11111"/>
                </a:solidFill>
                <a:latin typeface="Helvetica Neue"/>
              </a:rPr>
              <a:t>Analyses reproductibles depuis le paquet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94400" y="1676400"/>
            <a:ext cx="5613400" cy="3683000"/>
          </a:xfrm>
          <a:prstGeom prst="rect">
            <a:avLst/>
          </a:prstGeom>
          <a:solidFill>
            <a:srgbClr val="FBEDED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006600"/>
            <a:ext cx="47625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B94A4A"/>
                </a:solidFill>
                <a:latin typeface="Helvetica Neue"/>
              </a:rPr>
              <a:t>NON DÉMONTRÉ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9200" y="2540000"/>
            <a:ext cx="88900" cy="88900"/>
          </a:xfrm>
          <a:prstGeom prst="rect">
            <a:avLst/>
          </a:prstGeom>
          <a:solidFill>
            <a:srgbClr val="B94A4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5100" y="2463800"/>
            <a:ext cx="47371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11111"/>
                </a:solidFill>
                <a:latin typeface="Helvetica Neue"/>
              </a:rPr>
              <a:t>Effet thermique causal indépendant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99200" y="3124200"/>
            <a:ext cx="88900" cy="88900"/>
          </a:xfrm>
          <a:prstGeom prst="rect">
            <a:avLst/>
          </a:prstGeom>
          <a:solidFill>
            <a:srgbClr val="B94A4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15100" y="3048000"/>
            <a:ext cx="47371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11111"/>
                </a:solidFill>
                <a:latin typeface="Helvetica Neue"/>
              </a:rPr>
              <a:t>Baisse d'activité liée au stress sévère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9200" y="3708400"/>
            <a:ext cx="88900" cy="88900"/>
          </a:xfrm>
          <a:prstGeom prst="rect">
            <a:avLst/>
          </a:prstGeom>
          <a:solidFill>
            <a:srgbClr val="B94A4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15100" y="3632200"/>
            <a:ext cx="47371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11111"/>
                </a:solidFill>
                <a:latin typeface="Helvetica Neue"/>
              </a:rPr>
              <a:t>Seuil thermique ou courbe non linéaire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9200" y="4292600"/>
            <a:ext cx="88900" cy="88900"/>
          </a:xfrm>
          <a:prstGeom prst="rect">
            <a:avLst/>
          </a:prstGeom>
          <a:solidFill>
            <a:srgbClr val="B94A4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15100" y="4216400"/>
            <a:ext cx="47371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11111"/>
                </a:solidFill>
                <a:latin typeface="Helvetica Neue"/>
              </a:rPr>
              <a:t>Comportement utilisable comme covariable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5300" y="5588000"/>
            <a:ext cx="11112500" cy="5080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23900" y="5740400"/>
            <a:ext cx="10668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474E5"/>
                </a:solidFill>
                <a:latin typeface="Helvetica Neue"/>
              </a:rPr>
              <a:t>Conclusion : une association documentée et reproductible, sans preuve d'effet thermique propre.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5300" y="2540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474E5"/>
                </a:solidFill>
                <a:latin typeface="Helvetica Neue"/>
              </a:rPr>
              <a:t>SUITE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558800"/>
            <a:ext cx="109474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50" b="1" i="0">
                <a:solidFill>
                  <a:srgbClr val="111111"/>
                </a:solidFill>
                <a:latin typeface="Helvetica Neue"/>
              </a:rPr>
              <a:t>Ce qu'il faudrait pour conclure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" y="1270000"/>
            <a:ext cx="11201400" cy="9525"/>
          </a:xfrm>
          <a:prstGeom prst="rect">
            <a:avLst/>
          </a:prstGeom>
          <a:solidFill>
            <a:srgbClr val="D5DAE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277600" y="6400800"/>
            <a:ext cx="4064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75" b="0" i="0">
                <a:solidFill>
                  <a:srgbClr val="5E6875"/>
                </a:solidFill>
                <a:latin typeface="Helvetica Neue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8415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474E5"/>
                </a:solidFill>
                <a:latin typeface="Helvetica Neue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300" y="2311400"/>
            <a:ext cx="2476500" cy="50800"/>
          </a:xfrm>
          <a:prstGeom prst="rect">
            <a:avLst/>
          </a:prstGeom>
          <a:solidFill>
            <a:srgbClr val="247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95300" y="2565400"/>
            <a:ext cx="24765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Helvetica Neue"/>
              </a:rPr>
              <a:t>Densifier les scans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" y="34544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E6875"/>
                </a:solidFill>
                <a:latin typeface="Helvetica Neue"/>
              </a:rPr>
              <a:t>Davantage de jours d'observation pour utiliser le comportement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4700" y="18415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4877E"/>
                </a:solidFill>
                <a:latin typeface="Helvetica Neue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4700" y="2311400"/>
            <a:ext cx="2476500" cy="50800"/>
          </a:xfrm>
          <a:prstGeom prst="rect">
            <a:avLst/>
          </a:prstGeom>
          <a:solidFill>
            <a:srgbClr val="14877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14700" y="2565400"/>
            <a:ext cx="24765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Helvetica Neue"/>
              </a:rPr>
              <a:t>Étendre aux basses températures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4700" y="34544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E6875"/>
                </a:solidFill>
                <a:latin typeface="Helvetica Neue"/>
              </a:rPr>
              <a:t>Fall 2019 dispose de sondes sur cinq semaines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4100" y="18415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7656B6"/>
                </a:solidFill>
                <a:latin typeface="Helvetica Neue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4100" y="2311400"/>
            <a:ext cx="2476500" cy="50800"/>
          </a:xfrm>
          <a:prstGeom prst="rect">
            <a:avLst/>
          </a:prstGeom>
          <a:solidFill>
            <a:srgbClr val="7656B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34100" y="2565400"/>
            <a:ext cx="24765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Helvetica Neue"/>
              </a:rPr>
              <a:t>Tester les effets décalés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4100" y="34544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E6875"/>
                </a:solidFill>
                <a:latin typeface="Helvetica Neue"/>
              </a:rPr>
              <a:t>Charge thermique de la veille et jours chauds consécutifs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3500" y="18415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2D8A57"/>
                </a:solidFill>
                <a:latin typeface="Helvetica Neue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3500" y="2311400"/>
            <a:ext cx="2476500" cy="50800"/>
          </a:xfrm>
          <a:prstGeom prst="rect">
            <a:avLst/>
          </a:prstGeom>
          <a:solidFill>
            <a:srgbClr val="2D8A5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53500" y="2565400"/>
            <a:ext cx="24765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Helvetica Neue"/>
              </a:rPr>
              <a:t>Contrôler le protocole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0" y="34544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E6875"/>
                </a:solidFill>
                <a:latin typeface="Helvetica Neue"/>
              </a:rPr>
              <a:t>Séparer l'effet thermique de l'accès à l'exercice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5300" y="5130800"/>
            <a:ext cx="11112500" cy="584200"/>
          </a:xfrm>
          <a:prstGeom prst="rect">
            <a:avLst/>
          </a:prstGeom>
          <a:solidFill>
            <a:srgbClr val="E8F0F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3900" y="5308600"/>
            <a:ext cx="1066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2474E5"/>
                </a:solidFill>
                <a:latin typeface="Helvetica Neue"/>
              </a:rPr>
              <a:t>Décision proposée : confirmer la livraison de l'objectif 2 et préciser le protocole de collecte des scans.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563100" y="0"/>
            <a:ext cx="165100" cy="6858000"/>
          </a:xfrm>
          <a:prstGeom prst="rect">
            <a:avLst/>
          </a:prstGeom>
          <a:solidFill>
            <a:srgbClr val="65C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95300" y="406400"/>
            <a:ext cx="508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5C4E5"/>
                </a:solidFill>
                <a:latin typeface="Helvetica Neue"/>
              </a:rPr>
              <a:t>McGILL / WELL-E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413000"/>
            <a:ext cx="8890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Helvetica Neue"/>
              </a:rPr>
              <a:t>Objectif 2 livré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3403600"/>
            <a:ext cx="88900" cy="88900"/>
          </a:xfrm>
          <a:prstGeom prst="rect">
            <a:avLst/>
          </a:prstGeom>
          <a:solidFill>
            <a:srgbClr val="65C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300" y="3327400"/>
            <a:ext cx="812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Helvetica Neue"/>
              </a:rPr>
              <a:t>Synchronisation des trois modalités réalisée et documentée</a:t>
            </a:r>
          </a:p>
        </p:txBody>
      </p:sp>
      <p:sp>
        <p:nvSpPr>
          <p:cNvPr id="7" name="Rectangle 6"/>
          <p:cNvSpPr/>
          <p:nvPr/>
        </p:nvSpPr>
        <p:spPr>
          <a:xfrm>
            <a:off x="495300" y="3911600"/>
            <a:ext cx="88900" cy="88900"/>
          </a:xfrm>
          <a:prstGeom prst="rect">
            <a:avLst/>
          </a:prstGeom>
          <a:solidFill>
            <a:srgbClr val="65C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835400"/>
            <a:ext cx="812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Helvetica Neue"/>
              </a:rPr>
              <a:t>Association entre journées, effet intra-jour non concluant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300" y="4419600"/>
            <a:ext cx="88900" cy="88900"/>
          </a:xfrm>
          <a:prstGeom prst="rect">
            <a:avLst/>
          </a:prstGeom>
          <a:solidFill>
            <a:srgbClr val="65C4E5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300" y="4343400"/>
            <a:ext cx="8128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Helvetica Neue"/>
              </a:rPr>
              <a:t>Résultat reproduit sur trois corpus indépendants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" y="5461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65C4E5"/>
                </a:solidFill>
                <a:latin typeface="Helvetica Neue"/>
              </a:rPr>
              <a:t>Aliou Barry  ·  Projet McGill / WELL-E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Objectif 2 - Conditions environnementales et comportement locomoteur</dc:title>
  <dc:subject>Projet McGill / WELL-E - Livrable 2</dc:subject>
  <dc:creator>Aliou Barry</dc:creator>
  <cp:keywords/>
  <dc:description/>
  <cp:lastModifiedBy>Aliou Barry</cp:lastModifiedBy>
  <cp:revision>1</cp:revision>
  <dcterms:created xsi:type="dcterms:W3CDTF">2013-01-27T09:14:16Z</dcterms:created>
  <dcterms:modified xsi:type="dcterms:W3CDTF">2013-01-27T09:15:58Z</dcterms:modified>
  <cp:category/>
</cp:coreProperties>
</file>