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76f1417f74c4675" /><Relationship Type="http://schemas.openxmlformats.org/officeDocument/2006/relationships/extended-properties" Target="/docProps/app.xml" Id="R2223bd941ece487a" /><Relationship Type="http://schemas.openxmlformats.org/officeDocument/2006/relationships/officeDocument" Target="/ppt/presentation.xml" Id="R72a11bf095ab465e" /></Relationships>
</file>

<file path=ppt/presentation.xml><?xml version="1.0" encoding="utf-8"?>
<p:presentation xmlns:p="http://schemas.openxmlformats.org/presentationml/2006/main">
  <p:sldMasterIdLst>
    <p:sldMasterId xmlns:r="http://schemas.openxmlformats.org/officeDocument/2006/relationships" id="2147483648" r:id="Ra867ef02500b49d5"/>
  </p:sldMasterIdLst>
  <p:notesMasterIdLst>
    <p:notesMasterId xmlns:r="http://schemas.openxmlformats.org/officeDocument/2006/relationships" r:id="Rc338fa1c7a054082"/>
  </p:notesMasterIdLst>
  <p:sldIdLst>
    <p:sldId xmlns:r="http://schemas.openxmlformats.org/officeDocument/2006/relationships" id="256" r:id="R11f7230eabfb4a86"/>
    <p:sldId xmlns:r="http://schemas.openxmlformats.org/officeDocument/2006/relationships" id="257" r:id="Rbf0030a81de44b37"/>
    <p:sldId xmlns:r="http://schemas.openxmlformats.org/officeDocument/2006/relationships" id="258" r:id="Ra3ba380759ad414b"/>
    <p:sldId xmlns:r="http://schemas.openxmlformats.org/officeDocument/2006/relationships" id="259" r:id="Raf5ebe857d8d43e2"/>
    <p:sldId xmlns:r="http://schemas.openxmlformats.org/officeDocument/2006/relationships" id="260" r:id="R356af8ad3b8c4d7b"/>
    <p:sldId xmlns:r="http://schemas.openxmlformats.org/officeDocument/2006/relationships" id="261" r:id="R5d627bb2ec014fdd"/>
    <p:sldId xmlns:r="http://schemas.openxmlformats.org/officeDocument/2006/relationships" id="262" r:id="R0480dd0f857f4bfc"/>
    <p:sldId xmlns:r="http://schemas.openxmlformats.org/officeDocument/2006/relationships" id="263" r:id="R042a4ba860194c6c"/>
    <p:sldId xmlns:r="http://schemas.openxmlformats.org/officeDocument/2006/relationships" id="264" r:id="R42a1dca55cd54795"/>
    <p:sldId xmlns:r="http://schemas.openxmlformats.org/officeDocument/2006/relationships" id="265" r:id="Rb665e9f344e2430f"/>
    <p:sldId xmlns:r="http://schemas.openxmlformats.org/officeDocument/2006/relationships" id="266" r:id="R9554d282ad1b4e4b"/>
    <p:sldId xmlns:r="http://schemas.openxmlformats.org/officeDocument/2006/relationships" id="267" r:id="R9df5a7f3107e42d0"/>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a52bb4bef974b3a" /><Relationship Type="http://schemas.openxmlformats.org/officeDocument/2006/relationships/slideMaster" Target="/ppt/slideMasters/slideMaster1.xml" Id="Ra867ef02500b49d5" /><Relationship Type="http://schemas.openxmlformats.org/officeDocument/2006/relationships/notesMaster" Target="/ppt/notesMasters/notesMaster1.xml" Id="Rc338fa1c7a054082" /><Relationship Type="http://schemas.openxmlformats.org/officeDocument/2006/relationships/presProps" Target="/ppt/presProps.xml" Id="Re89d6a3a928541da" /><Relationship Type="http://schemas.openxmlformats.org/officeDocument/2006/relationships/tableStyles" Target="/ppt/tableStyles.xml" Id="Ra02eee756d88485d" /><Relationship Type="http://schemas.openxmlformats.org/officeDocument/2006/relationships/slide" Target="/ppt/slides/slide1.xml" Id="R11f7230eabfb4a86" /><Relationship Type="http://schemas.openxmlformats.org/officeDocument/2006/relationships/slide" Target="/ppt/slides/slide2.xml" Id="Rbf0030a81de44b37" /><Relationship Type="http://schemas.openxmlformats.org/officeDocument/2006/relationships/slide" Target="/ppt/slides/slide3.xml" Id="Ra3ba380759ad414b" /><Relationship Type="http://schemas.openxmlformats.org/officeDocument/2006/relationships/slide" Target="/ppt/slides/slide4.xml" Id="Raf5ebe857d8d43e2" /><Relationship Type="http://schemas.openxmlformats.org/officeDocument/2006/relationships/slide" Target="/ppt/slides/slide5.xml" Id="R356af8ad3b8c4d7b" /><Relationship Type="http://schemas.openxmlformats.org/officeDocument/2006/relationships/slide" Target="/ppt/slides/slide6.xml" Id="R5d627bb2ec014fdd" /><Relationship Type="http://schemas.openxmlformats.org/officeDocument/2006/relationships/slide" Target="/ppt/slides/slide7.xml" Id="R0480dd0f857f4bfc" /><Relationship Type="http://schemas.openxmlformats.org/officeDocument/2006/relationships/slide" Target="/ppt/slides/slide8.xml" Id="R042a4ba860194c6c" /><Relationship Type="http://schemas.openxmlformats.org/officeDocument/2006/relationships/slide" Target="/ppt/slides/slide9.xml" Id="R42a1dca55cd54795" /><Relationship Type="http://schemas.openxmlformats.org/officeDocument/2006/relationships/slide" Target="/ppt/slides/slide10.xml" Id="Rb665e9f344e2430f" /><Relationship Type="http://schemas.openxmlformats.org/officeDocument/2006/relationships/slide" Target="/ppt/slides/slide11.xml" Id="R9554d282ad1b4e4b" /><Relationship Type="http://schemas.openxmlformats.org/officeDocument/2006/relationships/slide" Target="/ppt/slides/slide12.xml" Id="R9df5a7f3107e42d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a277b8c4de64e6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c0430a04e234c8f" /><Relationship Type="http://schemas.openxmlformats.org/officeDocument/2006/relationships/notesMaster" Target="/ppt/notesMasters/notesMaster1.xml" Id="Rff43263845564049" /></Relationships>
</file>

<file path=ppt/notesSlides/_rels/notesSlide2.xml.rels>&#65279;<?xml version="1.0" encoding="utf-8"?><Relationships xmlns="http://schemas.openxmlformats.org/package/2006/relationships"><Relationship Type="http://schemas.openxmlformats.org/officeDocument/2006/relationships/slide" Target="/ppt/slides/slide2.xml" Id="R0a6fb5867ac94018" /><Relationship Type="http://schemas.openxmlformats.org/officeDocument/2006/relationships/notesMaster" Target="/ppt/notesMasters/notesMaster1.xml" Id="R359ab85bafcd4211" /></Relationships>
</file>

<file path=ppt/notesSlides/_rels/notesSlide3.xml.rels>&#65279;<?xml version="1.0" encoding="utf-8"?><Relationships xmlns="http://schemas.openxmlformats.org/package/2006/relationships"><Relationship Type="http://schemas.openxmlformats.org/officeDocument/2006/relationships/slide" Target="/ppt/slides/slide3.xml" Id="Re4a70e4de56342f8" /><Relationship Type="http://schemas.openxmlformats.org/officeDocument/2006/relationships/notesMaster" Target="/ppt/notesMasters/notesMaster1.xml" Id="R4e6f9b2bc0074e35" /></Relationships>
</file>

<file path=ppt/notesSlides/_rels/notesSlide4.xml.rels>&#65279;<?xml version="1.0" encoding="utf-8"?><Relationships xmlns="http://schemas.openxmlformats.org/package/2006/relationships"><Relationship Type="http://schemas.openxmlformats.org/officeDocument/2006/relationships/slide" Target="/ppt/slides/slide4.xml" Id="Rb9207ec69aca4ea9" /><Relationship Type="http://schemas.openxmlformats.org/officeDocument/2006/relationships/notesMaster" Target="/ppt/notesMasters/notesMaster1.xml" Id="R95cebe21a9c3451f" /></Relationships>
</file>

<file path=ppt/notesSlides/_rels/notesSlide5.xml.rels>&#65279;<?xml version="1.0" encoding="utf-8"?><Relationships xmlns="http://schemas.openxmlformats.org/package/2006/relationships"><Relationship Type="http://schemas.openxmlformats.org/officeDocument/2006/relationships/slide" Target="/ppt/slides/slide5.xml" Id="R91f773b574c14a0c" /><Relationship Type="http://schemas.openxmlformats.org/officeDocument/2006/relationships/notesMaster" Target="/ppt/notesMasters/notesMaster1.xml" Id="Rb170dd67d46b4226" /></Relationships>
</file>

<file path=ppt/notesSlides/_rels/notesSlide6.xml.rels>&#65279;<?xml version="1.0" encoding="utf-8"?><Relationships xmlns="http://schemas.openxmlformats.org/package/2006/relationships"><Relationship Type="http://schemas.openxmlformats.org/officeDocument/2006/relationships/slide" Target="/ppt/slides/slide6.xml" Id="Rf7ff36bb4fa943f2" /><Relationship Type="http://schemas.openxmlformats.org/officeDocument/2006/relationships/notesMaster" Target="/ppt/notesMasters/notesMaster1.xml" Id="R049b99ddcf684213" /></Relationships>
</file>

<file path=ppt/notesSlides/_rels/notesSlide7.xml.rels>&#65279;<?xml version="1.0" encoding="utf-8"?><Relationships xmlns="http://schemas.openxmlformats.org/package/2006/relationships"><Relationship Type="http://schemas.openxmlformats.org/officeDocument/2006/relationships/slide" Target="/ppt/slides/slide7.xml" Id="Rebb5ecfd3df7428d" /><Relationship Type="http://schemas.openxmlformats.org/officeDocument/2006/relationships/notesMaster" Target="/ppt/notesMasters/notesMaster1.xml" Id="R03af912492f64c9f" /></Relationships>
</file>

<file path=ppt/notesSlides/_rels/notesSlide8.xml.rels>&#65279;<?xml version="1.0" encoding="utf-8"?><Relationships xmlns="http://schemas.openxmlformats.org/package/2006/relationships"><Relationship Type="http://schemas.openxmlformats.org/officeDocument/2006/relationships/slide" Target="/ppt/slides/slide8.xml" Id="Rea57f0d7498f4b41" /><Relationship Type="http://schemas.openxmlformats.org/officeDocument/2006/relationships/notesMaster" Target="/ppt/notesMasters/notesMaster1.xml" Id="Rb5038021449c4847" /></Relationships>
</file>

<file path=ppt/notesSlides/_rels/notesSlide9.xml.rels>&#65279;<?xml version="1.0" encoding="utf-8"?><Relationships xmlns="http://schemas.openxmlformats.org/package/2006/relationships"><Relationship Type="http://schemas.openxmlformats.org/officeDocument/2006/relationships/slide" Target="/ppt/slides/slide9.xml" Id="R0bcb8ef902d443a4" /><Relationship Type="http://schemas.openxmlformats.org/officeDocument/2006/relationships/notesMaster" Target="/ppt/notesMasters/notesMaster1.xml" Id="R791078472bed468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ff3c4563c874bab" /><Relationship Type="http://schemas.openxmlformats.org/officeDocument/2006/relationships/notesMaster" Target="/ppt/notesMasters/notesMaster1.xml" Id="Rfa607f26db21449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c761c373d0b4029" /><Relationship Type="http://schemas.openxmlformats.org/officeDocument/2006/relationships/notesMaster" Target="/ppt/notesMasters/notesMaster1.xml" Id="Re3a6e12762d741f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b88c126e2344af2" /><Relationship Type="http://schemas.openxmlformats.org/officeDocument/2006/relationships/notesMaster" Target="/ppt/notesMasters/notesMaster1.xml" Id="R0f9c9bee18134ef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Cette présentation explique l’Objectif 2 du projet McGill / WELL-E : synchroniser les mesures IceTag, les conditions environnementales HOBO et les observations comportementales, puis évaluer leurs associations.</a:t>
            </a:r>
          </a:p>
          <a:p xmlns:a="http://schemas.openxmlformats.org/drawingml/2006/main">
            <a:r>
              <a:t/>
            </a:r>
          </a:p>
          <a:p xmlns:a="http://schemas.openxmlformats.org/drawingml/2006/main">
            <a:r>
              <a:t>Le périmètre principal est Summer 2019, car c’est la saison pour laquelle les trois modalités peuvent être reliées. Le support est autonome et ne dépend d’aucun autre dépôt de travail.</a:t>
            </a:r>
          </a:p>
          <a:p xmlns:a="http://schemas.openxmlformats.org/drawingml/2006/main">
            <a:r>
              <a:t/>
            </a:r>
          </a:p>
          <a:p xmlns:a="http://schemas.openxmlformats.org/drawingml/2006/main">
            <a:r>
              <a:t>Le message d’ouverture doit déjà fixer la portée : il s’agit d’une analyse exploratoire des associations avec le THI, et non d’une démonstration causale du stress thermique sur le comportement.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réponse exécutive est que l’Objectif 2 est livré. Le corpus principal contient 87 501 observations vache-15 minutes, représentant 17 vaches sur 62 jours de Summer 2019.</a:t>
            </a:r>
          </a:p>
          <a:p xmlns:a="http://schemas.openxmlformats.org/drawingml/2006/main">
            <a:r>
              <a:t/>
            </a:r>
          </a:p>
          <a:p xmlns:a="http://schemas.openxmlformats.org/drawingml/2006/main">
            <a:r>
              <a:t>La composante comportementale contient 51 scans. Quarante-neuf possèdent simultanément les informations IceTag, HOBO et comportementales; deux scans de la vache 5169 n’ont pas d’activité IceTag correspondante.</a:t>
            </a:r>
          </a:p>
          <a:p xmlns:a="http://schemas.openxmlformats.org/drawingml/2006/main">
            <a:r>
              <a:t/>
            </a:r>
          </a:p>
          <a:p xmlns:a="http://schemas.openxmlformats.org/drawingml/2006/main">
            <a:r>
              <a:t>Le résultat statistique doit être présenté en deux temps. Avant contrôle du jour, le THI est positivement associé à l’activité. Après contrôle des différences entre jours, l’estimation tombe à +0,061 avec p = 0,364 et n’est plus concluante.</a:t>
            </a:r>
          </a:p>
          <a:p xmlns:a="http://schemas.openxmlformats.org/drawingml/2006/main">
            <a:r>
              <a:t/>
            </a:r>
          </a:p>
          <a:p xmlns:a="http://schemas.openxmlformats.org/drawingml/2006/main">
            <a:r>
              <a:t>La bonne formulation est donc : association positive exploratoire, fortement dépendante du jour, de la progression saisonnière et possiblement du protocole d’exercice. Il ne faut pas parler d’effet robuste ou causal.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Cette diapositive répond directement à la question : où sont les livrables de l’Objectif 2? Les quatre éléments exigés par le SOW sont présents et localisés dans le paquet.</a:t>
            </a:r>
          </a:p>
          <a:p xmlns:a="http://schemas.openxmlformats.org/drawingml/2006/main">
            <a:r>
              <a:t/>
            </a:r>
          </a:p>
          <a:p xmlns:a="http://schemas.openxmlformats.org/drawingml/2006/main">
            <a:r>
              <a:t>La tâche 2.1 est couverte par le jeu de données intégré et par la documentation de synchronisation. La tâche 2.2 est couverte par le rapport exploratoire Word et par la note de faisabilité de la modélisation intégrée.</a:t>
            </a:r>
          </a:p>
          <a:p xmlns:a="http://schemas.openxmlformats.org/drawingml/2006/main">
            <a:r>
              <a:t/>
            </a:r>
          </a:p>
          <a:p xmlns:a="http://schemas.openxmlformats.org/drawingml/2006/main">
            <a:r>
              <a:t>Le fichier PowerPoint n’est pas un manque du SOW : c’est un support additionnel destiné à faciliter la présentation et l’explication des résultats. Après son ajout, aucun livrable obligatoire de l’Objectif 2 ne manque.</a:t>
            </a:r>
          </a:p>
          <a:p xmlns:a="http://schemas.openxmlformats.org/drawingml/2006/main">
            <a:r>
              <a:t/>
            </a:r>
          </a:p>
          <a:p xmlns:a="http://schemas.openxmlformats.org/drawingml/2006/main">
            <a:r>
              <a:t>Pour remettre le projet, il suffit de livrer le dossier Objectif2_Environnement_x_comportement. Les fichiers de travail internes ne sont pas nécessaires au destinataire.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 données sont organisées en plusieurs tables parce que les modalités n’ont pas la même résolution temporelle. IceTag et HOBO se prêtent à une table vache-15 minutes, tandis que les observations comportementales sont des scans quotidiens.</a:t>
            </a:r>
          </a:p>
          <a:p xmlns:a="http://schemas.openxmlformats.org/drawingml/2006/main">
            <a:r>
              <a:t/>
            </a:r>
          </a:p>
          <a:p xmlns:a="http://schemas.openxmlformats.org/drawingml/2006/main">
            <a:r>
              <a:t>La première table contient 87 501 lignes d’activité et d’environnement. La deuxième contient les 51 scans comportementaux associés à un THI quotidien. La troisième est la véritable table trimodale et contient 49 scans complets.</a:t>
            </a:r>
          </a:p>
          <a:p xmlns:a="http://schemas.openxmlformats.org/drawingml/2006/main">
            <a:r>
              <a:t/>
            </a:r>
          </a:p>
          <a:p xmlns:a="http://schemas.openxmlformats.org/drawingml/2006/main">
            <a:r>
              <a:t>Les deux scans non appariés sont conservés dans un fichier distinct. Ils concernent la vache 5169 les 16 et 23 août 2019. Cette absence est explicitement documentée plutôt que masquée.</a:t>
            </a:r>
          </a:p>
          <a:p xmlns:a="http://schemas.openxmlformats.org/drawingml/2006/main">
            <a:r>
              <a:t/>
            </a:r>
          </a:p>
          <a:p xmlns:a="http://schemas.openxmlformats.org/drawingml/2006/main">
            <a:r>
              <a:t>Il ne faut pas transformer artificiellement les 51 scans en milliers de lignes de 15 minutes. Une telle interpolation créerait une précision inexistante et fausserait l’analyse.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procédure commence par harmoniser les horodatages et les identifiants de vaches. L’activité IceTag est ensuite agrégée en fenêtres régulières de 15 minutes.</a:t>
            </a:r>
          </a:p>
          <a:p xmlns:a="http://schemas.openxmlformats.org/drawingml/2006/main">
            <a:r>
              <a:t/>
            </a:r>
          </a:p>
          <a:p xmlns:a="http://schemas.openxmlformats.org/drawingml/2006/main">
            <a:r>
              <a:t>Le THI est calculé à partir des fichiers HOBO Outside, donc des sondes extérieures. Cette source est indiquée de la même façon dans le rapport, les notes et les scripts livrés.</a:t>
            </a:r>
          </a:p>
          <a:p xmlns:a="http://schemas.openxmlformats.org/drawingml/2006/main">
            <a:r>
              <a:t/>
            </a:r>
          </a:p>
          <a:p xmlns:a="http://schemas.openxmlformats.org/drawingml/2006/main">
            <a:r>
              <a:t>L’environnement est joint à chaque horodatage vache, puis les scans comportementaux sont reliés par vache et par jour. La table trimodale reste donc à la résolution réelle du scan.</a:t>
            </a:r>
          </a:p>
          <a:p xmlns:a="http://schemas.openxmlformats.org/drawingml/2006/main">
            <a:r>
              <a:t/>
            </a:r>
          </a:p>
          <a:p xmlns:a="http://schemas.openxmlformats.org/drawingml/2006/main">
            <a:r>
              <a:t>Enfin, les modèles sont estimés avec un contrôle de l’heure, puis avec un contrôle supplémentaire du jour. Cette progression permet de montrer quelles conclusions résistent aux différences entre journées.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Cette diapositive décrit la plage de THI réellement observée. Sur 87 501 intervalles, 40 266 sont sous 68, 22 134 se situent entre 68 et 71,9, 24 172 entre 72 et 79,9, et seulement 929 atteignent 80 ou plus.</a:t>
            </a:r>
          </a:p>
          <a:p xmlns:a="http://schemas.openxmlformats.org/drawingml/2006/main">
            <a:r>
              <a:t/>
            </a:r>
          </a:p>
          <a:p xmlns:a="http://schemas.openxmlformats.org/drawingml/2006/main">
            <a:r>
              <a:t>Le THI moyen est de 68,4 et le maximum de 83,9. Environ 54 % des intervalles atteignent 68, 28,7 % atteignent 72, mais seulement 1,1 % représentent un stress thermique sévère.</a:t>
            </a:r>
          </a:p>
          <a:p xmlns:a="http://schemas.openxmlformats.org/drawingml/2006/main">
            <a:r>
              <a:t/>
            </a:r>
          </a:p>
          <a:p xmlns:a="http://schemas.openxmlformats.org/drawingml/2006/main">
            <a:r>
              <a:t>La portée scientifique doit donc être bornée à la plage observée. Le corpus permet surtout d’étudier des variations faibles à modérées du THI; il offre peu d’information sur les épisodes de chaleur sévère.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Trois estimations principales sont comparées. Le modèle mixte avec vache et heure donne un effet de +0,198. L’analyse au niveau troupeau-temps avec contrôle de l’heure donne +0,221 et est très significative.</a:t>
            </a:r>
          </a:p>
          <a:p xmlns:a="http://schemas.openxmlformats.org/drawingml/2006/main">
            <a:r>
              <a:t/>
            </a:r>
          </a:p>
          <a:p xmlns:a="http://schemas.openxmlformats.org/drawingml/2006/main">
            <a:r>
              <a:t>Le THI est identique pour toutes les vaches à un même horodatage. Traiter chaque vache comme une exposition environnementale indépendante créerait donc une pseudo-réplication. L’unité troupeau-temps est plus honnête pour le test principal.</a:t>
            </a:r>
          </a:p>
          <a:p xmlns:a="http://schemas.openxmlformats.org/drawingml/2006/main">
            <a:r>
              <a:t/>
            </a:r>
          </a:p>
          <a:p xmlns:a="http://schemas.openxmlformats.org/drawingml/2006/main">
            <a:r>
              <a:t>Un contrôle complémentaire par tendance calendaire linéaire atténue l’estimation à +0,129, mais l’association reste positive avec p = 0,020. Ce résultat montre que le signal global ne disparaît pas sous ce contrôle paramétrique simple.</a:t>
            </a:r>
          </a:p>
          <a:p xmlns:a="http://schemas.openxmlformats.org/drawingml/2006/main">
            <a:r>
              <a:t/>
            </a:r>
          </a:p>
          <a:p xmlns:a="http://schemas.openxmlformats.org/drawingml/2006/main">
            <a:r>
              <a:t>En revanche, quand chaque jour est contrôlé séparément, l’estimation tombe à +0,061 avec p = 0,364. Le signal intra-jour ne peut plus être distingué des différences entre jours dans ce corpus.</a:t>
            </a:r>
          </a:p>
          <a:p xmlns:a="http://schemas.openxmlformats.org/drawingml/2006/main">
            <a:r>
              <a:t/>
            </a:r>
          </a:p>
          <a:p xmlns:a="http://schemas.openxmlformats.org/drawingml/2006/main">
            <a:r>
              <a:t>La conclusion n’est pas que le THI n’a aucun effet. La conclusion est double : l’association globale est positive et résiste à une tendance calendaire linéaire, mais les données disponibles ne démontrent pas un effet thermique intra-jour indépendant. La progression temporelle et les caractéristiques propres à chaque journée restent des facteurs de confusion possibles.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modèle principal après contrôle du jour donne p = 0,364 et un intervalle de confiance de -0,070 à +0,192. Comme cet intervalle inclut zéro, l’effet n’est pas statistiquement concluant.</a:t>
            </a:r>
          </a:p>
          <a:p xmlns:a="http://schemas.openxmlformats.org/drawingml/2006/main">
            <a:r>
              <a:t/>
            </a:r>
          </a:p>
          <a:p xmlns:a="http://schemas.openxmlformats.org/drawingml/2006/main">
            <a:r>
              <a:t>La même stratégie appliquée au Motion Index donne p = 0,752. Une spécification non linéaire avec un terme quadratique donne p = 0,224. Ces analyses de sensibilité ne restaurent pas un signal indépendant du jour.</a:t>
            </a:r>
          </a:p>
          <a:p xmlns:a="http://schemas.openxmlformats.org/drawingml/2006/main">
            <a:r>
              <a:t/>
            </a:r>
          </a:p>
          <a:p xmlns:a="http://schemas.openxmlformats.org/drawingml/2006/main">
            <a:r>
              <a:t>Cette convergence justifie une formulation prudente. La progression saisonnière, les différences entre jours et possiblement le protocole d’exercice peuvent expliquer une partie de l’association brute.</a:t>
            </a:r>
          </a:p>
          <a:p xmlns:a="http://schemas.openxmlformats.org/drawingml/2006/main">
            <a:r>
              <a:t/>
            </a:r>
          </a:p>
          <a:p xmlns:a="http://schemas.openxmlformats.org/drawingml/2006/main">
            <a:r>
              <a:t>Il ne faut donc pas utiliser le mot robuste dans le rapport oral. Le résultat est utile pour formuler des hypothèses et planifier des données supplémentaires, pas pour établir une causalité.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 corrélations comportementales sont calculées sur huit journées indépendantes. Cette taille d’échantillon est petite même si plusieurs vaches ont été observées pendant chaque journée.</a:t>
            </a:r>
          </a:p>
          <a:p xmlns:a="http://schemas.openxmlformats.org/drawingml/2006/main">
            <a:r>
              <a:t/>
            </a:r>
          </a:p>
          <a:p xmlns:a="http://schemas.openxmlformats.org/drawingml/2006/main">
            <a:r>
              <a:t>L’alimentation présente une corrélation positive avec le THI, rho = 0,738 et p = 0,037. Ce résultat est suggestif, mais il ne devient pas une preuve forte car il repose sur seulement huit jours et sur plusieurs comportements testés.</a:t>
            </a:r>
          </a:p>
          <a:p xmlns:a="http://schemas.openxmlformats.org/drawingml/2006/main">
            <a:r>
              <a:t/>
            </a:r>
          </a:p>
          <a:p xmlns:a="http://schemas.openxmlformats.org/drawingml/2006/main">
            <a:r>
              <a:t>La locomotion, l’exploration et le comportement social ne montrent pas d’association statistiquement significative. Ces résultats ne doivent pas être interprétés comme une absence certaine d’effet; la puissance est limitée.</a:t>
            </a:r>
          </a:p>
          <a:p xmlns:a="http://schemas.openxmlformats.org/drawingml/2006/main">
            <a:r>
              <a:t/>
            </a:r>
          </a:p>
          <a:p xmlns:a="http://schemas.openxmlformats.org/drawingml/2006/main">
            <a:r>
              <a:t>La formulation recommandée est : signal quotidien positif pour l’alimentation, à confirmer sur davantage de journées et avec des covariables telles que la parité, le stade de lactation et les retards thermiques.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table trimodale répond littéralement au livrable demandant l’intégration des accéléromètres, de l’environnement et des comportements. Elle contient 49 scans complets sur les 51 scans comportementaux disponibles.</a:t>
            </a:r>
          </a:p>
          <a:p xmlns:a="http://schemas.openxmlformats.org/drawingml/2006/main">
            <a:r>
              <a:t/>
            </a:r>
          </a:p>
          <a:p xmlns:a="http://schemas.openxmlformats.org/drawingml/2006/main">
            <a:r>
              <a:t>Les 51 observations comportementales sont toutes conservées. Les deux lignes incomplètes concernent la vache 5169 les 16 et 23 août 2019, pour lesquelles aucune activité IceTag correspondante n’a été retrouvée.</a:t>
            </a:r>
          </a:p>
          <a:p xmlns:a="http://schemas.openxmlformats.org/drawingml/2006/main">
            <a:r>
              <a:t/>
            </a:r>
          </a:p>
          <a:p xmlns:a="http://schemas.openxmlformats.org/drawingml/2006/main">
            <a:r>
              <a:t>Ces valeurs n’ont pas été imputées. La documentation distingue les observations complètes des observations non appariées, ce qui rend la livraison vérifiable et évite de produire des données artificielles.</a:t>
            </a:r>
          </a:p>
          <a:p xmlns:a="http://schemas.openxmlformats.org/drawingml/2006/main">
            <a:r>
              <a:t/>
            </a:r>
          </a:p>
          <a:p xmlns:a="http://schemas.openxmlformats.org/drawingml/2006/main">
            <a:r>
              <a:t>Le taux de complétude trimodale est de 96,1 %. C’est suffisant pour satisfaire la tâche d’intégration du SOW, tout en maintenant une description honnête de la qualité des données.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Les deux tâches de l’Objectif 2 sont terminées. La tâche 2.1 comprend les données intégrées et la documentation de synchronisation. La tâche 2.2 comprend l’analyse exploratoire et l’évaluation de faisabilité de la modélisation intégrée.</a:t>
            </a:r>
          </a:p>
          <a:p xmlns:a="http://schemas.openxmlformats.org/drawingml/2006/main">
            <a:r>
              <a:t/>
            </a:r>
          </a:p>
          <a:p xmlns:a="http://schemas.openxmlformats.org/drawingml/2006/main">
            <a:r>
              <a:t>Il ne reste aucun élément obligatoire à produire avant de considérer l’Objectif 2 comme livré. Le rapport Word, les CSV, les figures, les notes et les scripts reproductibles sont présents; le PowerPoint complète maintenant cet ensemble.</a:t>
            </a:r>
          </a:p>
          <a:p xmlns:a="http://schemas.openxmlformats.org/drawingml/2006/main">
            <a:r>
              <a:t/>
            </a:r>
          </a:p>
          <a:p xmlns:a="http://schemas.openxmlformats.org/drawingml/2006/main">
            <a:r>
              <a:t>Les travaux restants sont des renforcements optionnels : analyser Winter pour le froid après validation des variables comportementales, augmenter le nombre de jours de scans et tester des effets retardés ou cumulés.</a:t>
            </a:r>
          </a:p>
          <a:p xmlns:a="http://schemas.openxmlformats.org/drawingml/2006/main">
            <a:r>
              <a:t/>
            </a:r>
          </a:p>
          <a:p xmlns:a="http://schemas.openxmlformats.org/drawingml/2006/main">
            <a:r>
              <a:t>L’ajout de la parité, du stade de lactation et d’un protocole d’exercice mieux séparé aiderait également à réduire les facteurs de confusion dans une future étude.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 verdict final est que l’Objectif 2 satisfait le SOW pour Summer 2019. Le paquet contient les données synchronisées, la table trimodale, les tableaux de résultats, le rapport Word, les figures, la documentation et le code reproductible.</a:t>
            </a:r>
          </a:p>
          <a:p xmlns:a="http://schemas.openxmlformats.org/drawingml/2006/main">
            <a:r>
              <a:t/>
            </a:r>
          </a:p>
          <a:p xmlns:a="http://schemas.openxmlformats.org/drawingml/2006/main">
            <a:r>
              <a:t>Le résultat principal doit être formulé exactement ainsi : l’activité et le THI montrent une association positive avant contrôle des différences entre jours; après contrôle du jour, l’effet estimé est +0,061 avec p = 0,364 et n’est plus concluant.</a:t>
            </a:r>
          </a:p>
          <a:p xmlns:a="http://schemas.openxmlformats.org/drawingml/2006/main">
            <a:r>
              <a:t/>
            </a:r>
          </a:p>
          <a:p xmlns:a="http://schemas.openxmlformats.org/drawingml/2006/main">
            <a:r>
              <a:t>Le résultat sur l’alimentation est suggestif, avec rho = 0,738 et p = 0,037, mais seulement huit jours indépendants. Il ne faut pas le présenter comme un effet causal établi.</a:t>
            </a:r>
          </a:p>
          <a:p xmlns:a="http://schemas.openxmlformats.org/drawingml/2006/main">
            <a:r>
              <a:t/>
            </a:r>
          </a:p>
          <a:p xmlns:a="http://schemas.openxmlformats.org/drawingml/2006/main">
            <a:r>
              <a:t>Deux scans trimodaux sont incomplets et correctement documentés. Les extensions à Winter, les retards thermiques et les covariables supplémentaires sont des recommandations scientifiques, pas des livrables manquants du SOW.</a:t>
            </a:r>
          </a:p>
          <a:p xmlns:a="http://schemas.openxmlformats.org/drawingml/2006/main">
            <a:r>
              <a:t/>
            </a:r>
          </a:p>
          <a:p xmlns:a="http://schemas.openxmlformats.org/drawingml/2006/main">
            <a:r>
              <a:t>La présentation peut donc se terminer sur une position claire : livraison complète, analyse reproductible, limites explicites et prochaines étapes bien séparées des obligations contractuelles.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c4a0cbcb7de479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2c9f500f57c4fd2" /><Relationship Type="http://schemas.openxmlformats.org/officeDocument/2006/relationships/slideLayout" Target="/ppt/slideLayouts/slideLayout1.xml" Id="R94fb2b67b105416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4fb2b67b105416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70ae686ab2249f4" /><Relationship Type="http://schemas.openxmlformats.org/officeDocument/2006/relationships/notesSlide" Target="/ppt/notesSlides/notesSlide1.xml" Id="R59fad709f3cd410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1daebcc288f4b4b" /><Relationship Type="http://schemas.openxmlformats.org/officeDocument/2006/relationships/notesSlide" Target="/ppt/notesSlides/notesSlide2.xml" Id="Rd068a0ff48dc423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bc2a726a98f44fe" /><Relationship Type="http://schemas.openxmlformats.org/officeDocument/2006/relationships/notesSlide" Target="/ppt/notesSlides/notesSlide3.xml" Id="Rf491facde43e463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733a51b55cc4ada" /><Relationship Type="http://schemas.openxmlformats.org/officeDocument/2006/relationships/notesSlide" Target="/ppt/notesSlides/notesSlide4.xml" Id="R8a5234bd251d4bf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f03444bdbd84a27" /><Relationship Type="http://schemas.openxmlformats.org/officeDocument/2006/relationships/notesSlide" Target="/ppt/notesSlides/notesSlide5.xml" Id="R2d4c797ee0bc466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2871d223dff4d8a" /><Relationship Type="http://schemas.openxmlformats.org/officeDocument/2006/relationships/chart" Target="/ppt/slides/charts/chart1.xml" Id="Rb02539936e674fd5" /><Relationship Type="http://schemas.openxmlformats.org/officeDocument/2006/relationships/notesSlide" Target="/ppt/notesSlides/notesSlide6.xml" Id="R0cb86ba3944442f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c77bbdce43064059" /><Relationship Type="http://schemas.openxmlformats.org/officeDocument/2006/relationships/chart" Target="/ppt/slides/charts/chart2.xml" Id="R472d8f186e284e16" /><Relationship Type="http://schemas.openxmlformats.org/officeDocument/2006/relationships/notesSlide" Target="/ppt/notesSlides/notesSlide7.xml" Id="R00611adb97464f7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816daa3a072485f" /><Relationship Type="http://schemas.openxmlformats.org/officeDocument/2006/relationships/notesSlide" Target="/ppt/notesSlides/notesSlide8.xml" Id="Re81016ff28b04a7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7f05676b7ccb4dcc" /><Relationship Type="http://schemas.openxmlformats.org/officeDocument/2006/relationships/notesSlide" Target="/ppt/notesSlides/notesSlide9.xml" Id="R5139f501a0e2405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73d4267ff344d11" /><Relationship Type="http://schemas.openxmlformats.org/officeDocument/2006/relationships/notesSlide" Target="/ppt/notesSlides/notesSlide10.xml" Id="Rf03d58055360412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c177282bb784c08" /><Relationship Type="http://schemas.openxmlformats.org/officeDocument/2006/relationships/notesSlide" Target="/ppt/notesSlides/notesSlide11.xml" Id="R79ad0318106d462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7c2814eff1c4aad" /><Relationship Type="http://schemas.openxmlformats.org/officeDocument/2006/relationships/notesSlide" Target="/ppt/notesSlides/notesSlide12.xml" Id="R6b4b985b83604732" /></Relationships>
</file>

<file path=ppt/slides/charts/chart1.xml><?xml version="1.0" encoding="utf-8"?>
<c:chartSpace xmlns:c="http://schemas.openxmlformats.org/drawingml/2006/chart">
  <c:lang val="en-US"/>
  <c:chart>
    <c:plotArea>
      <c:barChart>
        <c:barDir val="col"/>
        <c:grouping val="clustered"/>
        <c:varyColors val="0"/>
        <c:ser>
          <c:idx val="0"/>
          <c:order val="0"/>
          <c:tx>
            <c:v>Intervalles</c:v>
          </c:tx>
          <c:spPr>
            <a:solidFill xmlns:a="http://schemas.openxmlformats.org/drawingml/2006/main">
              <a:srgbClr val="3D8DFF"/>
            </a:solidFill>
          </c:spPr>
          <c:cat>
            <c:strLit>
              <c:ptCount val="4"/>
              <c:pt idx="0">
                <c:v>Aucun
&lt; 68</c:v>
              </c:pt>
              <c:pt idx="1">
                <c:v>Léger
68-71,9</c:v>
              </c:pt>
              <c:pt idx="2">
                <c:v>Modéré
72-79,9</c:v>
              </c:pt>
              <c:pt idx="3">
                <c:v>Sévère
≥ 80</c:v>
              </c:pt>
            </c:strLit>
          </c:cat>
          <c:val>
            <c:numLit>
              <c:formatCode>General</c:formatCode>
              <c:ptCount val="4"/>
              <c:pt idx="0">
                <c:v>40266</c:v>
              </c:pt>
              <c:pt idx="1">
                <c:v>22134</c:v>
              </c:pt>
              <c:pt idx="2">
                <c:v>24172</c:v>
              </c:pt>
              <c:pt idx="3">
                <c:v>929</c:v>
              </c:pt>
            </c:numLit>
          </c:val>
        </c:ser>
        <c:dLbls>
          <c:txPr>
            <a:bodyPr xmlns:a="http://schemas.openxmlformats.org/drawingml/2006/main" anchorCtr="1"/>
            <a:lstStyle xmlns:a="http://schemas.openxmlformats.org/drawingml/2006/main"/>
            <a:p xmlns:a="http://schemas.openxmlformats.org/drawingml/2006/main">
              <a:pPr>
                <a:defRPr sz="975" b="1">
                  <a:solidFill>
                    <a:srgbClr val="0F172A"/>
                  </a:solidFill>
                </a:defRPr>
              </a:pPr>
            </a:p>
          </c:txPr>
          <c:dLblPos val="outEnd"/>
          <c:showLegendKey val="0"/>
          <c:showVal val="1"/>
          <c:showCatName val="0"/>
          <c:showSerName val="0"/>
          <c:showPercent val="0"/>
          <c:showBubbleSize val="0"/>
          <c:showLeaderLines val="0"/>
        </c:dLbls>
        <c:gapWidth val="55"/>
        <c:axId val="48650112"/>
        <c:axId val="48672768"/>
      </c:barChart>
      <c:catAx>
        <c:axId val="48650112"/>
        <c:scaling>
          <c:orientation val="minMax"/>
        </c:scaling>
        <c:delete val="0"/>
        <c:axPos val="l"/>
        <c:majorGridlines>
          <c:spPr>
            <a:ln xmlns:a="http://schemas.openxmlformats.org/drawingml/2006/main" w="9525">
              <a:solidFill>
                <a:srgbClr val="E2E8F0"/>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475569"/>
                </a:solidFill>
              </a:defRPr>
            </a:pPr>
          </a:p>
        </c:txPr>
        <c:crossAx val="48672768"/>
        <c:lblAlgn val="ctr"/>
        <c:lblOffset val="100"/>
        <c:noMultiLvlLbl val="0"/>
      </c:catAx>
      <c:valAx>
        <c:axId val="48672768"/>
        <c:scaling>
          <c:orientation val="minMax"/>
          <c:max val="45000"/>
          <c:min val="0"/>
        </c:scaling>
        <c:delete val="0"/>
        <c:axPos val="b"/>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475569"/>
                </a:solidFill>
              </a:defRPr>
            </a:pPr>
          </a:p>
        </c:txPr>
        <c:crossAx val="48650112"/>
        <c:crossBetween val="between"/>
        <c:majorUnit val="10000"/>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charts/chart2.xml><?xml version="1.0" encoding="utf-8"?>
<c:chartSpace xmlns:c="http://schemas.openxmlformats.org/drawingml/2006/chart">
  <c:lang val="en-US"/>
  <c:chart>
    <c:plotArea>
      <c:barChart>
        <c:barDir val="col"/>
        <c:grouping val="clustered"/>
        <c:varyColors val="0"/>
        <c:ser>
          <c:idx val="0"/>
          <c:order val="0"/>
          <c:tx>
            <c:v>Mixte vache + heure</c:v>
          </c:tx>
          <c:spPr>
            <a:solidFill xmlns:a="http://schemas.openxmlformats.org/drawingml/2006/main">
              <a:srgbClr val="3D8DFF"/>
            </a:solidFill>
          </c:spPr>
          <c:cat>
            <c:strLit>
              <c:ptCount val="1"/>
              <c:pt idx="0">
                <c:v>Effet du THI</c:v>
              </c:pt>
            </c:strLit>
          </c:cat>
          <c:val>
            <c:numLit>
              <c:formatCode>General</c:formatCode>
              <c:ptCount val="1"/>
              <c:pt idx="0">
                <c:v>0.198</c:v>
              </c:pt>
            </c:numLit>
          </c:val>
        </c:ser>
        <c:ser>
          <c:idx val="1"/>
          <c:order val="1"/>
          <c:tx>
            <c:v>Troupeau + heure</c:v>
          </c:tx>
          <c:spPr>
            <a:solidFill xmlns:a="http://schemas.openxmlformats.org/drawingml/2006/main">
              <a:srgbClr val="6DCBF4"/>
            </a:solidFill>
          </c:spPr>
          <c:cat>
            <c:strLit>
              <c:ptCount val="1"/>
              <c:pt idx="0">
                <c:v>Effet du THI</c:v>
              </c:pt>
            </c:strLit>
          </c:cat>
          <c:val>
            <c:numLit>
              <c:formatCode>General</c:formatCode>
              <c:ptCount val="1"/>
              <c:pt idx="0">
                <c:v>0.221</c:v>
              </c:pt>
            </c:numLit>
          </c:val>
        </c:ser>
        <c:ser>
          <c:idx val="2"/>
          <c:order val="2"/>
          <c:tx>
            <c:v>+ contrôle du jour</c:v>
          </c:tx>
          <c:spPr>
            <a:solidFill xmlns:a="http://schemas.openxmlformats.org/drawingml/2006/main">
              <a:srgbClr val="A3AAB8"/>
            </a:solidFill>
          </c:spPr>
          <c:cat>
            <c:strLit>
              <c:ptCount val="1"/>
              <c:pt idx="0">
                <c:v>Effet du THI</c:v>
              </c:pt>
            </c:strLit>
          </c:cat>
          <c:val>
            <c:numLit>
              <c:formatCode>General</c:formatCode>
              <c:ptCount val="1"/>
              <c:pt idx="0">
                <c:v>0.061</c:v>
              </c:pt>
            </c:numLit>
          </c:val>
        </c:ser>
        <c:dLbls>
          <c:showLegendKey val="0"/>
          <c:showVal val="1"/>
          <c:showCatName val="0"/>
          <c:showSerName val="0"/>
          <c:showPercent val="0"/>
          <c:showBubbleSize val="0"/>
          <c:showLeaderLines val="0"/>
        </c:dLbls>
        <c:gapWidth val="55"/>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475569"/>
                </a:solidFill>
              </a:defRPr>
            </a:pPr>
          </a:p>
        </c:txPr>
        <c:crossAx val="48672768"/>
        <c:lblAlgn val="ctr"/>
        <c:lblOffset val="100"/>
        <c:noMultiLvlLbl val="0"/>
      </c:catAx>
      <c:valAx>
        <c:axId val="48672768"/>
        <c:scaling>
          <c:orientation val="minMax"/>
          <c:max val="0.25"/>
          <c:min val="0"/>
        </c:scaling>
        <c:delete val="0"/>
        <c:axPos val="l"/>
        <c:majorGridlines>
          <c:spPr>
            <a:ln xmlns:a="http://schemas.openxmlformats.org/drawingml/2006/main" w="9525">
              <a:solidFill>
                <a:srgbClr val="E2E8F0"/>
              </a:solidFill>
              <a:prstDash val="solid"/>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475569"/>
                </a:solidFill>
              </a:defRPr>
            </a:pPr>
          </a:p>
        </c:txPr>
        <c:crossAx val="48650112"/>
        <c:crossBetween val="between"/>
        <c:majorUnit val="0.05"/>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900">
              <a:solidFill>
                <a:srgbClr val="475569"/>
              </a:solidFill>
            </a:defRPr>
          </a:pPr>
        </a:p>
      </c:txPr>
    </c:legend>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E4C59C5-0E4A-4BAE-9225-86A6C907896E}"/>
              </a:ext>
            </a:extLst>
          </p:cNvPr>
          <p:cNvSpPr>
            <a:spLocks xmlns:a="http://schemas.openxmlformats.org/drawingml/2006/main" noGrp="1"/>
          </p:cNvSpPr>
          <p:nvPr/>
        </p:nvSpPr>
        <p:spPr>
          <a:xfrm xmlns:a="http://schemas.openxmlformats.org/drawingml/2006/main">
            <a:off x="495300" y="438150"/>
            <a:ext cx="4953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100" b="0">
                <a:solidFill>
                  <a:srgbClr val="475569"/>
                </a:solidFill>
              </a:defRPr>
            </a:pPr>
            <a:r>
              <a:rPr sz="2100" b="0">
                <a:solidFill>
                  <a:srgbClr val="475569"/>
                </a:solidFill>
              </a:rPr>
              <a:t>Projet McGill / WELL-E</a:t>
            </a:r>
          </a:p>
        </p:txBody>
      </p:sp>
      <p:sp>
        <p:nvSpPr>
          <p:cNvPr id="2" name="">
            <a:extLst xmlns:a="http://schemas.openxmlformats.org/drawingml/2006/main">
              <a:ext uri="{FF2B5EF4-FFF2-40B4-BE49-F238E27FC236}">
                <a16:creationId xmlns:a16="http://schemas.microsoft.com/office/drawing/2014/main" id="{8597DF4A-67B9-4917-8DC6-0569942FD04D}"/>
              </a:ext>
            </a:extLst>
          </p:cNvPr>
          <p:cNvSpPr>
            <a:spLocks xmlns:a="http://schemas.openxmlformats.org/drawingml/2006/main" noGrp="1"/>
          </p:cNvSpPr>
          <p:nvPr/>
        </p:nvSpPr>
        <p:spPr>
          <a:xfrm xmlns:a="http://schemas.openxmlformats.org/drawingml/2006/main">
            <a:off x="495300" y="1809750"/>
            <a:ext cx="495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4650" b="1">
                <a:solidFill>
                  <a:srgbClr val="0F172A"/>
                </a:solidFill>
              </a:defRPr>
            </a:pPr>
            <a:r>
              <a:rPr sz="4650" b="1">
                <a:solidFill>
                  <a:srgbClr val="0F172A"/>
                </a:solidFill>
              </a:rPr>
              <a:t>Objectif 2</a:t>
            </a:r>
          </a:p>
        </p:txBody>
      </p:sp>
      <p:sp>
        <p:nvSpPr>
          <p:cNvPr id="3" name="">
            <a:extLst xmlns:a="http://schemas.openxmlformats.org/drawingml/2006/main">
              <a:ext uri="{FF2B5EF4-FFF2-40B4-BE49-F238E27FC236}">
                <a16:creationId xmlns:a16="http://schemas.microsoft.com/office/drawing/2014/main" id="{6EBE83B1-9331-4705-B4F5-197FBDFDC61C}"/>
              </a:ext>
            </a:extLst>
          </p:cNvPr>
          <p:cNvSpPr>
            <a:spLocks xmlns:a="http://schemas.openxmlformats.org/drawingml/2006/main" noGrp="1"/>
          </p:cNvSpPr>
          <p:nvPr/>
        </p:nvSpPr>
        <p:spPr>
          <a:xfrm xmlns:a="http://schemas.openxmlformats.org/drawingml/2006/main">
            <a:off x="495300" y="2533650"/>
            <a:ext cx="84772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300" b="1">
                <a:solidFill>
                  <a:srgbClr val="0F172A"/>
                </a:solidFill>
              </a:defRPr>
            </a:pPr>
            <a:r>
              <a:rPr sz="3300" b="1">
                <a:solidFill>
                  <a:srgbClr val="0F172A"/>
                </a:solidFill>
              </a:rPr>
              <a:t>Conditions environnementales et comportement locomoteur</a:t>
            </a:r>
          </a:p>
        </p:txBody>
      </p:sp>
      <p:sp>
        <p:nvSpPr>
          <p:cNvPr id="4" name="">
            <a:extLst xmlns:a="http://schemas.openxmlformats.org/drawingml/2006/main">
              <a:ext uri="{FF2B5EF4-FFF2-40B4-BE49-F238E27FC236}">
                <a16:creationId xmlns:a16="http://schemas.microsoft.com/office/drawing/2014/main" id="{2B039027-7EBF-4669-88C3-EA74C46FC14C}"/>
              </a:ext>
            </a:extLst>
          </p:cNvPr>
          <p:cNvSpPr>
            <a:spLocks xmlns:a="http://schemas.openxmlformats.org/drawingml/2006/main" noGrp="1"/>
          </p:cNvSpPr>
          <p:nvPr/>
        </p:nvSpPr>
        <p:spPr>
          <a:xfrm xmlns:a="http://schemas.openxmlformats.org/drawingml/2006/main">
            <a:off x="495300" y="3638550"/>
            <a:ext cx="7810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0">
                <a:solidFill>
                  <a:srgbClr val="475569"/>
                </a:solidFill>
              </a:defRPr>
            </a:pPr>
            <a:r>
              <a:rPr sz="1800" b="0">
                <a:solidFill>
                  <a:srgbClr val="475569"/>
                </a:solidFill>
              </a:rPr>
              <a:t>Présentation détaillée de livraison avec notes</a:t>
            </a:r>
          </a:p>
        </p:txBody>
      </p:sp>
      <p:sp>
        <p:nvSpPr>
          <p:cNvPr id="5" name="">
            <a:extLst xmlns:a="http://schemas.openxmlformats.org/drawingml/2006/main">
              <a:ext uri="{FF2B5EF4-FFF2-40B4-BE49-F238E27FC236}">
                <a16:creationId xmlns:a16="http://schemas.microsoft.com/office/drawing/2014/main" id="{7DA28BF6-5AF4-44F7-BFB0-122805E555C0}"/>
              </a:ext>
            </a:extLst>
          </p:cNvPr>
          <p:cNvSpPr>
            <a:spLocks xmlns:a="http://schemas.openxmlformats.org/drawingml/2006/main" noGrp="1"/>
          </p:cNvSpPr>
          <p:nvPr/>
        </p:nvSpPr>
        <p:spPr>
          <a:xfrm xmlns:a="http://schemas.openxmlformats.org/drawingml/2006/main">
            <a:off x="495300" y="521970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475569"/>
                </a:solidFill>
              </a:defRPr>
            </a:pPr>
            <a:r>
              <a:rPr sz="1500" b="0">
                <a:solidFill>
                  <a:srgbClr val="475569"/>
                </a:solidFill>
              </a:rPr>
              <a:t>Version du 2026-07-15</a:t>
            </a:r>
          </a:p>
        </p:txBody>
      </p:sp>
      <p:sp>
        <p:nvSpPr>
          <p:cNvPr id="6" name="">
            <a:extLst xmlns:a="http://schemas.openxmlformats.org/drawingml/2006/main">
              <a:ext uri="{FF2B5EF4-FFF2-40B4-BE49-F238E27FC236}">
                <a16:creationId xmlns:a16="http://schemas.microsoft.com/office/drawing/2014/main" id="{97FF7E88-29AB-4E99-99FB-BAAE3314875E}"/>
              </a:ext>
            </a:extLst>
          </p:cNvPr>
          <p:cNvSpPr>
            <a:spLocks xmlns:a="http://schemas.openxmlformats.org/drawingml/2006/main" noGrp="1"/>
          </p:cNvSpPr>
          <p:nvPr/>
        </p:nvSpPr>
        <p:spPr>
          <a:xfrm xmlns:a="http://schemas.openxmlformats.org/drawingml/2006/main">
            <a:off x="495300" y="5943600"/>
            <a:ext cx="112014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CF6EDCF7-6769-4545-A21E-0FB554ECC3A8}"/>
              </a:ext>
            </a:extLst>
          </p:cNvPr>
          <p:cNvSpPr>
            <a:spLocks xmlns:a="http://schemas.openxmlformats.org/drawingml/2006/main" noGrp="1"/>
          </p:cNvSpPr>
          <p:nvPr/>
        </p:nvSpPr>
        <p:spPr>
          <a:xfrm xmlns:a="http://schemas.openxmlformats.org/drawingml/2006/main">
            <a:off x="495300" y="6115050"/>
            <a:ext cx="971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475569"/>
                </a:solidFill>
              </a:defRPr>
            </a:pPr>
            <a:r>
              <a:rPr sz="1350" b="0">
                <a:solidFill>
                  <a:srgbClr val="475569"/>
                </a:solidFill>
              </a:rPr>
              <a:t>Livrable autonome : données, analyses et limites documentées dans le paquet McGill / WELL-E.</a:t>
            </a:r>
          </a:p>
        </p:txBody>
      </p:sp>
    </p:spTree>
    <p:extLst>
      <p:ext uri="{BB962C8B-B14F-4D97-AF65-F5344CB8AC3E}">
        <p14:creationId xmlns:p14="http://schemas.microsoft.com/office/powerpoint/2010/main" val="852226084"/>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A39E738C-D14C-4B36-AB0D-C85948D3AA64}"/>
              </a:ext>
            </a:extLst>
          </p:cNvPr>
          <p:cNvSpPr>
            <a:spLocks xmlns:a="http://schemas.openxmlformats.org/drawingml/2006/main" noGrp="1"/>
          </p:cNvSpPr>
          <p:nvPr/>
        </p:nvSpPr>
        <p:spPr>
          <a:xfrm xmlns:a="http://schemas.openxmlformats.org/drawingml/2006/main">
            <a:off x="495300" y="323850"/>
            <a:ext cx="11201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a:solidFill>
                  <a:srgbClr val="0F172A"/>
                </a:solidFill>
              </a:defRPr>
            </a:pPr>
            <a:r>
              <a:rPr sz="2850" b="1">
                <a:solidFill>
                  <a:srgbClr val="0F172A"/>
                </a:solidFill>
              </a:rPr>
              <a:t>Objectif 2 livré : synchronisation complète, conclusion prudente</a:t>
            </a:r>
          </a:p>
        </p:txBody>
      </p:sp>
      <p:sp>
        <p:nvSpPr>
          <p:cNvPr id="2" name="">
            <a:extLst xmlns:a="http://schemas.openxmlformats.org/drawingml/2006/main">
              <a:ext uri="{FF2B5EF4-FFF2-40B4-BE49-F238E27FC236}">
                <a16:creationId xmlns:a16="http://schemas.microsoft.com/office/drawing/2014/main" id="{B0528742-545E-461C-90C7-D6FE2CB6665A}"/>
              </a:ext>
            </a:extLst>
          </p:cNvPr>
          <p:cNvSpPr>
            <a:spLocks xmlns:a="http://schemas.openxmlformats.org/drawingml/2006/main" noGrp="1"/>
          </p:cNvSpPr>
          <p:nvPr/>
        </p:nvSpPr>
        <p:spPr>
          <a:xfrm xmlns:a="http://schemas.openxmlformats.org/drawingml/2006/main">
            <a:off x="495300" y="914400"/>
            <a:ext cx="1120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475569"/>
                </a:solidFill>
              </a:defRPr>
            </a:pPr>
            <a:r>
              <a:rPr sz="1500" b="0">
                <a:solidFill>
                  <a:srgbClr val="475569"/>
                </a:solidFill>
              </a:rPr>
              <a:t>IceTag, HOBO extérieur et observations comportementales sont synchronisés pour Summer 2019.</a:t>
            </a:r>
          </a:p>
        </p:txBody>
      </p:sp>
      <p:sp>
        <p:nvSpPr>
          <p:cNvPr id="3" name="">
            <a:extLst xmlns:a="http://schemas.openxmlformats.org/drawingml/2006/main">
              <a:ext uri="{FF2B5EF4-FFF2-40B4-BE49-F238E27FC236}">
                <a16:creationId xmlns:a16="http://schemas.microsoft.com/office/drawing/2014/main" id="{3D849C18-BC7B-4169-83B6-72F6188B9BEF}"/>
              </a:ext>
            </a:extLst>
          </p:cNvPr>
          <p:cNvSpPr>
            <a:spLocks xmlns:a="http://schemas.openxmlformats.org/drawingml/2006/main" noGrp="1"/>
          </p:cNvSpPr>
          <p:nvPr/>
        </p:nvSpPr>
        <p:spPr>
          <a:xfrm xmlns:a="http://schemas.openxmlformats.org/drawingml/2006/main">
            <a:off x="495300" y="1257300"/>
            <a:ext cx="112014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6AB0DC98-8294-43FE-96A8-FE35E84FA1C8}"/>
              </a:ext>
            </a:extLst>
          </p:cNvPr>
          <p:cNvSpPr>
            <a:spLocks xmlns:a="http://schemas.openxmlformats.org/drawingml/2006/main" noGrp="1"/>
          </p:cNvSpPr>
          <p:nvPr/>
        </p:nvSpPr>
        <p:spPr>
          <a:xfrm xmlns:a="http://schemas.openxmlformats.org/drawingml/2006/main">
            <a:off x="495300" y="64198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475569"/>
                </a:solidFill>
              </a:defRPr>
            </a:pPr>
            <a:r>
              <a:rPr sz="1050" b="0">
                <a:solidFill>
                  <a:srgbClr val="475569"/>
                </a:solidFill>
              </a:rPr>
              <a:t>Projet McGill / WELL-E - Objectif 2</a:t>
            </a:r>
          </a:p>
        </p:txBody>
      </p:sp>
      <p:sp>
        <p:nvSpPr>
          <p:cNvPr id="5" name="">
            <a:extLst xmlns:a="http://schemas.openxmlformats.org/drawingml/2006/main">
              <a:ext uri="{FF2B5EF4-FFF2-40B4-BE49-F238E27FC236}">
                <a16:creationId xmlns:a16="http://schemas.microsoft.com/office/drawing/2014/main" id="{9F3E676E-9952-46FF-B279-77B0CED7A129}"/>
              </a:ext>
            </a:extLst>
          </p:cNvPr>
          <p:cNvSpPr>
            <a:spLocks xmlns:a="http://schemas.openxmlformats.org/drawingml/2006/main" noGrp="1"/>
          </p:cNvSpPr>
          <p:nvPr/>
        </p:nvSpPr>
        <p:spPr>
          <a:xfrm xmlns:a="http://schemas.openxmlformats.org/drawingml/2006/main">
            <a:off x="11334750" y="6419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a:solidFill>
                  <a:srgbClr val="475569"/>
                </a:solidFill>
              </a:defRPr>
            </a:pPr>
            <a:r>
              <a:rPr sz="1050" b="0">
                <a:solidFill>
                  <a:srgbClr val="475569"/>
                </a:solidFill>
              </a:rPr>
              <a:t>2</a:t>
            </a:r>
          </a:p>
        </p:txBody>
      </p:sp>
      <p:sp>
        <p:nvSpPr>
          <p:cNvPr id="6" name="">
            <a:extLst xmlns:a="http://schemas.openxmlformats.org/drawingml/2006/main">
              <a:ext uri="{FF2B5EF4-FFF2-40B4-BE49-F238E27FC236}">
                <a16:creationId xmlns:a16="http://schemas.microsoft.com/office/drawing/2014/main" id="{F3A8AF50-2BCB-41EA-8392-C42905337C8D}"/>
              </a:ext>
            </a:extLst>
          </p:cNvPr>
          <p:cNvSpPr>
            <a:spLocks xmlns:a="http://schemas.openxmlformats.org/drawingml/2006/main" noGrp="1"/>
          </p:cNvSpPr>
          <p:nvPr/>
        </p:nvSpPr>
        <p:spPr>
          <a:xfrm xmlns:a="http://schemas.openxmlformats.org/drawingml/2006/main">
            <a:off x="495300" y="1562100"/>
            <a:ext cx="11201400" cy="876300"/>
          </a:xfrm>
          <a:prstGeom xmlns:a="http://schemas.openxmlformats.org/drawingml/2006/main" prst="rect">
            <a:avLst/>
          </a:prstGeom>
          <a:solidFill xmlns:a="http://schemas.openxmlformats.org/drawingml/2006/main">
            <a:srgbClr val="EEF6FB"/>
          </a:solidFill>
          <a:ln xmlns:a="http://schemas.openxmlformats.org/drawingml/2006/main" w="9525">
            <a:solidFill>
              <a:srgbClr val="D3D7DE"/>
            </a:solidFill>
            <a:prstDash val="solid"/>
          </a:ln>
        </p:spPr>
      </p:sp>
      <p:sp>
        <p:nvSpPr>
          <p:cNvPr id="7" name="">
            <a:extLst xmlns:a="http://schemas.openxmlformats.org/drawingml/2006/main">
              <a:ext uri="{FF2B5EF4-FFF2-40B4-BE49-F238E27FC236}">
                <a16:creationId xmlns:a16="http://schemas.microsoft.com/office/drawing/2014/main" id="{84E0DB16-3BF5-44C2-9885-B4B57B6DF6B6}"/>
              </a:ext>
            </a:extLst>
          </p:cNvPr>
          <p:cNvSpPr>
            <a:spLocks xmlns:a="http://schemas.openxmlformats.org/drawingml/2006/main" noGrp="1"/>
          </p:cNvSpPr>
          <p:nvPr/>
        </p:nvSpPr>
        <p:spPr>
          <a:xfrm xmlns:a="http://schemas.openxmlformats.org/drawingml/2006/main">
            <a:off x="704850" y="1752600"/>
            <a:ext cx="10782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0F172A"/>
                </a:solidFill>
              </a:defRPr>
            </a:pPr>
            <a:r>
              <a:rPr sz="1650" b="0">
                <a:solidFill>
                  <a:srgbClr val="0F172A"/>
                </a:solidFill>
              </a:rPr>
              <a:t>Conclusion courte : l’effet THI-activité est positif avant contrôle du jour, mais devient non concluant après ce contrôle.</a:t>
            </a:r>
          </a:p>
        </p:txBody>
      </p:sp>
      <p:sp>
        <p:nvSpPr>
          <p:cNvPr id="8" name="">
            <a:extLst xmlns:a="http://schemas.openxmlformats.org/drawingml/2006/main">
              <a:ext uri="{FF2B5EF4-FFF2-40B4-BE49-F238E27FC236}">
                <a16:creationId xmlns:a16="http://schemas.microsoft.com/office/drawing/2014/main" id="{A602CD26-FCC4-40A3-8388-7A53CF13897D}"/>
              </a:ext>
            </a:extLst>
          </p:cNvPr>
          <p:cNvSpPr>
            <a:spLocks xmlns:a="http://schemas.openxmlformats.org/drawingml/2006/main" noGrp="1"/>
          </p:cNvSpPr>
          <p:nvPr/>
        </p:nvSpPr>
        <p:spPr>
          <a:xfrm xmlns:a="http://schemas.openxmlformats.org/drawingml/2006/main">
            <a:off x="495300" y="2857500"/>
            <a:ext cx="3333750" cy="2476500"/>
          </a:xfrm>
          <a:prstGeom xmlns:a="http://schemas.openxmlformats.org/drawingml/2006/main" prst="rect">
            <a:avLst/>
          </a:prstGeom>
          <a:solidFill xmlns:a="http://schemas.openxmlformats.org/drawingml/2006/main">
            <a:srgbClr val="F3F6FA"/>
          </a:solidFill>
          <a:ln xmlns:a="http://schemas.openxmlformats.org/drawingml/2006/main" w="9525">
            <a:solidFill>
              <a:srgbClr val="D3D7DE"/>
            </a:solidFill>
            <a:prstDash val="solid"/>
          </a:ln>
        </p:spPr>
      </p:sp>
      <p:sp>
        <p:nvSpPr>
          <p:cNvPr id="9" name="">
            <a:extLst xmlns:a="http://schemas.openxmlformats.org/drawingml/2006/main">
              <a:ext uri="{FF2B5EF4-FFF2-40B4-BE49-F238E27FC236}">
                <a16:creationId xmlns:a16="http://schemas.microsoft.com/office/drawing/2014/main" id="{82A5BC42-1C6C-43E0-A756-9F0583F68170}"/>
              </a:ext>
            </a:extLst>
          </p:cNvPr>
          <p:cNvSpPr>
            <a:spLocks xmlns:a="http://schemas.openxmlformats.org/drawingml/2006/main" noGrp="1"/>
          </p:cNvSpPr>
          <p:nvPr/>
        </p:nvSpPr>
        <p:spPr>
          <a:xfrm xmlns:a="http://schemas.openxmlformats.org/drawingml/2006/main">
            <a:off x="723900" y="3124200"/>
            <a:ext cx="2876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4F7A"/>
                </a:solidFill>
              </a:defRPr>
            </a:pPr>
            <a:r>
              <a:rPr sz="3150" b="1">
                <a:solidFill>
                  <a:srgbClr val="0B4F7A"/>
                </a:solidFill>
              </a:rPr>
              <a:t>87 501</a:t>
            </a:r>
          </a:p>
        </p:txBody>
      </p:sp>
      <p:sp>
        <p:nvSpPr>
          <p:cNvPr id="10" name="">
            <a:extLst xmlns:a="http://schemas.openxmlformats.org/drawingml/2006/main">
              <a:ext uri="{FF2B5EF4-FFF2-40B4-BE49-F238E27FC236}">
                <a16:creationId xmlns:a16="http://schemas.microsoft.com/office/drawing/2014/main" id="{B81FA07C-F999-4EA4-8A42-66A9A4387BB1}"/>
              </a:ext>
            </a:extLst>
          </p:cNvPr>
          <p:cNvSpPr>
            <a:spLocks xmlns:a="http://schemas.openxmlformats.org/drawingml/2006/main" noGrp="1"/>
          </p:cNvSpPr>
          <p:nvPr/>
        </p:nvSpPr>
        <p:spPr>
          <a:xfrm xmlns:a="http://schemas.openxmlformats.org/drawingml/2006/main">
            <a:off x="723900" y="3752850"/>
            <a:ext cx="2876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1">
                <a:solidFill>
                  <a:srgbClr val="0F172A"/>
                </a:solidFill>
              </a:defRPr>
            </a:pPr>
            <a:r>
              <a:rPr sz="1575" b="1">
                <a:solidFill>
                  <a:srgbClr val="0F172A"/>
                </a:solidFill>
              </a:rPr>
              <a:t>Intervalles analysés</a:t>
            </a:r>
          </a:p>
        </p:txBody>
      </p:sp>
      <p:sp>
        <p:nvSpPr>
          <p:cNvPr id="11" name="">
            <a:extLst xmlns:a="http://schemas.openxmlformats.org/drawingml/2006/main">
              <a:ext uri="{FF2B5EF4-FFF2-40B4-BE49-F238E27FC236}">
                <a16:creationId xmlns:a16="http://schemas.microsoft.com/office/drawing/2014/main" id="{C2473D1F-F53F-4A9E-8AB1-4C1AE8204AA5}"/>
              </a:ext>
            </a:extLst>
          </p:cNvPr>
          <p:cNvSpPr>
            <a:spLocks xmlns:a="http://schemas.openxmlformats.org/drawingml/2006/main" noGrp="1"/>
          </p:cNvSpPr>
          <p:nvPr/>
        </p:nvSpPr>
        <p:spPr>
          <a:xfrm xmlns:a="http://schemas.openxmlformats.org/drawingml/2006/main">
            <a:off x="723900" y="4133850"/>
            <a:ext cx="28765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475569"/>
                </a:solidFill>
              </a:defRPr>
            </a:pPr>
            <a:r>
              <a:rPr sz="1275" b="0">
                <a:solidFill>
                  <a:srgbClr val="475569"/>
                </a:solidFill>
              </a:rPr>
              <a:t>17 vaches, 62 jours et fenêtres régulières de 15 minutes.</a:t>
            </a:r>
          </a:p>
        </p:txBody>
      </p:sp>
      <p:sp>
        <p:nvSpPr>
          <p:cNvPr id="12" name="">
            <a:extLst xmlns:a="http://schemas.openxmlformats.org/drawingml/2006/main">
              <a:ext uri="{FF2B5EF4-FFF2-40B4-BE49-F238E27FC236}">
                <a16:creationId xmlns:a16="http://schemas.microsoft.com/office/drawing/2014/main" id="{FB16481E-7EBA-43B6-A64F-A58164FCC120}"/>
              </a:ext>
            </a:extLst>
          </p:cNvPr>
          <p:cNvSpPr>
            <a:spLocks xmlns:a="http://schemas.openxmlformats.org/drawingml/2006/main" noGrp="1"/>
          </p:cNvSpPr>
          <p:nvPr/>
        </p:nvSpPr>
        <p:spPr>
          <a:xfrm xmlns:a="http://schemas.openxmlformats.org/drawingml/2006/main">
            <a:off x="4429125" y="2857500"/>
            <a:ext cx="3333750" cy="2476500"/>
          </a:xfrm>
          <a:prstGeom xmlns:a="http://schemas.openxmlformats.org/drawingml/2006/main" prst="rect">
            <a:avLst/>
          </a:prstGeom>
          <a:solidFill xmlns:a="http://schemas.openxmlformats.org/drawingml/2006/main">
            <a:srgbClr val="F3F6FA"/>
          </a:solidFill>
          <a:ln xmlns:a="http://schemas.openxmlformats.org/drawingml/2006/main" w="9525">
            <a:solidFill>
              <a:srgbClr val="D3D7DE"/>
            </a:solidFill>
            <a:prstDash val="solid"/>
          </a:ln>
        </p:spPr>
      </p:sp>
      <p:sp>
        <p:nvSpPr>
          <p:cNvPr id="13" name="">
            <a:extLst xmlns:a="http://schemas.openxmlformats.org/drawingml/2006/main">
              <a:ext uri="{FF2B5EF4-FFF2-40B4-BE49-F238E27FC236}">
                <a16:creationId xmlns:a16="http://schemas.microsoft.com/office/drawing/2014/main" id="{EAE39C4C-A18D-4402-8A28-D015D41CB194}"/>
              </a:ext>
            </a:extLst>
          </p:cNvPr>
          <p:cNvSpPr>
            <a:spLocks xmlns:a="http://schemas.openxmlformats.org/drawingml/2006/main" noGrp="1"/>
          </p:cNvSpPr>
          <p:nvPr/>
        </p:nvSpPr>
        <p:spPr>
          <a:xfrm xmlns:a="http://schemas.openxmlformats.org/drawingml/2006/main">
            <a:off x="4657725" y="3124200"/>
            <a:ext cx="2876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4F7A"/>
                </a:solidFill>
              </a:defRPr>
            </a:pPr>
            <a:r>
              <a:rPr sz="3150" b="1">
                <a:solidFill>
                  <a:srgbClr val="0B4F7A"/>
                </a:solidFill>
              </a:rPr>
              <a:t>49/51</a:t>
            </a:r>
          </a:p>
        </p:txBody>
      </p:sp>
      <p:sp>
        <p:nvSpPr>
          <p:cNvPr id="14" name="">
            <a:extLst xmlns:a="http://schemas.openxmlformats.org/drawingml/2006/main">
              <a:ext uri="{FF2B5EF4-FFF2-40B4-BE49-F238E27FC236}">
                <a16:creationId xmlns:a16="http://schemas.microsoft.com/office/drawing/2014/main" id="{424EE1CF-9409-421B-B27E-BB79875DC76D}"/>
              </a:ext>
            </a:extLst>
          </p:cNvPr>
          <p:cNvSpPr>
            <a:spLocks xmlns:a="http://schemas.openxmlformats.org/drawingml/2006/main" noGrp="1"/>
          </p:cNvSpPr>
          <p:nvPr/>
        </p:nvSpPr>
        <p:spPr>
          <a:xfrm xmlns:a="http://schemas.openxmlformats.org/drawingml/2006/main">
            <a:off x="4657725" y="3752850"/>
            <a:ext cx="2876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1">
                <a:solidFill>
                  <a:srgbClr val="0F172A"/>
                </a:solidFill>
              </a:defRPr>
            </a:pPr>
            <a:r>
              <a:rPr sz="1575" b="1">
                <a:solidFill>
                  <a:srgbClr val="0F172A"/>
                </a:solidFill>
              </a:rPr>
              <a:t>Scans trimodaux</a:t>
            </a:r>
          </a:p>
        </p:txBody>
      </p:sp>
      <p:sp>
        <p:nvSpPr>
          <p:cNvPr id="15" name="">
            <a:extLst xmlns:a="http://schemas.openxmlformats.org/drawingml/2006/main">
              <a:ext uri="{FF2B5EF4-FFF2-40B4-BE49-F238E27FC236}">
                <a16:creationId xmlns:a16="http://schemas.microsoft.com/office/drawing/2014/main" id="{C5B49933-B9D6-46E5-9648-70A679BED3FE}"/>
              </a:ext>
            </a:extLst>
          </p:cNvPr>
          <p:cNvSpPr>
            <a:spLocks xmlns:a="http://schemas.openxmlformats.org/drawingml/2006/main" noGrp="1"/>
          </p:cNvSpPr>
          <p:nvPr/>
        </p:nvSpPr>
        <p:spPr>
          <a:xfrm xmlns:a="http://schemas.openxmlformats.org/drawingml/2006/main">
            <a:off x="4657725" y="4133850"/>
            <a:ext cx="28765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475569"/>
                </a:solidFill>
              </a:defRPr>
            </a:pPr>
            <a:r>
              <a:rPr sz="1275" b="0">
                <a:solidFill>
                  <a:srgbClr val="475569"/>
                </a:solidFill>
              </a:rPr>
              <a:t>Deux scans sans activité correspondante, explicitement documentés.</a:t>
            </a:r>
          </a:p>
        </p:txBody>
      </p:sp>
      <p:sp>
        <p:nvSpPr>
          <p:cNvPr id="16" name="">
            <a:extLst xmlns:a="http://schemas.openxmlformats.org/drawingml/2006/main">
              <a:ext uri="{FF2B5EF4-FFF2-40B4-BE49-F238E27FC236}">
                <a16:creationId xmlns:a16="http://schemas.microsoft.com/office/drawing/2014/main" id="{A85902F8-049C-4129-88CF-2CB7B4F53F0E}"/>
              </a:ext>
            </a:extLst>
          </p:cNvPr>
          <p:cNvSpPr>
            <a:spLocks xmlns:a="http://schemas.openxmlformats.org/drawingml/2006/main" noGrp="1"/>
          </p:cNvSpPr>
          <p:nvPr/>
        </p:nvSpPr>
        <p:spPr>
          <a:xfrm xmlns:a="http://schemas.openxmlformats.org/drawingml/2006/main">
            <a:off x="8362950" y="2857500"/>
            <a:ext cx="3333750" cy="2476500"/>
          </a:xfrm>
          <a:prstGeom xmlns:a="http://schemas.openxmlformats.org/drawingml/2006/main" prst="rect">
            <a:avLst/>
          </a:prstGeom>
          <a:solidFill xmlns:a="http://schemas.openxmlformats.org/drawingml/2006/main">
            <a:srgbClr val="F3F6FA"/>
          </a:solidFill>
          <a:ln xmlns:a="http://schemas.openxmlformats.org/drawingml/2006/main" w="9525">
            <a:solidFill>
              <a:srgbClr val="D3D7DE"/>
            </a:solidFill>
            <a:prstDash val="solid"/>
          </a:ln>
        </p:spPr>
      </p:sp>
      <p:sp>
        <p:nvSpPr>
          <p:cNvPr id="17" name="">
            <a:extLst xmlns:a="http://schemas.openxmlformats.org/drawingml/2006/main">
              <a:ext uri="{FF2B5EF4-FFF2-40B4-BE49-F238E27FC236}">
                <a16:creationId xmlns:a16="http://schemas.microsoft.com/office/drawing/2014/main" id="{01CBD02E-B70C-4DCB-AA02-276137461973}"/>
              </a:ext>
            </a:extLst>
          </p:cNvPr>
          <p:cNvSpPr>
            <a:spLocks xmlns:a="http://schemas.openxmlformats.org/drawingml/2006/main" noGrp="1"/>
          </p:cNvSpPr>
          <p:nvPr/>
        </p:nvSpPr>
        <p:spPr>
          <a:xfrm xmlns:a="http://schemas.openxmlformats.org/drawingml/2006/main">
            <a:off x="8591550" y="3124200"/>
            <a:ext cx="28765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4F7A"/>
                </a:solidFill>
              </a:defRPr>
            </a:pPr>
            <a:r>
              <a:rPr sz="3150" b="1">
                <a:solidFill>
                  <a:srgbClr val="0B4F7A"/>
                </a:solidFill>
              </a:rPr>
              <a:t>Exploratoire</a:t>
            </a:r>
          </a:p>
        </p:txBody>
      </p:sp>
      <p:sp>
        <p:nvSpPr>
          <p:cNvPr id="18" name="">
            <a:extLst xmlns:a="http://schemas.openxmlformats.org/drawingml/2006/main">
              <a:ext uri="{FF2B5EF4-FFF2-40B4-BE49-F238E27FC236}">
                <a16:creationId xmlns:a16="http://schemas.microsoft.com/office/drawing/2014/main" id="{2B65A025-4502-4F90-BD2B-492413A2BF76}"/>
              </a:ext>
            </a:extLst>
          </p:cNvPr>
          <p:cNvSpPr>
            <a:spLocks xmlns:a="http://schemas.openxmlformats.org/drawingml/2006/main" noGrp="1"/>
          </p:cNvSpPr>
          <p:nvPr/>
        </p:nvSpPr>
        <p:spPr>
          <a:xfrm xmlns:a="http://schemas.openxmlformats.org/drawingml/2006/main">
            <a:off x="8591550" y="3752850"/>
            <a:ext cx="28765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1">
                <a:solidFill>
                  <a:srgbClr val="0F172A"/>
                </a:solidFill>
              </a:defRPr>
            </a:pPr>
            <a:r>
              <a:rPr sz="1575" b="1">
                <a:solidFill>
                  <a:srgbClr val="0F172A"/>
                </a:solidFill>
              </a:rPr>
              <a:t>Position scientifique</a:t>
            </a:r>
          </a:p>
        </p:txBody>
      </p:sp>
      <p:sp>
        <p:nvSpPr>
          <p:cNvPr id="19" name="">
            <a:extLst xmlns:a="http://schemas.openxmlformats.org/drawingml/2006/main">
              <a:ext uri="{FF2B5EF4-FFF2-40B4-BE49-F238E27FC236}">
                <a16:creationId xmlns:a16="http://schemas.microsoft.com/office/drawing/2014/main" id="{CAAAB450-3290-4B92-9ACD-B786DD7C7606}"/>
              </a:ext>
            </a:extLst>
          </p:cNvPr>
          <p:cNvSpPr>
            <a:spLocks xmlns:a="http://schemas.openxmlformats.org/drawingml/2006/main" noGrp="1"/>
          </p:cNvSpPr>
          <p:nvPr/>
        </p:nvSpPr>
        <p:spPr>
          <a:xfrm xmlns:a="http://schemas.openxmlformats.org/drawingml/2006/main">
            <a:off x="8591550" y="4133850"/>
            <a:ext cx="28765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475569"/>
                </a:solidFill>
              </a:defRPr>
            </a:pPr>
            <a:r>
              <a:rPr sz="1275" b="0">
                <a:solidFill>
                  <a:srgbClr val="475569"/>
                </a:solidFill>
              </a:rPr>
              <a:t>Association dépendante du jour; aucune conclusion causale.</a:t>
            </a:r>
          </a:p>
        </p:txBody>
      </p:sp>
    </p:spTree>
    <p:extLst>
      <p:ext uri="{BB962C8B-B14F-4D97-AF65-F5344CB8AC3E}">
        <p14:creationId xmlns:p14="http://schemas.microsoft.com/office/powerpoint/2010/main" val="61761970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B477F07-E207-4AF7-AD7D-6EA9AD16F735}"/>
              </a:ext>
            </a:extLst>
          </p:cNvPr>
          <p:cNvSpPr>
            <a:spLocks xmlns:a="http://schemas.openxmlformats.org/drawingml/2006/main" noGrp="1"/>
          </p:cNvSpPr>
          <p:nvPr/>
        </p:nvSpPr>
        <p:spPr>
          <a:xfrm xmlns:a="http://schemas.openxmlformats.org/drawingml/2006/main">
            <a:off x="495300" y="323850"/>
            <a:ext cx="11201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a:solidFill>
                  <a:srgbClr val="0F172A"/>
                </a:solidFill>
              </a:defRPr>
            </a:pPr>
            <a:r>
              <a:rPr sz="2850" b="1">
                <a:solidFill>
                  <a:srgbClr val="0F172A"/>
                </a:solidFill>
              </a:rPr>
              <a:t>Les livrables SOW de l’Objectif 2 sont couverts</a:t>
            </a:r>
          </a:p>
        </p:txBody>
      </p:sp>
      <p:sp>
        <p:nvSpPr>
          <p:cNvPr id="2" name="">
            <a:extLst xmlns:a="http://schemas.openxmlformats.org/drawingml/2006/main">
              <a:ext uri="{FF2B5EF4-FFF2-40B4-BE49-F238E27FC236}">
                <a16:creationId xmlns:a16="http://schemas.microsoft.com/office/drawing/2014/main" id="{FDC02B93-4126-4408-8A74-75764B5886C7}"/>
              </a:ext>
            </a:extLst>
          </p:cNvPr>
          <p:cNvSpPr>
            <a:spLocks xmlns:a="http://schemas.openxmlformats.org/drawingml/2006/main" noGrp="1"/>
          </p:cNvSpPr>
          <p:nvPr/>
        </p:nvSpPr>
        <p:spPr>
          <a:xfrm xmlns:a="http://schemas.openxmlformats.org/drawingml/2006/main">
            <a:off x="495300" y="914400"/>
            <a:ext cx="1120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475569"/>
                </a:solidFill>
              </a:defRPr>
            </a:pPr>
            <a:r>
              <a:rPr sz="1500" b="0">
                <a:solidFill>
                  <a:srgbClr val="475569"/>
                </a:solidFill>
              </a:rPr>
              <a:t>Chaque exigence du SOW possède un fichier identifiable dans le paquet de livraison.</a:t>
            </a:r>
          </a:p>
        </p:txBody>
      </p:sp>
      <p:sp>
        <p:nvSpPr>
          <p:cNvPr id="3" name="">
            <a:extLst xmlns:a="http://schemas.openxmlformats.org/drawingml/2006/main">
              <a:ext uri="{FF2B5EF4-FFF2-40B4-BE49-F238E27FC236}">
                <a16:creationId xmlns:a16="http://schemas.microsoft.com/office/drawing/2014/main" id="{344BC9B8-A707-4EA9-9E06-CC6F97203FF9}"/>
              </a:ext>
            </a:extLst>
          </p:cNvPr>
          <p:cNvSpPr>
            <a:spLocks xmlns:a="http://schemas.openxmlformats.org/drawingml/2006/main" noGrp="1"/>
          </p:cNvSpPr>
          <p:nvPr/>
        </p:nvSpPr>
        <p:spPr>
          <a:xfrm xmlns:a="http://schemas.openxmlformats.org/drawingml/2006/main">
            <a:off x="495300" y="1257300"/>
            <a:ext cx="112014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E5CD64C2-D1A8-4C86-B705-9E5F76F2F333}"/>
              </a:ext>
            </a:extLst>
          </p:cNvPr>
          <p:cNvSpPr>
            <a:spLocks xmlns:a="http://schemas.openxmlformats.org/drawingml/2006/main" noGrp="1"/>
          </p:cNvSpPr>
          <p:nvPr/>
        </p:nvSpPr>
        <p:spPr>
          <a:xfrm xmlns:a="http://schemas.openxmlformats.org/drawingml/2006/main">
            <a:off x="495300" y="64198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475569"/>
                </a:solidFill>
              </a:defRPr>
            </a:pPr>
            <a:r>
              <a:rPr sz="1050" b="0">
                <a:solidFill>
                  <a:srgbClr val="475569"/>
                </a:solidFill>
              </a:rPr>
              <a:t>Projet McGill / WELL-E - Objectif 2</a:t>
            </a:r>
          </a:p>
        </p:txBody>
      </p:sp>
      <p:sp>
        <p:nvSpPr>
          <p:cNvPr id="5" name="">
            <a:extLst xmlns:a="http://schemas.openxmlformats.org/drawingml/2006/main">
              <a:ext uri="{FF2B5EF4-FFF2-40B4-BE49-F238E27FC236}">
                <a16:creationId xmlns:a16="http://schemas.microsoft.com/office/drawing/2014/main" id="{D269424D-F041-4E4C-8D08-57B4EB133D5E}"/>
              </a:ext>
            </a:extLst>
          </p:cNvPr>
          <p:cNvSpPr>
            <a:spLocks xmlns:a="http://schemas.openxmlformats.org/drawingml/2006/main" noGrp="1"/>
          </p:cNvSpPr>
          <p:nvPr/>
        </p:nvSpPr>
        <p:spPr>
          <a:xfrm xmlns:a="http://schemas.openxmlformats.org/drawingml/2006/main">
            <a:off x="11334750" y="6419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a:solidFill>
                  <a:srgbClr val="475569"/>
                </a:solidFill>
              </a:defRPr>
            </a:pPr>
            <a:r>
              <a:rPr sz="1050" b="0">
                <a:solidFill>
                  <a:srgbClr val="475569"/>
                </a:solidFill>
              </a:rPr>
              <a:t>3</a:t>
            </a:r>
          </a:p>
        </p:txBody>
      </p:sp>
      <p:graphicFrame>
        <p:nvGraphicFramePr>
          <p:cNvPr id="16" name=""/>
          <p:cNvGraphicFramePr/>
          <p:nvPr/>
        </p:nvGraphicFramePr>
        <p:xfrm>
          <a:off xmlns:a="http://schemas.openxmlformats.org/drawingml/2006/main" x="495300" y="1619250"/>
          <a:ext xmlns:a="http://schemas.openxmlformats.org/drawingml/2006/main" cx="11201400" cy="2952750"/>
        </p:xfrm>
        <a:graphic xmlns:a="http://schemas.openxmlformats.org/drawingml/2006/main">
          <a:graphicData uri="http://schemas.openxmlformats.org/drawingml/2006/table">
            <a:tbl>
              <a:tblPr firstRow="1" bandRow="1"/>
              <a:tblGrid>
                <a:gridCol w="857250"/>
                <a:gridCol w="4427220"/>
                <a:gridCol w="5059680"/>
                <a:gridCol w="857250"/>
              </a:tblGrid>
              <a:tr h="590550">
                <a:tc>
                  <a:txBody>
                    <a:bodyPr/>
                    <a:lstStyle/>
                    <a:p>
                      <a:r>
                        <a:rPr sz="1050" b="1">
                          <a:solidFill>
                            <a:srgbClr val="FFFFFF"/>
                          </a:solidFill>
                        </a:rPr>
                        <a:t>Tâche</a:t>
                      </a:r>
                    </a:p>
                  </a:txBody>
                  <a:tcPr marL="91440" marR="91440" marT="45720" marB="45720">
                    <a:solidFill>
                      <a:srgbClr val="0B4F7A"/>
                    </a:solidFill>
                  </a:tcPr>
                </a:tc>
                <a:tc>
                  <a:txBody>
                    <a:bodyPr/>
                    <a:lstStyle/>
                    <a:p>
                      <a:r>
                        <a:rPr sz="1050" b="1">
                          <a:solidFill>
                            <a:srgbClr val="FFFFFF"/>
                          </a:solidFill>
                        </a:rPr>
                        <a:t>Livrable SOW</a:t>
                      </a:r>
                    </a:p>
                  </a:txBody>
                  <a:tcPr marL="91440" marR="91440" marT="45720" marB="45720">
                    <a:solidFill>
                      <a:srgbClr val="0B4F7A"/>
                    </a:solidFill>
                  </a:tcPr>
                </a:tc>
                <a:tc>
                  <a:txBody>
                    <a:bodyPr/>
                    <a:lstStyle/>
                    <a:p>
                      <a:r>
                        <a:rPr sz="1050" b="1">
                          <a:solidFill>
                            <a:srgbClr val="FFFFFF"/>
                          </a:solidFill>
                        </a:rPr>
                        <a:t>Emplacement livré</a:t>
                      </a:r>
                    </a:p>
                  </a:txBody>
                  <a:tcPr marL="91440" marR="91440" marT="45720" marB="45720">
                    <a:solidFill>
                      <a:srgbClr val="0B4F7A"/>
                    </a:solidFill>
                  </a:tcPr>
                </a:tc>
                <a:tc>
                  <a:txBody>
                    <a:bodyPr/>
                    <a:lstStyle/>
                    <a:p>
                      <a:r>
                        <a:rPr sz="1050" b="1">
                          <a:solidFill>
                            <a:srgbClr val="FFFFFF"/>
                          </a:solidFill>
                        </a:rPr>
                        <a:t>Statut</a:t>
                      </a:r>
                    </a:p>
                  </a:txBody>
                  <a:tcPr marL="91440" marR="91440" marT="45720" marB="45720">
                    <a:solidFill>
                      <a:srgbClr val="0B4F7A"/>
                    </a:solidFill>
                  </a:tcPr>
                </a:tc>
              </a:tr>
              <a:tr h="590550">
                <a:tc>
                  <a:txBody>
                    <a:bodyPr/>
                    <a:lstStyle/>
                    <a:p>
                      <a:r>
                        <a:rPr sz="975">
                          <a:solidFill>
                            <a:srgbClr val="0F172A"/>
                          </a:solidFill>
                        </a:rPr>
                        <a:t>2.1</a:t>
                      </a:r>
                    </a:p>
                  </a:txBody>
                  <a:tcPr marL="91440" marR="91440" marT="45720" marB="45720"/>
                </a:tc>
                <a:tc>
                  <a:txBody>
                    <a:bodyPr/>
                    <a:lstStyle/>
                    <a:p>
                      <a:r>
                        <a:rPr sz="975">
                          <a:solidFill>
                            <a:srgbClr val="0F172A"/>
                          </a:solidFill>
                        </a:rPr>
                        <a:t>Jeu de données intégré</a:t>
                      </a:r>
                    </a:p>
                  </a:txBody>
                  <a:tcPr marL="91440" marR="91440" marT="45720" marB="45720"/>
                </a:tc>
                <a:tc>
                  <a:txBody>
                    <a:bodyPr/>
                    <a:lstStyle/>
                    <a:p>
                      <a:r>
                        <a:rPr sz="975">
                          <a:solidFill>
                            <a:srgbClr val="0F172A"/>
                          </a:solidFill>
                        </a:rPr>
                        <a:t>DONNEES_SYNCHRONISEES/</a:t>
                      </a:r>
                    </a:p>
                    <a:p>
                      <a:r>
                        <a:rPr sz="975">
                          <a:solidFill>
                            <a:srgbClr val="0F172A"/>
                          </a:solidFill>
                        </a:rPr>
                        <a:t>multimodal_cow_day.csv</a:t>
                      </a:r>
                    </a:p>
                  </a:txBody>
                  <a:tcPr marL="91440" marR="91440" marT="45720" marB="45720"/>
                </a:tc>
                <a:tc>
                  <a:txBody>
                    <a:bodyPr/>
                    <a:lstStyle/>
                    <a:p>
                      <a:r>
                        <a:rPr sz="975">
                          <a:solidFill>
                            <a:srgbClr val="0F172A"/>
                          </a:solidFill>
                        </a:rPr>
                        <a:t>Livré</a:t>
                      </a:r>
                    </a:p>
                  </a:txBody>
                  <a:tcPr marL="91440" marR="91440" marT="45720" marB="45720"/>
                </a:tc>
              </a:tr>
              <a:tr h="590550">
                <a:tc>
                  <a:txBody>
                    <a:bodyPr/>
                    <a:lstStyle/>
                    <a:p>
                      <a:r>
                        <a:rPr sz="975">
                          <a:solidFill>
                            <a:srgbClr val="0F172A"/>
                          </a:solidFill>
                        </a:rPr>
                        <a:t>2.1</a:t>
                      </a:r>
                    </a:p>
                  </a:txBody>
                  <a:tcPr marL="91440" marR="91440" marT="45720" marB="45720"/>
                </a:tc>
                <a:tc>
                  <a:txBody>
                    <a:bodyPr/>
                    <a:lstStyle/>
                    <a:p>
                      <a:r>
                        <a:rPr sz="975">
                          <a:solidFill>
                            <a:srgbClr val="0F172A"/>
                          </a:solidFill>
                        </a:rPr>
                        <a:t>Documentation de synchronisation</a:t>
                      </a:r>
                    </a:p>
                  </a:txBody>
                  <a:tcPr marL="91440" marR="91440" marT="45720" marB="45720"/>
                </a:tc>
                <a:tc>
                  <a:txBody>
                    <a:bodyPr/>
                    <a:lstStyle/>
                    <a:p>
                      <a:r>
                        <a:rPr sz="975">
                          <a:solidFill>
                            <a:srgbClr val="0F172A"/>
                          </a:solidFill>
                        </a:rPr>
                        <a:t>NOTES_SOW/</a:t>
                      </a:r>
                    </a:p>
                    <a:p>
                      <a:r>
                        <a:rPr sz="975">
                          <a:solidFill>
                            <a:srgbClr val="0F172A"/>
                          </a:solidFill>
                        </a:rPr>
                        <a:t>documentation_synchronisation.md</a:t>
                      </a:r>
                    </a:p>
                  </a:txBody>
                  <a:tcPr marL="91440" marR="91440" marT="45720" marB="45720"/>
                </a:tc>
                <a:tc>
                  <a:txBody>
                    <a:bodyPr/>
                    <a:lstStyle/>
                    <a:p>
                      <a:r>
                        <a:rPr sz="975">
                          <a:solidFill>
                            <a:srgbClr val="0F172A"/>
                          </a:solidFill>
                        </a:rPr>
                        <a:t>Livré</a:t>
                      </a:r>
                    </a:p>
                  </a:txBody>
                  <a:tcPr marL="91440" marR="91440" marT="45720" marB="45720"/>
                </a:tc>
              </a:tr>
              <a:tr h="590550">
                <a:tc>
                  <a:txBody>
                    <a:bodyPr/>
                    <a:lstStyle/>
                    <a:p>
                      <a:r>
                        <a:rPr sz="975">
                          <a:solidFill>
                            <a:srgbClr val="0F172A"/>
                          </a:solidFill>
                        </a:rPr>
                        <a:t>2.2</a:t>
                      </a:r>
                    </a:p>
                  </a:txBody>
                  <a:tcPr marL="91440" marR="91440" marT="45720" marB="45720"/>
                </a:tc>
                <a:tc>
                  <a:txBody>
                    <a:bodyPr/>
                    <a:lstStyle/>
                    <a:p>
                      <a:r>
                        <a:rPr sz="975">
                          <a:solidFill>
                            <a:srgbClr val="0F172A"/>
                          </a:solidFill>
                        </a:rPr>
                        <a:t>Rapport exploratoire</a:t>
                      </a:r>
                    </a:p>
                  </a:txBody>
                  <a:tcPr marL="91440" marR="91440" marT="45720" marB="45720"/>
                </a:tc>
                <a:tc>
                  <a:txBody>
                    <a:bodyPr/>
                    <a:lstStyle/>
                    <a:p>
                      <a:r>
                        <a:rPr sz="975">
                          <a:solidFill>
                            <a:srgbClr val="0F172A"/>
                          </a:solidFill>
                        </a:rPr>
                        <a:t>RAPPORTS/</a:t>
                      </a:r>
                    </a:p>
                    <a:p>
                      <a:r>
                        <a:rPr sz="975">
                          <a:solidFill>
                            <a:srgbClr val="0F172A"/>
                          </a:solidFill>
                        </a:rPr>
                        <a:t>Objectif2_rapport_livraison.docx</a:t>
                      </a:r>
                    </a:p>
                  </a:txBody>
                  <a:tcPr marL="91440" marR="91440" marT="45720" marB="45720"/>
                </a:tc>
                <a:tc>
                  <a:txBody>
                    <a:bodyPr/>
                    <a:lstStyle/>
                    <a:p>
                      <a:r>
                        <a:rPr sz="975">
                          <a:solidFill>
                            <a:srgbClr val="0F172A"/>
                          </a:solidFill>
                        </a:rPr>
                        <a:t>Livré</a:t>
                      </a:r>
                    </a:p>
                  </a:txBody>
                  <a:tcPr marL="91440" marR="91440" marT="45720" marB="45720"/>
                </a:tc>
              </a:tr>
              <a:tr h="590550">
                <a:tc>
                  <a:txBody>
                    <a:bodyPr/>
                    <a:lstStyle/>
                    <a:p>
                      <a:r>
                        <a:rPr sz="975">
                          <a:solidFill>
                            <a:srgbClr val="0F172A"/>
                          </a:solidFill>
                        </a:rPr>
                        <a:t>2.2</a:t>
                      </a:r>
                    </a:p>
                  </a:txBody>
                  <a:tcPr marL="91440" marR="91440" marT="45720" marB="45720"/>
                </a:tc>
                <a:tc>
                  <a:txBody>
                    <a:bodyPr/>
                    <a:lstStyle/>
                    <a:p>
                      <a:r>
                        <a:rPr sz="975">
                          <a:solidFill>
                            <a:srgbClr val="0F172A"/>
                          </a:solidFill>
                        </a:rPr>
                        <a:t>Faisabilité de la modélisation</a:t>
                      </a:r>
                    </a:p>
                  </a:txBody>
                  <a:tcPr marL="91440" marR="91440" marT="45720" marB="45720"/>
                </a:tc>
                <a:tc>
                  <a:txBody>
                    <a:bodyPr/>
                    <a:lstStyle/>
                    <a:p>
                      <a:r>
                        <a:rPr sz="975">
                          <a:solidFill>
                            <a:srgbClr val="0F172A"/>
                          </a:solidFill>
                        </a:rPr>
                        <a:t>NOTES_SOW/</a:t>
                      </a:r>
                    </a:p>
                    <a:p>
                      <a:r>
                        <a:rPr sz="975">
                          <a:solidFill>
                            <a:srgbClr val="0F172A"/>
                          </a:solidFill>
                        </a:rPr>
                        <a:t>notes_faisabilite_modelisation.md</a:t>
                      </a:r>
                    </a:p>
                  </a:txBody>
                  <a:tcPr marL="91440" marR="91440" marT="45720" marB="45720"/>
                </a:tc>
                <a:tc>
                  <a:txBody>
                    <a:bodyPr/>
                    <a:lstStyle/>
                    <a:p>
                      <a:r>
                        <a:rPr sz="975">
                          <a:solidFill>
                            <a:srgbClr val="0F172A"/>
                          </a:solidFill>
                        </a:rPr>
                        <a:t>Livré</a:t>
                      </a:r>
                    </a:p>
                  </a:txBody>
                  <a:tcPr marL="91440" marR="91440" marT="45720" marB="45720"/>
                </a:tc>
              </a:tr>
            </a:tbl>
          </a:graphicData>
        </a:graphic>
      </p:graphicFrame>
      <p:sp>
        <p:nvSpPr>
          <p:cNvPr id="7" name="">
            <a:extLst xmlns:a="http://schemas.openxmlformats.org/drawingml/2006/main">
              <a:ext uri="{FF2B5EF4-FFF2-40B4-BE49-F238E27FC236}">
                <a16:creationId xmlns:a16="http://schemas.microsoft.com/office/drawing/2014/main" id="{824F4D0E-49A8-4A07-84DF-212D4B2C3014}"/>
              </a:ext>
            </a:extLst>
          </p:cNvPr>
          <p:cNvSpPr>
            <a:spLocks xmlns:a="http://schemas.openxmlformats.org/drawingml/2006/main" noGrp="1"/>
          </p:cNvSpPr>
          <p:nvPr/>
        </p:nvSpPr>
        <p:spPr>
          <a:xfrm xmlns:a="http://schemas.openxmlformats.org/drawingml/2006/main">
            <a:off x="495300" y="4933950"/>
            <a:ext cx="11201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a:solidFill>
                  <a:srgbClr val="475569"/>
                </a:solidFill>
              </a:defRPr>
            </a:pPr>
            <a:r>
              <a:rPr sz="1575" b="0">
                <a:solidFill>
                  <a:srgbClr val="475569"/>
                </a:solidFill>
              </a:rPr>
              <a:t>Le PPTX est un support explicatif ajouté au paquet; il complète les livrables obligatoires du SOW.</a:t>
            </a:r>
          </a:p>
        </p:txBody>
      </p:sp>
    </p:spTree>
    <p:extLst>
      <p:ext uri="{BB962C8B-B14F-4D97-AF65-F5344CB8AC3E}">
        <p14:creationId xmlns:p14="http://schemas.microsoft.com/office/powerpoint/2010/main" val="14150866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12FE3F2-AE09-41F5-87A4-D83FD9F454D3}"/>
              </a:ext>
            </a:extLst>
          </p:cNvPr>
          <p:cNvSpPr>
            <a:spLocks xmlns:a="http://schemas.openxmlformats.org/drawingml/2006/main" noGrp="1"/>
          </p:cNvSpPr>
          <p:nvPr/>
        </p:nvSpPr>
        <p:spPr>
          <a:xfrm xmlns:a="http://schemas.openxmlformats.org/drawingml/2006/main">
            <a:off x="495300" y="323850"/>
            <a:ext cx="11201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a:solidFill>
                  <a:srgbClr val="0F172A"/>
                </a:solidFill>
              </a:defRPr>
            </a:pPr>
            <a:r>
              <a:rPr sz="2850" b="1">
                <a:solidFill>
                  <a:srgbClr val="0F172A"/>
                </a:solidFill>
              </a:rPr>
              <a:t>Trois tables assurent la traçabilité</a:t>
            </a:r>
          </a:p>
        </p:txBody>
      </p:sp>
      <p:sp>
        <p:nvSpPr>
          <p:cNvPr id="2" name="">
            <a:extLst xmlns:a="http://schemas.openxmlformats.org/drawingml/2006/main">
              <a:ext uri="{FF2B5EF4-FFF2-40B4-BE49-F238E27FC236}">
                <a16:creationId xmlns:a16="http://schemas.microsoft.com/office/drawing/2014/main" id="{4B739CF2-F075-4BAE-8535-CE68693FF5A0}"/>
              </a:ext>
            </a:extLst>
          </p:cNvPr>
          <p:cNvSpPr>
            <a:spLocks xmlns:a="http://schemas.openxmlformats.org/drawingml/2006/main" noGrp="1"/>
          </p:cNvSpPr>
          <p:nvPr/>
        </p:nvSpPr>
        <p:spPr>
          <a:xfrm xmlns:a="http://schemas.openxmlformats.org/drawingml/2006/main">
            <a:off x="495300" y="914400"/>
            <a:ext cx="1120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475569"/>
                </a:solidFill>
              </a:defRPr>
            </a:pPr>
            <a:r>
              <a:rPr sz="1500" b="0">
                <a:solidFill>
                  <a:srgbClr val="475569"/>
                </a:solidFill>
              </a:rPr>
              <a:t>Les résolutions de 15 minutes et de vache-jour-scan sont conservées sans créer de fausses observations.</a:t>
            </a:r>
          </a:p>
        </p:txBody>
      </p:sp>
      <p:sp>
        <p:nvSpPr>
          <p:cNvPr id="3" name="">
            <a:extLst xmlns:a="http://schemas.openxmlformats.org/drawingml/2006/main">
              <a:ext uri="{FF2B5EF4-FFF2-40B4-BE49-F238E27FC236}">
                <a16:creationId xmlns:a16="http://schemas.microsoft.com/office/drawing/2014/main" id="{42821656-24DF-4A5B-A609-675EB9F1D3B1}"/>
              </a:ext>
            </a:extLst>
          </p:cNvPr>
          <p:cNvSpPr>
            <a:spLocks xmlns:a="http://schemas.openxmlformats.org/drawingml/2006/main" noGrp="1"/>
          </p:cNvSpPr>
          <p:nvPr/>
        </p:nvSpPr>
        <p:spPr>
          <a:xfrm xmlns:a="http://schemas.openxmlformats.org/drawingml/2006/main">
            <a:off x="495300" y="1257300"/>
            <a:ext cx="112014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8CE72341-4619-43FF-B644-D2105F8C3796}"/>
              </a:ext>
            </a:extLst>
          </p:cNvPr>
          <p:cNvSpPr>
            <a:spLocks xmlns:a="http://schemas.openxmlformats.org/drawingml/2006/main" noGrp="1"/>
          </p:cNvSpPr>
          <p:nvPr/>
        </p:nvSpPr>
        <p:spPr>
          <a:xfrm xmlns:a="http://schemas.openxmlformats.org/drawingml/2006/main">
            <a:off x="495300" y="64198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475569"/>
                </a:solidFill>
              </a:defRPr>
            </a:pPr>
            <a:r>
              <a:rPr sz="1050" b="0">
                <a:solidFill>
                  <a:srgbClr val="475569"/>
                </a:solidFill>
              </a:rPr>
              <a:t>Projet McGill / WELL-E - Objectif 2</a:t>
            </a:r>
          </a:p>
        </p:txBody>
      </p:sp>
      <p:sp>
        <p:nvSpPr>
          <p:cNvPr id="5" name="">
            <a:extLst xmlns:a="http://schemas.openxmlformats.org/drawingml/2006/main">
              <a:ext uri="{FF2B5EF4-FFF2-40B4-BE49-F238E27FC236}">
                <a16:creationId xmlns:a16="http://schemas.microsoft.com/office/drawing/2014/main" id="{F3413A88-BDE9-4328-BE24-C1DF15A68285}"/>
              </a:ext>
            </a:extLst>
          </p:cNvPr>
          <p:cNvSpPr>
            <a:spLocks xmlns:a="http://schemas.openxmlformats.org/drawingml/2006/main" noGrp="1"/>
          </p:cNvSpPr>
          <p:nvPr/>
        </p:nvSpPr>
        <p:spPr>
          <a:xfrm xmlns:a="http://schemas.openxmlformats.org/drawingml/2006/main">
            <a:off x="11334750" y="6419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a:solidFill>
                  <a:srgbClr val="475569"/>
                </a:solidFill>
              </a:defRPr>
            </a:pPr>
            <a:r>
              <a:rPr sz="1050" b="0">
                <a:solidFill>
                  <a:srgbClr val="475569"/>
                </a:solidFill>
              </a:rPr>
              <a:t>4</a:t>
            </a:r>
          </a:p>
        </p:txBody>
      </p:sp>
      <p:graphicFrame>
        <p:nvGraphicFramePr>
          <p:cNvPr id="17" name=""/>
          <p:cNvGraphicFramePr/>
          <p:nvPr/>
        </p:nvGraphicFramePr>
        <p:xfrm>
          <a:off xmlns:a="http://schemas.openxmlformats.org/drawingml/2006/main" x="495300" y="1524000"/>
          <a:ext xmlns:a="http://schemas.openxmlformats.org/drawingml/2006/main" cx="11201400" cy="2724150"/>
        </p:xfrm>
        <a:graphic xmlns:a="http://schemas.openxmlformats.org/drawingml/2006/main">
          <a:graphicData uri="http://schemas.openxmlformats.org/drawingml/2006/table">
            <a:tbl>
              <a:tblPr firstRow="1" bandRow="1"/>
              <a:tblGrid>
                <a:gridCol w="2713383"/>
                <a:gridCol w="1047750"/>
                <a:gridCol w="3101009"/>
                <a:gridCol w="3101009"/>
                <a:gridCol w="1238250"/>
              </a:tblGrid>
              <a:tr h="544830">
                <a:tc>
                  <a:txBody>
                    <a:bodyPr/>
                    <a:lstStyle/>
                    <a:p>
                      <a:r>
                        <a:rPr sz="1050" b="1">
                          <a:solidFill>
                            <a:srgbClr val="FFFFFF"/>
                          </a:solidFill>
                        </a:rPr>
                        <a:t>Table</a:t>
                      </a:r>
                    </a:p>
                  </a:txBody>
                  <a:tcPr marL="91440" marR="91440" marT="45720" marB="45720">
                    <a:solidFill>
                      <a:srgbClr val="0B4F7A"/>
                    </a:solidFill>
                  </a:tcPr>
                </a:tc>
                <a:tc>
                  <a:txBody>
                    <a:bodyPr/>
                    <a:lstStyle/>
                    <a:p>
                      <a:r>
                        <a:rPr sz="1050" b="1">
                          <a:solidFill>
                            <a:srgbClr val="FFFFFF"/>
                          </a:solidFill>
                        </a:rPr>
                        <a:t>Niveau</a:t>
                      </a:r>
                    </a:p>
                  </a:txBody>
                  <a:tcPr marL="91440" marR="91440" marT="45720" marB="45720">
                    <a:solidFill>
                      <a:srgbClr val="0B4F7A"/>
                    </a:solidFill>
                  </a:tcPr>
                </a:tc>
                <a:tc>
                  <a:txBody>
                    <a:bodyPr/>
                    <a:lstStyle/>
                    <a:p>
                      <a:r>
                        <a:rPr sz="1050" b="1">
                          <a:solidFill>
                            <a:srgbClr val="FFFFFF"/>
                          </a:solidFill>
                        </a:rPr>
                        <a:t>Volume</a:t>
                      </a:r>
                    </a:p>
                  </a:txBody>
                  <a:tcPr marL="91440" marR="91440" marT="45720" marB="45720">
                    <a:solidFill>
                      <a:srgbClr val="0B4F7A"/>
                    </a:solidFill>
                  </a:tcPr>
                </a:tc>
                <a:tc>
                  <a:txBody>
                    <a:bodyPr/>
                    <a:lstStyle/>
                    <a:p>
                      <a:r>
                        <a:rPr sz="1050" b="1">
                          <a:solidFill>
                            <a:srgbClr val="FFFFFF"/>
                          </a:solidFill>
                        </a:rPr>
                        <a:t>Contenu</a:t>
                      </a:r>
                    </a:p>
                  </a:txBody>
                  <a:tcPr marL="91440" marR="91440" marT="45720" marB="45720">
                    <a:solidFill>
                      <a:srgbClr val="0B4F7A"/>
                    </a:solidFill>
                  </a:tcPr>
                </a:tc>
                <a:tc>
                  <a:txBody>
                    <a:bodyPr/>
                    <a:lstStyle/>
                    <a:p>
                      <a:r>
                        <a:rPr sz="1050" b="1">
                          <a:solidFill>
                            <a:srgbClr val="FFFFFF"/>
                          </a:solidFill>
                        </a:rPr>
                        <a:t>Statut</a:t>
                      </a:r>
                    </a:p>
                  </a:txBody>
                  <a:tcPr marL="91440" marR="91440" marT="45720" marB="45720">
                    <a:solidFill>
                      <a:srgbClr val="0B4F7A"/>
                    </a:solidFill>
                  </a:tcPr>
                </a:tc>
              </a:tr>
              <a:tr h="544830">
                <a:tc>
                  <a:txBody>
                    <a:bodyPr/>
                    <a:lstStyle/>
                    <a:p>
                      <a:r>
                        <a:rPr sz="975">
                          <a:solidFill>
                            <a:srgbClr val="0F172A"/>
                          </a:solidFill>
                        </a:rPr>
                        <a:t>IceTag + environnement</a:t>
                      </a:r>
                    </a:p>
                  </a:txBody>
                  <a:tcPr marL="91440" marR="91440" marT="45720" marB="45720"/>
                </a:tc>
                <a:tc>
                  <a:txBody>
                    <a:bodyPr/>
                    <a:lstStyle/>
                    <a:p>
                      <a:r>
                        <a:rPr sz="975">
                          <a:solidFill>
                            <a:srgbClr val="0F172A"/>
                          </a:solidFill>
                        </a:rPr>
                        <a:t>vache-15 min</a:t>
                      </a:r>
                    </a:p>
                  </a:txBody>
                  <a:tcPr marL="91440" marR="91440" marT="45720" marB="45720"/>
                </a:tc>
                <a:tc>
                  <a:txBody>
                    <a:bodyPr/>
                    <a:lstStyle/>
                    <a:p>
                      <a:r>
                        <a:rPr sz="975">
                          <a:solidFill>
                            <a:srgbClr val="0F172A"/>
                          </a:solidFill>
                        </a:rPr>
                        <a:t>87 501</a:t>
                      </a:r>
                    </a:p>
                  </a:txBody>
                  <a:tcPr marL="91440" marR="91440" marT="45720" marB="45720"/>
                </a:tc>
                <a:tc>
                  <a:txBody>
                    <a:bodyPr/>
                    <a:lstStyle/>
                    <a:p>
                      <a:r>
                        <a:rPr sz="975">
                          <a:solidFill>
                            <a:srgbClr val="0F172A"/>
                          </a:solidFill>
                        </a:rPr>
                        <a:t>activité + HOBO extérieur</a:t>
                      </a:r>
                    </a:p>
                  </a:txBody>
                  <a:tcPr marL="91440" marR="91440" marT="45720" marB="45720"/>
                </a:tc>
                <a:tc>
                  <a:txBody>
                    <a:bodyPr/>
                    <a:lstStyle/>
                    <a:p>
                      <a:r>
                        <a:rPr sz="975">
                          <a:solidFill>
                            <a:srgbClr val="0F172A"/>
                          </a:solidFill>
                        </a:rPr>
                        <a:t>Complet</a:t>
                      </a:r>
                    </a:p>
                  </a:txBody>
                  <a:tcPr marL="91440" marR="91440" marT="45720" marB="45720"/>
                </a:tc>
              </a:tr>
              <a:tr h="544830">
                <a:tc>
                  <a:txBody>
                    <a:bodyPr/>
                    <a:lstStyle/>
                    <a:p>
                      <a:r>
                        <a:rPr sz="975">
                          <a:solidFill>
                            <a:srgbClr val="0F172A"/>
                          </a:solidFill>
                        </a:rPr>
                        <a:t>Comportement + environnement</a:t>
                      </a:r>
                    </a:p>
                  </a:txBody>
                  <a:tcPr marL="91440" marR="91440" marT="45720" marB="45720"/>
                </a:tc>
                <a:tc>
                  <a:txBody>
                    <a:bodyPr/>
                    <a:lstStyle/>
                    <a:p>
                      <a:r>
                        <a:rPr sz="975">
                          <a:solidFill>
                            <a:srgbClr val="0F172A"/>
                          </a:solidFill>
                        </a:rPr>
                        <a:t>vache-jour</a:t>
                      </a:r>
                    </a:p>
                  </a:txBody>
                  <a:tcPr marL="91440" marR="91440" marT="45720" marB="45720"/>
                </a:tc>
                <a:tc>
                  <a:txBody>
                    <a:bodyPr/>
                    <a:lstStyle/>
                    <a:p>
                      <a:r>
                        <a:rPr sz="975">
                          <a:solidFill>
                            <a:srgbClr val="0F172A"/>
                          </a:solidFill>
                        </a:rPr>
                        <a:t>51</a:t>
                      </a:r>
                    </a:p>
                  </a:txBody>
                  <a:tcPr marL="91440" marR="91440" marT="45720" marB="45720"/>
                </a:tc>
                <a:tc>
                  <a:txBody>
                    <a:bodyPr/>
                    <a:lstStyle/>
                    <a:p>
                      <a:r>
                        <a:rPr sz="975">
                          <a:solidFill>
                            <a:srgbClr val="0F172A"/>
                          </a:solidFill>
                        </a:rPr>
                        <a:t>comportement + THI quotidien</a:t>
                      </a:r>
                    </a:p>
                  </a:txBody>
                  <a:tcPr marL="91440" marR="91440" marT="45720" marB="45720"/>
                </a:tc>
                <a:tc>
                  <a:txBody>
                    <a:bodyPr/>
                    <a:lstStyle/>
                    <a:p>
                      <a:r>
                        <a:rPr sz="975">
                          <a:solidFill>
                            <a:srgbClr val="0F172A"/>
                          </a:solidFill>
                        </a:rPr>
                        <a:t>Complet</a:t>
                      </a:r>
                    </a:p>
                  </a:txBody>
                  <a:tcPr marL="91440" marR="91440" marT="45720" marB="45720"/>
                </a:tc>
              </a:tr>
              <a:tr h="544830">
                <a:tc>
                  <a:txBody>
                    <a:bodyPr/>
                    <a:lstStyle/>
                    <a:p>
                      <a:r>
                        <a:rPr sz="975">
                          <a:solidFill>
                            <a:srgbClr val="0F172A"/>
                          </a:solidFill>
                        </a:rPr>
                        <a:t>Trimodale</a:t>
                      </a:r>
                    </a:p>
                  </a:txBody>
                  <a:tcPr marL="91440" marR="91440" marT="45720" marB="45720"/>
                </a:tc>
                <a:tc>
                  <a:txBody>
                    <a:bodyPr/>
                    <a:lstStyle/>
                    <a:p>
                      <a:r>
                        <a:rPr sz="975">
                          <a:solidFill>
                            <a:srgbClr val="0F172A"/>
                          </a:solidFill>
                        </a:rPr>
                        <a:t>vache-jour</a:t>
                      </a:r>
                    </a:p>
                  </a:txBody>
                  <a:tcPr marL="91440" marR="91440" marT="45720" marB="45720"/>
                </a:tc>
                <a:tc>
                  <a:txBody>
                    <a:bodyPr/>
                    <a:lstStyle/>
                    <a:p>
                      <a:r>
                        <a:rPr sz="975">
                          <a:solidFill>
                            <a:srgbClr val="0F172A"/>
                          </a:solidFill>
                        </a:rPr>
                        <a:t>49/51</a:t>
                      </a:r>
                    </a:p>
                  </a:txBody>
                  <a:tcPr marL="91440" marR="91440" marT="45720" marB="45720"/>
                </a:tc>
                <a:tc>
                  <a:txBody>
                    <a:bodyPr/>
                    <a:lstStyle/>
                    <a:p>
                      <a:r>
                        <a:rPr sz="975">
                          <a:solidFill>
                            <a:srgbClr val="0F172A"/>
                          </a:solidFill>
                        </a:rPr>
                        <a:t>trois modalités</a:t>
                      </a:r>
                    </a:p>
                  </a:txBody>
                  <a:tcPr marL="91440" marR="91440" marT="45720" marB="45720"/>
                </a:tc>
                <a:tc>
                  <a:txBody>
                    <a:bodyPr/>
                    <a:lstStyle/>
                    <a:p>
                      <a:r>
                        <a:rPr sz="975">
                          <a:solidFill>
                            <a:srgbClr val="0F172A"/>
                          </a:solidFill>
                        </a:rPr>
                        <a:t>2 sans activité</a:t>
                      </a:r>
                    </a:p>
                  </a:txBody>
                  <a:tcPr marL="91440" marR="91440" marT="45720" marB="45720"/>
                </a:tc>
              </a:tr>
              <a:tr h="544830">
                <a:tc>
                  <a:txBody>
                    <a:bodyPr/>
                    <a:lstStyle/>
                    <a:p>
                      <a:r>
                        <a:rPr sz="975">
                          <a:solidFill>
                            <a:srgbClr val="0F172A"/>
                          </a:solidFill>
                        </a:rPr>
                        <a:t>Scans non appariés</a:t>
                      </a:r>
                    </a:p>
                  </a:txBody>
                  <a:tcPr marL="91440" marR="91440" marT="45720" marB="45720"/>
                </a:tc>
                <a:tc>
                  <a:txBody>
                    <a:bodyPr/>
                    <a:lstStyle/>
                    <a:p>
                      <a:r>
                        <a:rPr sz="975">
                          <a:solidFill>
                            <a:srgbClr val="0F172A"/>
                          </a:solidFill>
                        </a:rPr>
                        <a:t>vache-jour</a:t>
                      </a:r>
                    </a:p>
                  </a:txBody>
                  <a:tcPr marL="91440" marR="91440" marT="45720" marB="45720"/>
                </a:tc>
                <a:tc>
                  <a:txBody>
                    <a:bodyPr/>
                    <a:lstStyle/>
                    <a:p>
                      <a:r>
                        <a:rPr sz="975">
                          <a:solidFill>
                            <a:srgbClr val="0F172A"/>
                          </a:solidFill>
                        </a:rPr>
                        <a:t>2</a:t>
                      </a:r>
                    </a:p>
                  </a:txBody>
                  <a:tcPr marL="91440" marR="91440" marT="45720" marB="45720"/>
                </a:tc>
                <a:tc>
                  <a:txBody>
                    <a:bodyPr/>
                    <a:lstStyle/>
                    <a:p>
                      <a:r>
                        <a:rPr sz="975">
                          <a:solidFill>
                            <a:srgbClr val="0F172A"/>
                          </a:solidFill>
                        </a:rPr>
                        <a:t>vache 5169 : 16 et 23 août</a:t>
                      </a:r>
                    </a:p>
                  </a:txBody>
                  <a:tcPr marL="91440" marR="91440" marT="45720" marB="45720"/>
                </a:tc>
                <a:tc>
                  <a:txBody>
                    <a:bodyPr/>
                    <a:lstStyle/>
                    <a:p>
                      <a:r>
                        <a:rPr sz="975">
                          <a:solidFill>
                            <a:srgbClr val="0F172A"/>
                          </a:solidFill>
                        </a:rPr>
                        <a:t>Documenté</a:t>
                      </a:r>
                    </a:p>
                  </a:txBody>
                  <a:tcPr marL="91440" marR="91440" marT="45720" marB="45720"/>
                </a:tc>
              </a:tr>
            </a:tbl>
          </a:graphicData>
        </a:graphic>
      </p:graphicFrame>
      <p:sp>
        <p:nvSpPr>
          <p:cNvPr id="7" name="">
            <a:extLst xmlns:a="http://schemas.openxmlformats.org/drawingml/2006/main">
              <a:ext uri="{FF2B5EF4-FFF2-40B4-BE49-F238E27FC236}">
                <a16:creationId xmlns:a16="http://schemas.microsoft.com/office/drawing/2014/main" id="{B592FEF4-524B-4610-BFE3-9A34583E123F}"/>
              </a:ext>
            </a:extLst>
          </p:cNvPr>
          <p:cNvSpPr>
            <a:spLocks xmlns:a="http://schemas.openxmlformats.org/drawingml/2006/main" noGrp="1"/>
          </p:cNvSpPr>
          <p:nvPr/>
        </p:nvSpPr>
        <p:spPr>
          <a:xfrm xmlns:a="http://schemas.openxmlformats.org/drawingml/2006/main">
            <a:off x="495300" y="4705350"/>
            <a:ext cx="11201400" cy="742950"/>
          </a:xfrm>
          <a:prstGeom xmlns:a="http://schemas.openxmlformats.org/drawingml/2006/main" prst="rect">
            <a:avLst/>
          </a:prstGeom>
          <a:solidFill xmlns:a="http://schemas.openxmlformats.org/drawingml/2006/main">
            <a:srgbClr val="F8FAFC"/>
          </a:solidFill>
          <a:ln xmlns:a="http://schemas.openxmlformats.org/drawingml/2006/main" w="9525">
            <a:solidFill>
              <a:srgbClr val="D3D7DE"/>
            </a:solidFill>
            <a:prstDash val="solid"/>
          </a:ln>
        </p:spPr>
      </p:sp>
      <p:sp>
        <p:nvSpPr>
          <p:cNvPr id="8" name="">
            <a:extLst xmlns:a="http://schemas.openxmlformats.org/drawingml/2006/main">
              <a:ext uri="{FF2B5EF4-FFF2-40B4-BE49-F238E27FC236}">
                <a16:creationId xmlns:a16="http://schemas.microsoft.com/office/drawing/2014/main" id="{09694953-12A6-4E8C-86D3-6D9E642668EB}"/>
              </a:ext>
            </a:extLst>
          </p:cNvPr>
          <p:cNvSpPr>
            <a:spLocks xmlns:a="http://schemas.openxmlformats.org/drawingml/2006/main" noGrp="1"/>
          </p:cNvSpPr>
          <p:nvPr/>
        </p:nvSpPr>
        <p:spPr>
          <a:xfrm xmlns:a="http://schemas.openxmlformats.org/drawingml/2006/main">
            <a:off x="704850" y="4895850"/>
            <a:ext cx="10782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0F172A"/>
                </a:solidFill>
              </a:defRPr>
            </a:pPr>
            <a:r>
              <a:rPr sz="1650" b="0">
                <a:solidFill>
                  <a:srgbClr val="0F172A"/>
                </a:solidFill>
              </a:rPr>
              <a:t>Le comportement reste à la résolution du scan quotidien; aucune interpolation artificielle à 15 minutes n’est appliquée.</a:t>
            </a:r>
          </a:p>
        </p:txBody>
      </p:sp>
    </p:spTree>
    <p:extLst>
      <p:ext uri="{BB962C8B-B14F-4D97-AF65-F5344CB8AC3E}">
        <p14:creationId xmlns:p14="http://schemas.microsoft.com/office/powerpoint/2010/main" val="187998354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5BE4D1FC-63E8-4878-B816-95E91CF86B91}"/>
              </a:ext>
            </a:extLst>
          </p:cNvPr>
          <p:cNvSpPr>
            <a:spLocks xmlns:a="http://schemas.openxmlformats.org/drawingml/2006/main" noGrp="1"/>
          </p:cNvSpPr>
          <p:nvPr/>
        </p:nvSpPr>
        <p:spPr>
          <a:xfrm xmlns:a="http://schemas.openxmlformats.org/drawingml/2006/main">
            <a:off x="495300" y="323850"/>
            <a:ext cx="11201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a:solidFill>
                  <a:srgbClr val="0F172A"/>
                </a:solidFill>
              </a:defRPr>
            </a:pPr>
            <a:r>
              <a:rPr sz="2850" b="1">
                <a:solidFill>
                  <a:srgbClr val="0F172A"/>
                </a:solidFill>
              </a:rPr>
              <a:t>La chaîne de synchronisation reste simple et vérifiable</a:t>
            </a:r>
          </a:p>
        </p:txBody>
      </p:sp>
      <p:sp>
        <p:nvSpPr>
          <p:cNvPr id="2" name="">
            <a:extLst xmlns:a="http://schemas.openxmlformats.org/drawingml/2006/main">
              <a:ext uri="{FF2B5EF4-FFF2-40B4-BE49-F238E27FC236}">
                <a16:creationId xmlns:a16="http://schemas.microsoft.com/office/drawing/2014/main" id="{3675E34E-2BDB-4DC1-B0C2-0861350C3FC2}"/>
              </a:ext>
            </a:extLst>
          </p:cNvPr>
          <p:cNvSpPr>
            <a:spLocks xmlns:a="http://schemas.openxmlformats.org/drawingml/2006/main" noGrp="1"/>
          </p:cNvSpPr>
          <p:nvPr/>
        </p:nvSpPr>
        <p:spPr>
          <a:xfrm xmlns:a="http://schemas.openxmlformats.org/drawingml/2006/main">
            <a:off x="495300" y="914400"/>
            <a:ext cx="1120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475569"/>
                </a:solidFill>
              </a:defRPr>
            </a:pPr>
            <a:r>
              <a:rPr sz="1500" b="0">
                <a:solidFill>
                  <a:srgbClr val="475569"/>
                </a:solidFill>
              </a:rPr>
              <a:t>Harmonisation, agrégation, jointures explicites, puis modèles avec contrôles successifs.</a:t>
            </a:r>
          </a:p>
        </p:txBody>
      </p:sp>
      <p:sp>
        <p:nvSpPr>
          <p:cNvPr id="3" name="">
            <a:extLst xmlns:a="http://schemas.openxmlformats.org/drawingml/2006/main">
              <a:ext uri="{FF2B5EF4-FFF2-40B4-BE49-F238E27FC236}">
                <a16:creationId xmlns:a16="http://schemas.microsoft.com/office/drawing/2014/main" id="{9118DEE4-0FD9-49EE-89B7-EDAAB397306E}"/>
              </a:ext>
            </a:extLst>
          </p:cNvPr>
          <p:cNvSpPr>
            <a:spLocks xmlns:a="http://schemas.openxmlformats.org/drawingml/2006/main" noGrp="1"/>
          </p:cNvSpPr>
          <p:nvPr/>
        </p:nvSpPr>
        <p:spPr>
          <a:xfrm xmlns:a="http://schemas.openxmlformats.org/drawingml/2006/main">
            <a:off x="495300" y="1257300"/>
            <a:ext cx="112014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2D4AD1B6-21CB-43C1-A3D2-E05BE6A0A162}"/>
              </a:ext>
            </a:extLst>
          </p:cNvPr>
          <p:cNvSpPr>
            <a:spLocks xmlns:a="http://schemas.openxmlformats.org/drawingml/2006/main" noGrp="1"/>
          </p:cNvSpPr>
          <p:nvPr/>
        </p:nvSpPr>
        <p:spPr>
          <a:xfrm xmlns:a="http://schemas.openxmlformats.org/drawingml/2006/main">
            <a:off x="495300" y="64198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475569"/>
                </a:solidFill>
              </a:defRPr>
            </a:pPr>
            <a:r>
              <a:rPr sz="1050" b="0">
                <a:solidFill>
                  <a:srgbClr val="475569"/>
                </a:solidFill>
              </a:rPr>
              <a:t>Projet McGill / WELL-E - Objectif 2</a:t>
            </a:r>
          </a:p>
        </p:txBody>
      </p:sp>
      <p:sp>
        <p:nvSpPr>
          <p:cNvPr id="5" name="">
            <a:extLst xmlns:a="http://schemas.openxmlformats.org/drawingml/2006/main">
              <a:ext uri="{FF2B5EF4-FFF2-40B4-BE49-F238E27FC236}">
                <a16:creationId xmlns:a16="http://schemas.microsoft.com/office/drawing/2014/main" id="{7C2817B2-6EA0-426A-8F01-DF79A0F16665}"/>
              </a:ext>
            </a:extLst>
          </p:cNvPr>
          <p:cNvSpPr>
            <a:spLocks xmlns:a="http://schemas.openxmlformats.org/drawingml/2006/main" noGrp="1"/>
          </p:cNvSpPr>
          <p:nvPr/>
        </p:nvSpPr>
        <p:spPr>
          <a:xfrm xmlns:a="http://schemas.openxmlformats.org/drawingml/2006/main">
            <a:off x="11334750" y="6419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a:solidFill>
                  <a:srgbClr val="475569"/>
                </a:solidFill>
              </a:defRPr>
            </a:pPr>
            <a:r>
              <a:rPr sz="1050" b="0">
                <a:solidFill>
                  <a:srgbClr val="475569"/>
                </a:solidFill>
              </a:rPr>
              <a:t>5</a:t>
            </a:r>
          </a:p>
        </p:txBody>
      </p:sp>
      <p:sp>
        <p:nvSpPr>
          <p:cNvPr id="6" name="">
            <a:extLst xmlns:a="http://schemas.openxmlformats.org/drawingml/2006/main">
              <a:ext uri="{FF2B5EF4-FFF2-40B4-BE49-F238E27FC236}">
                <a16:creationId xmlns:a16="http://schemas.microsoft.com/office/drawing/2014/main" id="{6F0575FF-5EED-4961-976E-83B94E06DEE3}"/>
              </a:ext>
            </a:extLst>
          </p:cNvPr>
          <p:cNvSpPr>
            <a:spLocks xmlns:a="http://schemas.openxmlformats.org/drawingml/2006/main" noGrp="1"/>
          </p:cNvSpPr>
          <p:nvPr/>
        </p:nvSpPr>
        <p:spPr>
          <a:xfrm xmlns:a="http://schemas.openxmlformats.org/drawingml/2006/main">
            <a:off x="495300" y="1638300"/>
            <a:ext cx="3429000" cy="1219200"/>
          </a:xfrm>
          <a:prstGeom xmlns:a="http://schemas.openxmlformats.org/drawingml/2006/main" prst="rect">
            <a:avLst/>
          </a:prstGeom>
          <a:solidFill xmlns:a="http://schemas.openxmlformats.org/drawingml/2006/main">
            <a:srgbClr val="F3F6FA"/>
          </a:solidFill>
          <a:ln xmlns:a="http://schemas.openxmlformats.org/drawingml/2006/main" w="9525">
            <a:solidFill>
              <a:srgbClr val="D3D7DE"/>
            </a:solidFill>
            <a:prstDash val="solid"/>
          </a:ln>
        </p:spPr>
      </p:sp>
      <p:sp>
        <p:nvSpPr>
          <p:cNvPr id="7" name="">
            <a:extLst xmlns:a="http://schemas.openxmlformats.org/drawingml/2006/main">
              <a:ext uri="{FF2B5EF4-FFF2-40B4-BE49-F238E27FC236}">
                <a16:creationId xmlns:a16="http://schemas.microsoft.com/office/drawing/2014/main" id="{51ADD9B6-5E32-4FB7-8A42-04D0513958ED}"/>
              </a:ext>
            </a:extLst>
          </p:cNvPr>
          <p:cNvSpPr>
            <a:spLocks xmlns:a="http://schemas.openxmlformats.org/drawingml/2006/main" noGrp="1"/>
          </p:cNvSpPr>
          <p:nvPr/>
        </p:nvSpPr>
        <p:spPr>
          <a:xfrm xmlns:a="http://schemas.openxmlformats.org/drawingml/2006/main">
            <a:off x="666750" y="1809750"/>
            <a:ext cx="47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550" b="1">
                <a:solidFill>
                  <a:srgbClr val="0B4F7A"/>
                </a:solidFill>
              </a:defRPr>
            </a:pPr>
            <a:r>
              <a:rPr sz="2550" b="1">
                <a:solidFill>
                  <a:srgbClr val="0B4F7A"/>
                </a:solidFill>
              </a:rPr>
              <a:t>1</a:t>
            </a:r>
          </a:p>
        </p:txBody>
      </p:sp>
      <p:sp>
        <p:nvSpPr>
          <p:cNvPr id="8" name="">
            <a:extLst xmlns:a="http://schemas.openxmlformats.org/drawingml/2006/main">
              <a:ext uri="{FF2B5EF4-FFF2-40B4-BE49-F238E27FC236}">
                <a16:creationId xmlns:a16="http://schemas.microsoft.com/office/drawing/2014/main" id="{133181B2-4CF2-47E3-8510-DAE3F0742129}"/>
              </a:ext>
            </a:extLst>
          </p:cNvPr>
          <p:cNvSpPr>
            <a:spLocks xmlns:a="http://schemas.openxmlformats.org/drawingml/2006/main" noGrp="1"/>
          </p:cNvSpPr>
          <p:nvPr/>
        </p:nvSpPr>
        <p:spPr>
          <a:xfrm xmlns:a="http://schemas.openxmlformats.org/drawingml/2006/main">
            <a:off x="1238250" y="1847850"/>
            <a:ext cx="2514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0F172A"/>
                </a:solidFill>
              </a:defRPr>
            </a:pPr>
            <a:r>
              <a:rPr sz="1800" b="1">
                <a:solidFill>
                  <a:srgbClr val="0F172A"/>
                </a:solidFill>
              </a:rPr>
              <a:t>Harmoniser</a:t>
            </a:r>
          </a:p>
        </p:txBody>
      </p:sp>
      <p:sp>
        <p:nvSpPr>
          <p:cNvPr id="9" name="">
            <a:extLst xmlns:a="http://schemas.openxmlformats.org/drawingml/2006/main">
              <a:ext uri="{FF2B5EF4-FFF2-40B4-BE49-F238E27FC236}">
                <a16:creationId xmlns:a16="http://schemas.microsoft.com/office/drawing/2014/main" id="{1E1D2D3F-8BED-4866-96A2-D9FBAF7448EE}"/>
              </a:ext>
            </a:extLst>
          </p:cNvPr>
          <p:cNvSpPr>
            <a:spLocks xmlns:a="http://schemas.openxmlformats.org/drawingml/2006/main" noGrp="1"/>
          </p:cNvSpPr>
          <p:nvPr/>
        </p:nvSpPr>
        <p:spPr>
          <a:xfrm xmlns:a="http://schemas.openxmlformats.org/drawingml/2006/main">
            <a:off x="1238250" y="2228850"/>
            <a:ext cx="2514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475569"/>
                </a:solidFill>
              </a:defRPr>
            </a:pPr>
            <a:r>
              <a:rPr sz="1275" b="0">
                <a:solidFill>
                  <a:srgbClr val="475569"/>
                </a:solidFill>
              </a:rPr>
              <a:t>timestamps et identifiants de vaches</a:t>
            </a:r>
          </a:p>
        </p:txBody>
      </p:sp>
      <p:sp>
        <p:nvSpPr>
          <p:cNvPr id="10" name="">
            <a:extLst xmlns:a="http://schemas.openxmlformats.org/drawingml/2006/main">
              <a:ext uri="{FF2B5EF4-FFF2-40B4-BE49-F238E27FC236}">
                <a16:creationId xmlns:a16="http://schemas.microsoft.com/office/drawing/2014/main" id="{601334C1-8536-4A01-B5AE-88B383A62B67}"/>
              </a:ext>
            </a:extLst>
          </p:cNvPr>
          <p:cNvSpPr>
            <a:spLocks xmlns:a="http://schemas.openxmlformats.org/drawingml/2006/main" noGrp="1"/>
          </p:cNvSpPr>
          <p:nvPr/>
        </p:nvSpPr>
        <p:spPr>
          <a:xfrm xmlns:a="http://schemas.openxmlformats.org/drawingml/2006/main">
            <a:off x="4381500" y="1638300"/>
            <a:ext cx="3429000" cy="1219200"/>
          </a:xfrm>
          <a:prstGeom xmlns:a="http://schemas.openxmlformats.org/drawingml/2006/main" prst="rect">
            <a:avLst/>
          </a:prstGeom>
          <a:solidFill xmlns:a="http://schemas.openxmlformats.org/drawingml/2006/main">
            <a:srgbClr val="F3F6FA"/>
          </a:solidFill>
          <a:ln xmlns:a="http://schemas.openxmlformats.org/drawingml/2006/main" w="9525">
            <a:solidFill>
              <a:srgbClr val="D3D7DE"/>
            </a:solidFill>
            <a:prstDash val="solid"/>
          </a:ln>
        </p:spPr>
      </p:sp>
      <p:sp>
        <p:nvSpPr>
          <p:cNvPr id="11" name="">
            <a:extLst xmlns:a="http://schemas.openxmlformats.org/drawingml/2006/main">
              <a:ext uri="{FF2B5EF4-FFF2-40B4-BE49-F238E27FC236}">
                <a16:creationId xmlns:a16="http://schemas.microsoft.com/office/drawing/2014/main" id="{9DEAB846-5E0C-4643-8A53-248A5BC489FD}"/>
              </a:ext>
            </a:extLst>
          </p:cNvPr>
          <p:cNvSpPr>
            <a:spLocks xmlns:a="http://schemas.openxmlformats.org/drawingml/2006/main" noGrp="1"/>
          </p:cNvSpPr>
          <p:nvPr/>
        </p:nvSpPr>
        <p:spPr>
          <a:xfrm xmlns:a="http://schemas.openxmlformats.org/drawingml/2006/main">
            <a:off x="4552950" y="1809750"/>
            <a:ext cx="47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550" b="1">
                <a:solidFill>
                  <a:srgbClr val="0B4F7A"/>
                </a:solidFill>
              </a:defRPr>
            </a:pPr>
            <a:r>
              <a:rPr sz="2550" b="1">
                <a:solidFill>
                  <a:srgbClr val="0B4F7A"/>
                </a:solidFill>
              </a:rPr>
              <a:t>2</a:t>
            </a:r>
          </a:p>
        </p:txBody>
      </p:sp>
      <p:sp>
        <p:nvSpPr>
          <p:cNvPr id="12" name="">
            <a:extLst xmlns:a="http://schemas.openxmlformats.org/drawingml/2006/main">
              <a:ext uri="{FF2B5EF4-FFF2-40B4-BE49-F238E27FC236}">
                <a16:creationId xmlns:a16="http://schemas.microsoft.com/office/drawing/2014/main" id="{71650FD4-CA4E-42C5-9871-CDE38050BF8A}"/>
              </a:ext>
            </a:extLst>
          </p:cNvPr>
          <p:cNvSpPr>
            <a:spLocks xmlns:a="http://schemas.openxmlformats.org/drawingml/2006/main" noGrp="1"/>
          </p:cNvSpPr>
          <p:nvPr/>
        </p:nvSpPr>
        <p:spPr>
          <a:xfrm xmlns:a="http://schemas.openxmlformats.org/drawingml/2006/main">
            <a:off x="5124450" y="1847850"/>
            <a:ext cx="2514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0F172A"/>
                </a:solidFill>
              </a:defRPr>
            </a:pPr>
            <a:r>
              <a:rPr sz="1800" b="1">
                <a:solidFill>
                  <a:srgbClr val="0F172A"/>
                </a:solidFill>
              </a:rPr>
              <a:t>Agréger</a:t>
            </a:r>
          </a:p>
        </p:txBody>
      </p:sp>
      <p:sp>
        <p:nvSpPr>
          <p:cNvPr id="13" name="">
            <a:extLst xmlns:a="http://schemas.openxmlformats.org/drawingml/2006/main">
              <a:ext uri="{FF2B5EF4-FFF2-40B4-BE49-F238E27FC236}">
                <a16:creationId xmlns:a16="http://schemas.microsoft.com/office/drawing/2014/main" id="{CB4108D4-0E5A-4334-BAD9-C35D388C3FAD}"/>
              </a:ext>
            </a:extLst>
          </p:cNvPr>
          <p:cNvSpPr>
            <a:spLocks xmlns:a="http://schemas.openxmlformats.org/drawingml/2006/main" noGrp="1"/>
          </p:cNvSpPr>
          <p:nvPr/>
        </p:nvSpPr>
        <p:spPr>
          <a:xfrm xmlns:a="http://schemas.openxmlformats.org/drawingml/2006/main">
            <a:off x="5124450" y="2228850"/>
            <a:ext cx="2514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475569"/>
                </a:solidFill>
              </a:defRPr>
            </a:pPr>
            <a:r>
              <a:rPr sz="1275" b="0">
                <a:solidFill>
                  <a:srgbClr val="475569"/>
                </a:solidFill>
              </a:rPr>
              <a:t>activité IceTag en fenêtres de 15 minutes</a:t>
            </a:r>
          </a:p>
        </p:txBody>
      </p:sp>
      <p:sp>
        <p:nvSpPr>
          <p:cNvPr id="14" name="">
            <a:extLst xmlns:a="http://schemas.openxmlformats.org/drawingml/2006/main">
              <a:ext uri="{FF2B5EF4-FFF2-40B4-BE49-F238E27FC236}">
                <a16:creationId xmlns:a16="http://schemas.microsoft.com/office/drawing/2014/main" id="{16273C74-8C61-48F0-AAA7-A38603D46D54}"/>
              </a:ext>
            </a:extLst>
          </p:cNvPr>
          <p:cNvSpPr>
            <a:spLocks xmlns:a="http://schemas.openxmlformats.org/drawingml/2006/main" noGrp="1"/>
          </p:cNvSpPr>
          <p:nvPr/>
        </p:nvSpPr>
        <p:spPr>
          <a:xfrm xmlns:a="http://schemas.openxmlformats.org/drawingml/2006/main">
            <a:off x="8267700" y="1638300"/>
            <a:ext cx="3429000" cy="1219200"/>
          </a:xfrm>
          <a:prstGeom xmlns:a="http://schemas.openxmlformats.org/drawingml/2006/main" prst="rect">
            <a:avLst/>
          </a:prstGeom>
          <a:solidFill xmlns:a="http://schemas.openxmlformats.org/drawingml/2006/main">
            <a:srgbClr val="F3F6FA"/>
          </a:solidFill>
          <a:ln xmlns:a="http://schemas.openxmlformats.org/drawingml/2006/main" w="9525">
            <a:solidFill>
              <a:srgbClr val="D3D7DE"/>
            </a:solidFill>
            <a:prstDash val="solid"/>
          </a:ln>
        </p:spPr>
      </p:sp>
      <p:sp>
        <p:nvSpPr>
          <p:cNvPr id="15" name="">
            <a:extLst xmlns:a="http://schemas.openxmlformats.org/drawingml/2006/main">
              <a:ext uri="{FF2B5EF4-FFF2-40B4-BE49-F238E27FC236}">
                <a16:creationId xmlns:a16="http://schemas.microsoft.com/office/drawing/2014/main" id="{4CB57B42-D096-41AE-8511-BC3D172B6588}"/>
              </a:ext>
            </a:extLst>
          </p:cNvPr>
          <p:cNvSpPr>
            <a:spLocks xmlns:a="http://schemas.openxmlformats.org/drawingml/2006/main" noGrp="1"/>
          </p:cNvSpPr>
          <p:nvPr/>
        </p:nvSpPr>
        <p:spPr>
          <a:xfrm xmlns:a="http://schemas.openxmlformats.org/drawingml/2006/main">
            <a:off x="8439150" y="1809750"/>
            <a:ext cx="47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550" b="1">
                <a:solidFill>
                  <a:srgbClr val="0B4F7A"/>
                </a:solidFill>
              </a:defRPr>
            </a:pPr>
            <a:r>
              <a:rPr sz="2550" b="1">
                <a:solidFill>
                  <a:srgbClr val="0B4F7A"/>
                </a:solidFill>
              </a:rPr>
              <a:t>3</a:t>
            </a:r>
          </a:p>
        </p:txBody>
      </p:sp>
      <p:sp>
        <p:nvSpPr>
          <p:cNvPr id="16" name="">
            <a:extLst xmlns:a="http://schemas.openxmlformats.org/drawingml/2006/main">
              <a:ext uri="{FF2B5EF4-FFF2-40B4-BE49-F238E27FC236}">
                <a16:creationId xmlns:a16="http://schemas.microsoft.com/office/drawing/2014/main" id="{67CD56B3-7561-4B82-AA2C-49CD283C75A4}"/>
              </a:ext>
            </a:extLst>
          </p:cNvPr>
          <p:cNvSpPr>
            <a:spLocks xmlns:a="http://schemas.openxmlformats.org/drawingml/2006/main" noGrp="1"/>
          </p:cNvSpPr>
          <p:nvPr/>
        </p:nvSpPr>
        <p:spPr>
          <a:xfrm xmlns:a="http://schemas.openxmlformats.org/drawingml/2006/main">
            <a:off x="9010650" y="1847850"/>
            <a:ext cx="2514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0F172A"/>
                </a:solidFill>
              </a:defRPr>
            </a:pPr>
            <a:r>
              <a:rPr sz="1800" b="1">
                <a:solidFill>
                  <a:srgbClr val="0F172A"/>
                </a:solidFill>
              </a:rPr>
              <a:t>Calculer</a:t>
            </a:r>
          </a:p>
        </p:txBody>
      </p:sp>
      <p:sp>
        <p:nvSpPr>
          <p:cNvPr id="17" name="">
            <a:extLst xmlns:a="http://schemas.openxmlformats.org/drawingml/2006/main">
              <a:ext uri="{FF2B5EF4-FFF2-40B4-BE49-F238E27FC236}">
                <a16:creationId xmlns:a16="http://schemas.microsoft.com/office/drawing/2014/main" id="{8FE1D0CD-BD63-4512-A258-29E47A5BC229}"/>
              </a:ext>
            </a:extLst>
          </p:cNvPr>
          <p:cNvSpPr>
            <a:spLocks xmlns:a="http://schemas.openxmlformats.org/drawingml/2006/main" noGrp="1"/>
          </p:cNvSpPr>
          <p:nvPr/>
        </p:nvSpPr>
        <p:spPr>
          <a:xfrm xmlns:a="http://schemas.openxmlformats.org/drawingml/2006/main">
            <a:off x="9010650" y="2228850"/>
            <a:ext cx="2514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475569"/>
                </a:solidFill>
              </a:defRPr>
            </a:pPr>
            <a:r>
              <a:rPr sz="1275" b="0">
                <a:solidFill>
                  <a:srgbClr val="475569"/>
                </a:solidFill>
              </a:rPr>
              <a:t>THI à partir des sondes HOBO extérieures</a:t>
            </a:r>
          </a:p>
        </p:txBody>
      </p:sp>
      <p:sp>
        <p:nvSpPr>
          <p:cNvPr id="18" name="">
            <a:extLst xmlns:a="http://schemas.openxmlformats.org/drawingml/2006/main">
              <a:ext uri="{FF2B5EF4-FFF2-40B4-BE49-F238E27FC236}">
                <a16:creationId xmlns:a16="http://schemas.microsoft.com/office/drawing/2014/main" id="{E338F2CA-8B7F-4DB3-9D53-F6EA9FE2349E}"/>
              </a:ext>
            </a:extLst>
          </p:cNvPr>
          <p:cNvSpPr>
            <a:spLocks xmlns:a="http://schemas.openxmlformats.org/drawingml/2006/main" noGrp="1"/>
          </p:cNvSpPr>
          <p:nvPr/>
        </p:nvSpPr>
        <p:spPr>
          <a:xfrm xmlns:a="http://schemas.openxmlformats.org/drawingml/2006/main">
            <a:off x="495300" y="3124200"/>
            <a:ext cx="3429000" cy="1219200"/>
          </a:xfrm>
          <a:prstGeom xmlns:a="http://schemas.openxmlformats.org/drawingml/2006/main" prst="rect">
            <a:avLst/>
          </a:prstGeom>
          <a:solidFill xmlns:a="http://schemas.openxmlformats.org/drawingml/2006/main">
            <a:srgbClr val="F3F6FA"/>
          </a:solidFill>
          <a:ln xmlns:a="http://schemas.openxmlformats.org/drawingml/2006/main" w="9525">
            <a:solidFill>
              <a:srgbClr val="D3D7DE"/>
            </a:solidFill>
            <a:prstDash val="solid"/>
          </a:ln>
        </p:spPr>
      </p:sp>
      <p:sp>
        <p:nvSpPr>
          <p:cNvPr id="19" name="">
            <a:extLst xmlns:a="http://schemas.openxmlformats.org/drawingml/2006/main">
              <a:ext uri="{FF2B5EF4-FFF2-40B4-BE49-F238E27FC236}">
                <a16:creationId xmlns:a16="http://schemas.microsoft.com/office/drawing/2014/main" id="{4449946C-4815-4D49-A549-60149AC12311}"/>
              </a:ext>
            </a:extLst>
          </p:cNvPr>
          <p:cNvSpPr>
            <a:spLocks xmlns:a="http://schemas.openxmlformats.org/drawingml/2006/main" noGrp="1"/>
          </p:cNvSpPr>
          <p:nvPr/>
        </p:nvSpPr>
        <p:spPr>
          <a:xfrm xmlns:a="http://schemas.openxmlformats.org/drawingml/2006/main">
            <a:off x="666750" y="3295650"/>
            <a:ext cx="47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550" b="1">
                <a:solidFill>
                  <a:srgbClr val="0B4F7A"/>
                </a:solidFill>
              </a:defRPr>
            </a:pPr>
            <a:r>
              <a:rPr sz="2550" b="1">
                <a:solidFill>
                  <a:srgbClr val="0B4F7A"/>
                </a:solidFill>
              </a:rPr>
              <a:t>4</a:t>
            </a:r>
          </a:p>
        </p:txBody>
      </p:sp>
      <p:sp>
        <p:nvSpPr>
          <p:cNvPr id="20" name="">
            <a:extLst xmlns:a="http://schemas.openxmlformats.org/drawingml/2006/main">
              <a:ext uri="{FF2B5EF4-FFF2-40B4-BE49-F238E27FC236}">
                <a16:creationId xmlns:a16="http://schemas.microsoft.com/office/drawing/2014/main" id="{EAE9B3B3-2E54-4D76-B5F3-E096AB9C2C64}"/>
              </a:ext>
            </a:extLst>
          </p:cNvPr>
          <p:cNvSpPr>
            <a:spLocks xmlns:a="http://schemas.openxmlformats.org/drawingml/2006/main" noGrp="1"/>
          </p:cNvSpPr>
          <p:nvPr/>
        </p:nvSpPr>
        <p:spPr>
          <a:xfrm xmlns:a="http://schemas.openxmlformats.org/drawingml/2006/main">
            <a:off x="1238250" y="3333750"/>
            <a:ext cx="2514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0F172A"/>
                </a:solidFill>
              </a:defRPr>
            </a:pPr>
            <a:r>
              <a:rPr sz="1800" b="1">
                <a:solidFill>
                  <a:srgbClr val="0F172A"/>
                </a:solidFill>
              </a:rPr>
              <a:t>Relier</a:t>
            </a:r>
          </a:p>
        </p:txBody>
      </p:sp>
      <p:sp>
        <p:nvSpPr>
          <p:cNvPr id="21" name="">
            <a:extLst xmlns:a="http://schemas.openxmlformats.org/drawingml/2006/main">
              <a:ext uri="{FF2B5EF4-FFF2-40B4-BE49-F238E27FC236}">
                <a16:creationId xmlns:a16="http://schemas.microsoft.com/office/drawing/2014/main" id="{5C4E17B1-4C6E-464A-B0E6-CC98E505248D}"/>
              </a:ext>
            </a:extLst>
          </p:cNvPr>
          <p:cNvSpPr>
            <a:spLocks xmlns:a="http://schemas.openxmlformats.org/drawingml/2006/main" noGrp="1"/>
          </p:cNvSpPr>
          <p:nvPr/>
        </p:nvSpPr>
        <p:spPr>
          <a:xfrm xmlns:a="http://schemas.openxmlformats.org/drawingml/2006/main">
            <a:off x="1238250" y="3714750"/>
            <a:ext cx="2514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475569"/>
                </a:solidFill>
              </a:defRPr>
            </a:pPr>
            <a:r>
              <a:rPr sz="1275" b="0">
                <a:solidFill>
                  <a:srgbClr val="475569"/>
                </a:solidFill>
              </a:rPr>
              <a:t>environnement à chaque horodatage vache</a:t>
            </a:r>
          </a:p>
        </p:txBody>
      </p:sp>
      <p:sp>
        <p:nvSpPr>
          <p:cNvPr id="22" name="">
            <a:extLst xmlns:a="http://schemas.openxmlformats.org/drawingml/2006/main">
              <a:ext uri="{FF2B5EF4-FFF2-40B4-BE49-F238E27FC236}">
                <a16:creationId xmlns:a16="http://schemas.microsoft.com/office/drawing/2014/main" id="{719BEC00-31D5-462C-B777-49F607FD1349}"/>
              </a:ext>
            </a:extLst>
          </p:cNvPr>
          <p:cNvSpPr>
            <a:spLocks xmlns:a="http://schemas.openxmlformats.org/drawingml/2006/main" noGrp="1"/>
          </p:cNvSpPr>
          <p:nvPr/>
        </p:nvSpPr>
        <p:spPr>
          <a:xfrm xmlns:a="http://schemas.openxmlformats.org/drawingml/2006/main">
            <a:off x="4381500" y="3124200"/>
            <a:ext cx="3429000" cy="1219200"/>
          </a:xfrm>
          <a:prstGeom xmlns:a="http://schemas.openxmlformats.org/drawingml/2006/main" prst="rect">
            <a:avLst/>
          </a:prstGeom>
          <a:solidFill xmlns:a="http://schemas.openxmlformats.org/drawingml/2006/main">
            <a:srgbClr val="EEF6FB"/>
          </a:solidFill>
          <a:ln xmlns:a="http://schemas.openxmlformats.org/drawingml/2006/main" w="9525">
            <a:solidFill>
              <a:srgbClr val="D3D7DE"/>
            </a:solidFill>
            <a:prstDash val="solid"/>
          </a:ln>
        </p:spPr>
      </p:sp>
      <p:sp>
        <p:nvSpPr>
          <p:cNvPr id="23" name="">
            <a:extLst xmlns:a="http://schemas.openxmlformats.org/drawingml/2006/main">
              <a:ext uri="{FF2B5EF4-FFF2-40B4-BE49-F238E27FC236}">
                <a16:creationId xmlns:a16="http://schemas.microsoft.com/office/drawing/2014/main" id="{E8B68B83-3502-40C6-A06A-550D7A467943}"/>
              </a:ext>
            </a:extLst>
          </p:cNvPr>
          <p:cNvSpPr>
            <a:spLocks xmlns:a="http://schemas.openxmlformats.org/drawingml/2006/main" noGrp="1"/>
          </p:cNvSpPr>
          <p:nvPr/>
        </p:nvSpPr>
        <p:spPr>
          <a:xfrm xmlns:a="http://schemas.openxmlformats.org/drawingml/2006/main">
            <a:off x="4552950" y="3295650"/>
            <a:ext cx="47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550" b="1">
                <a:solidFill>
                  <a:srgbClr val="0B4F7A"/>
                </a:solidFill>
              </a:defRPr>
            </a:pPr>
            <a:r>
              <a:rPr sz="2550" b="1">
                <a:solidFill>
                  <a:srgbClr val="0B4F7A"/>
                </a:solidFill>
              </a:rPr>
              <a:t>5</a:t>
            </a:r>
          </a:p>
        </p:txBody>
      </p:sp>
      <p:sp>
        <p:nvSpPr>
          <p:cNvPr id="24" name="">
            <a:extLst xmlns:a="http://schemas.openxmlformats.org/drawingml/2006/main">
              <a:ext uri="{FF2B5EF4-FFF2-40B4-BE49-F238E27FC236}">
                <a16:creationId xmlns:a16="http://schemas.microsoft.com/office/drawing/2014/main" id="{A7BF3B33-7AE0-4365-B2A5-3A64442B8BD8}"/>
              </a:ext>
            </a:extLst>
          </p:cNvPr>
          <p:cNvSpPr>
            <a:spLocks xmlns:a="http://schemas.openxmlformats.org/drawingml/2006/main" noGrp="1"/>
          </p:cNvSpPr>
          <p:nvPr/>
        </p:nvSpPr>
        <p:spPr>
          <a:xfrm xmlns:a="http://schemas.openxmlformats.org/drawingml/2006/main">
            <a:off x="5124450" y="3333750"/>
            <a:ext cx="2514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0F172A"/>
                </a:solidFill>
              </a:defRPr>
            </a:pPr>
            <a:r>
              <a:rPr sz="1800" b="1">
                <a:solidFill>
                  <a:srgbClr val="0F172A"/>
                </a:solidFill>
              </a:rPr>
              <a:t>Joindre</a:t>
            </a:r>
          </a:p>
        </p:txBody>
      </p:sp>
      <p:sp>
        <p:nvSpPr>
          <p:cNvPr id="25" name="">
            <a:extLst xmlns:a="http://schemas.openxmlformats.org/drawingml/2006/main">
              <a:ext uri="{FF2B5EF4-FFF2-40B4-BE49-F238E27FC236}">
                <a16:creationId xmlns:a16="http://schemas.microsoft.com/office/drawing/2014/main" id="{F0DDB297-71F9-4D5A-8EB5-331E80CD909B}"/>
              </a:ext>
            </a:extLst>
          </p:cNvPr>
          <p:cNvSpPr>
            <a:spLocks xmlns:a="http://schemas.openxmlformats.org/drawingml/2006/main" noGrp="1"/>
          </p:cNvSpPr>
          <p:nvPr/>
        </p:nvSpPr>
        <p:spPr>
          <a:xfrm xmlns:a="http://schemas.openxmlformats.org/drawingml/2006/main">
            <a:off x="5124450" y="3714750"/>
            <a:ext cx="2514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475569"/>
                </a:solidFill>
              </a:defRPr>
            </a:pPr>
            <a:r>
              <a:rPr sz="1275" b="0">
                <a:solidFill>
                  <a:srgbClr val="475569"/>
                </a:solidFill>
              </a:rPr>
              <a:t>comportement par vache et par jour</a:t>
            </a:r>
          </a:p>
        </p:txBody>
      </p:sp>
      <p:sp>
        <p:nvSpPr>
          <p:cNvPr id="26" name="">
            <a:extLst xmlns:a="http://schemas.openxmlformats.org/drawingml/2006/main">
              <a:ext uri="{FF2B5EF4-FFF2-40B4-BE49-F238E27FC236}">
                <a16:creationId xmlns:a16="http://schemas.microsoft.com/office/drawing/2014/main" id="{9868BAB2-75A5-4BD8-9848-F9140F0C2B0A}"/>
              </a:ext>
            </a:extLst>
          </p:cNvPr>
          <p:cNvSpPr>
            <a:spLocks xmlns:a="http://schemas.openxmlformats.org/drawingml/2006/main" noGrp="1"/>
          </p:cNvSpPr>
          <p:nvPr/>
        </p:nvSpPr>
        <p:spPr>
          <a:xfrm xmlns:a="http://schemas.openxmlformats.org/drawingml/2006/main">
            <a:off x="8267700" y="3124200"/>
            <a:ext cx="3429000" cy="1219200"/>
          </a:xfrm>
          <a:prstGeom xmlns:a="http://schemas.openxmlformats.org/drawingml/2006/main" prst="rect">
            <a:avLst/>
          </a:prstGeom>
          <a:solidFill xmlns:a="http://schemas.openxmlformats.org/drawingml/2006/main">
            <a:srgbClr val="EEF6FB"/>
          </a:solidFill>
          <a:ln xmlns:a="http://schemas.openxmlformats.org/drawingml/2006/main" w="9525">
            <a:solidFill>
              <a:srgbClr val="D3D7DE"/>
            </a:solidFill>
            <a:prstDash val="solid"/>
          </a:ln>
        </p:spPr>
      </p:sp>
      <p:sp>
        <p:nvSpPr>
          <p:cNvPr id="27" name="">
            <a:extLst xmlns:a="http://schemas.openxmlformats.org/drawingml/2006/main">
              <a:ext uri="{FF2B5EF4-FFF2-40B4-BE49-F238E27FC236}">
                <a16:creationId xmlns:a16="http://schemas.microsoft.com/office/drawing/2014/main" id="{50BF7E6F-2F21-4832-8097-B6B611E05AC9}"/>
              </a:ext>
            </a:extLst>
          </p:cNvPr>
          <p:cNvSpPr>
            <a:spLocks xmlns:a="http://schemas.openxmlformats.org/drawingml/2006/main" noGrp="1"/>
          </p:cNvSpPr>
          <p:nvPr/>
        </p:nvSpPr>
        <p:spPr>
          <a:xfrm xmlns:a="http://schemas.openxmlformats.org/drawingml/2006/main">
            <a:off x="8439150" y="3295650"/>
            <a:ext cx="4762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550" b="1">
                <a:solidFill>
                  <a:srgbClr val="0B4F7A"/>
                </a:solidFill>
              </a:defRPr>
            </a:pPr>
            <a:r>
              <a:rPr sz="2550" b="1">
                <a:solidFill>
                  <a:srgbClr val="0B4F7A"/>
                </a:solidFill>
              </a:rPr>
              <a:t>6</a:t>
            </a:r>
          </a:p>
        </p:txBody>
      </p:sp>
      <p:sp>
        <p:nvSpPr>
          <p:cNvPr id="28" name="">
            <a:extLst xmlns:a="http://schemas.openxmlformats.org/drawingml/2006/main">
              <a:ext uri="{FF2B5EF4-FFF2-40B4-BE49-F238E27FC236}">
                <a16:creationId xmlns:a16="http://schemas.microsoft.com/office/drawing/2014/main" id="{51A3834C-A800-450C-9631-864FCEE797D4}"/>
              </a:ext>
            </a:extLst>
          </p:cNvPr>
          <p:cNvSpPr>
            <a:spLocks xmlns:a="http://schemas.openxmlformats.org/drawingml/2006/main" noGrp="1"/>
          </p:cNvSpPr>
          <p:nvPr/>
        </p:nvSpPr>
        <p:spPr>
          <a:xfrm xmlns:a="http://schemas.openxmlformats.org/drawingml/2006/main">
            <a:off x="9010650" y="3333750"/>
            <a:ext cx="2514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0F172A"/>
                </a:solidFill>
              </a:defRPr>
            </a:pPr>
            <a:r>
              <a:rPr sz="1800" b="1">
                <a:solidFill>
                  <a:srgbClr val="0F172A"/>
                </a:solidFill>
              </a:rPr>
              <a:t>Tester</a:t>
            </a:r>
          </a:p>
        </p:txBody>
      </p:sp>
      <p:sp>
        <p:nvSpPr>
          <p:cNvPr id="29" name="">
            <a:extLst xmlns:a="http://schemas.openxmlformats.org/drawingml/2006/main">
              <a:ext uri="{FF2B5EF4-FFF2-40B4-BE49-F238E27FC236}">
                <a16:creationId xmlns:a16="http://schemas.microsoft.com/office/drawing/2014/main" id="{722BE3C2-C454-4B6E-8F24-C26F83D3C0DF}"/>
              </a:ext>
            </a:extLst>
          </p:cNvPr>
          <p:cNvSpPr>
            <a:spLocks xmlns:a="http://schemas.openxmlformats.org/drawingml/2006/main" noGrp="1"/>
          </p:cNvSpPr>
          <p:nvPr/>
        </p:nvSpPr>
        <p:spPr>
          <a:xfrm xmlns:a="http://schemas.openxmlformats.org/drawingml/2006/main">
            <a:off x="9010650" y="3714750"/>
            <a:ext cx="25146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475569"/>
                </a:solidFill>
              </a:defRPr>
            </a:pPr>
            <a:r>
              <a:rPr sz="1275" b="0">
                <a:solidFill>
                  <a:srgbClr val="475569"/>
                </a:solidFill>
              </a:rPr>
              <a:t>effets de l’heure, puis contrôle du jour</a:t>
            </a:r>
          </a:p>
        </p:txBody>
      </p:sp>
      <p:sp>
        <p:nvSpPr>
          <p:cNvPr id="30" name="">
            <a:extLst xmlns:a="http://schemas.openxmlformats.org/drawingml/2006/main">
              <a:ext uri="{FF2B5EF4-FFF2-40B4-BE49-F238E27FC236}">
                <a16:creationId xmlns:a16="http://schemas.microsoft.com/office/drawing/2014/main" id="{4A7342A9-8919-4B0E-8A23-226DBCD264F0}"/>
              </a:ext>
            </a:extLst>
          </p:cNvPr>
          <p:cNvSpPr>
            <a:spLocks xmlns:a="http://schemas.openxmlformats.org/drawingml/2006/main" noGrp="1"/>
          </p:cNvSpPr>
          <p:nvPr/>
        </p:nvSpPr>
        <p:spPr>
          <a:xfrm xmlns:a="http://schemas.openxmlformats.org/drawingml/2006/main">
            <a:off x="495300" y="5181600"/>
            <a:ext cx="11201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0">
                <a:solidFill>
                  <a:srgbClr val="475569"/>
                </a:solidFill>
              </a:defRPr>
            </a:pPr>
            <a:r>
              <a:rPr sz="1575" b="0">
                <a:solidFill>
                  <a:srgbClr val="475569"/>
                </a:solidFill>
              </a:rPr>
              <a:t>Le comportement est conservé à sa résolution réelle; la chaîne n’invente pas de valeurs à 15 minutes.</a:t>
            </a:r>
          </a:p>
        </p:txBody>
      </p:sp>
    </p:spTree>
    <p:extLst>
      <p:ext uri="{BB962C8B-B14F-4D97-AF65-F5344CB8AC3E}">
        <p14:creationId xmlns:p14="http://schemas.microsoft.com/office/powerpoint/2010/main" val="92867471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AB12E8B-1D0C-4D1A-8D0F-0BB9F6E88DCC}"/>
              </a:ext>
            </a:extLst>
          </p:cNvPr>
          <p:cNvSpPr>
            <a:spLocks xmlns:a="http://schemas.openxmlformats.org/drawingml/2006/main" noGrp="1"/>
          </p:cNvSpPr>
          <p:nvPr/>
        </p:nvSpPr>
        <p:spPr>
          <a:xfrm xmlns:a="http://schemas.openxmlformats.org/drawingml/2006/main">
            <a:off x="495300" y="323850"/>
            <a:ext cx="11201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a:solidFill>
                  <a:srgbClr val="0F172A"/>
                </a:solidFill>
              </a:defRPr>
            </a:pPr>
            <a:r>
              <a:rPr sz="2850" b="1">
                <a:solidFill>
                  <a:srgbClr val="0F172A"/>
                </a:solidFill>
              </a:rPr>
              <a:t>Le corpus couvre un stress modéré</a:t>
            </a:r>
          </a:p>
        </p:txBody>
      </p:sp>
      <p:sp>
        <p:nvSpPr>
          <p:cNvPr id="2" name="">
            <a:extLst xmlns:a="http://schemas.openxmlformats.org/drawingml/2006/main">
              <a:ext uri="{FF2B5EF4-FFF2-40B4-BE49-F238E27FC236}">
                <a16:creationId xmlns:a16="http://schemas.microsoft.com/office/drawing/2014/main" id="{55BA3A00-E40B-4E4A-8DC1-34E4767DB678}"/>
              </a:ext>
            </a:extLst>
          </p:cNvPr>
          <p:cNvSpPr>
            <a:spLocks xmlns:a="http://schemas.openxmlformats.org/drawingml/2006/main" noGrp="1"/>
          </p:cNvSpPr>
          <p:nvPr/>
        </p:nvSpPr>
        <p:spPr>
          <a:xfrm xmlns:a="http://schemas.openxmlformats.org/drawingml/2006/main">
            <a:off x="495300" y="914400"/>
            <a:ext cx="1120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475569"/>
                </a:solidFill>
              </a:defRPr>
            </a:pPr>
            <a:r>
              <a:rPr sz="1500" b="0">
                <a:solidFill>
                  <a:srgbClr val="475569"/>
                </a:solidFill>
              </a:rPr>
              <a:t>54,0 % des intervalles ont un THI ≥ 68; 28,7 % un THI ≥ 72; seulement 1,1 % un THI ≥ 80.</a:t>
            </a:r>
          </a:p>
        </p:txBody>
      </p:sp>
      <p:sp>
        <p:nvSpPr>
          <p:cNvPr id="3" name="">
            <a:extLst xmlns:a="http://schemas.openxmlformats.org/drawingml/2006/main">
              <a:ext uri="{FF2B5EF4-FFF2-40B4-BE49-F238E27FC236}">
                <a16:creationId xmlns:a16="http://schemas.microsoft.com/office/drawing/2014/main" id="{691E55F0-496B-4526-9BB6-27751D50060A}"/>
              </a:ext>
            </a:extLst>
          </p:cNvPr>
          <p:cNvSpPr>
            <a:spLocks xmlns:a="http://schemas.openxmlformats.org/drawingml/2006/main" noGrp="1"/>
          </p:cNvSpPr>
          <p:nvPr/>
        </p:nvSpPr>
        <p:spPr>
          <a:xfrm xmlns:a="http://schemas.openxmlformats.org/drawingml/2006/main">
            <a:off x="495300" y="1257300"/>
            <a:ext cx="112014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B0118592-7285-4A70-A6EF-A004D561465E}"/>
              </a:ext>
            </a:extLst>
          </p:cNvPr>
          <p:cNvSpPr>
            <a:spLocks xmlns:a="http://schemas.openxmlformats.org/drawingml/2006/main" noGrp="1"/>
          </p:cNvSpPr>
          <p:nvPr/>
        </p:nvSpPr>
        <p:spPr>
          <a:xfrm xmlns:a="http://schemas.openxmlformats.org/drawingml/2006/main">
            <a:off x="495300" y="64198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475569"/>
                </a:solidFill>
              </a:defRPr>
            </a:pPr>
            <a:r>
              <a:rPr sz="1050" b="0">
                <a:solidFill>
                  <a:srgbClr val="475569"/>
                </a:solidFill>
              </a:rPr>
              <a:t>Projet McGill / WELL-E - Objectif 2</a:t>
            </a:r>
          </a:p>
        </p:txBody>
      </p:sp>
      <p:sp>
        <p:nvSpPr>
          <p:cNvPr id="5" name="">
            <a:extLst xmlns:a="http://schemas.openxmlformats.org/drawingml/2006/main">
              <a:ext uri="{FF2B5EF4-FFF2-40B4-BE49-F238E27FC236}">
                <a16:creationId xmlns:a16="http://schemas.microsoft.com/office/drawing/2014/main" id="{E042D069-9283-4C92-BE0A-3CF9BDF575E4}"/>
              </a:ext>
            </a:extLst>
          </p:cNvPr>
          <p:cNvSpPr>
            <a:spLocks xmlns:a="http://schemas.openxmlformats.org/drawingml/2006/main" noGrp="1"/>
          </p:cNvSpPr>
          <p:nvPr/>
        </p:nvSpPr>
        <p:spPr>
          <a:xfrm xmlns:a="http://schemas.openxmlformats.org/drawingml/2006/main">
            <a:off x="11334750" y="6419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a:solidFill>
                  <a:srgbClr val="475569"/>
                </a:solidFill>
              </a:defRPr>
            </a:pPr>
            <a:r>
              <a:rPr sz="1050" b="0">
                <a:solidFill>
                  <a:srgbClr val="475569"/>
                </a:solidFill>
              </a:rPr>
              <a:t>6</a:t>
            </a:r>
          </a:p>
        </p:txBody>
      </p:sp>
      <p:graphicFrame>
        <p:nvGraphicFramePr>
          <p:cNvPr id="23" name="Chart"/>
          <p:cNvGraphicFramePr/>
          <p:nvPr/>
        </p:nvGraphicFramePr>
        <p:xfrm>
          <a:off xmlns:a="http://schemas.openxmlformats.org/drawingml/2006/main" x="495300" y="1466850"/>
          <a:ext xmlns:a="http://schemas.openxmlformats.org/drawingml/2006/main" cx="6429375" cy="3905250"/>
        </p:xfrm>
        <a:graphic xmlns:a="http://schemas.openxmlformats.org/drawingml/2006/main">
          <a:graphicData uri="http://schemas.openxmlformats.org/drawingml/2006/chart">
            <c:chart xmlns:r="http://schemas.openxmlformats.org/officeDocument/2006/relationships" xmlns:c="http://schemas.openxmlformats.org/drawingml/2006/chart" r:id="Rb02539936e674fd5"/>
          </a:graphicData>
        </a:graphic>
      </p:graphicFrame>
      <p:sp>
        <p:nvSpPr>
          <p:cNvPr id="7" name="">
            <a:extLst xmlns:a="http://schemas.openxmlformats.org/drawingml/2006/main">
              <a:ext uri="{FF2B5EF4-FFF2-40B4-BE49-F238E27FC236}">
                <a16:creationId xmlns:a16="http://schemas.microsoft.com/office/drawing/2014/main" id="{1B6F150C-0879-4275-8BAD-7038962B4E81}"/>
              </a:ext>
            </a:extLst>
          </p:cNvPr>
          <p:cNvSpPr>
            <a:spLocks xmlns:a="http://schemas.openxmlformats.org/drawingml/2006/main" noGrp="1"/>
          </p:cNvSpPr>
          <p:nvPr/>
        </p:nvSpPr>
        <p:spPr>
          <a:xfrm xmlns:a="http://schemas.openxmlformats.org/drawingml/2006/main">
            <a:off x="7429500" y="1524000"/>
            <a:ext cx="3905250" cy="1466850"/>
          </a:xfrm>
          <a:prstGeom xmlns:a="http://schemas.openxmlformats.org/drawingml/2006/main" prst="rect">
            <a:avLst/>
          </a:prstGeom>
          <a:solidFill xmlns:a="http://schemas.openxmlformats.org/drawingml/2006/main">
            <a:srgbClr val="F8FAFC"/>
          </a:solidFill>
          <a:ln xmlns:a="http://schemas.openxmlformats.org/drawingml/2006/main" w="9525">
            <a:solidFill>
              <a:srgbClr val="D3D7DE"/>
            </a:solidFill>
            <a:prstDash val="solid"/>
          </a:ln>
        </p:spPr>
      </p:sp>
      <p:sp>
        <p:nvSpPr>
          <p:cNvPr id="8" name="">
            <a:extLst xmlns:a="http://schemas.openxmlformats.org/drawingml/2006/main">
              <a:ext uri="{FF2B5EF4-FFF2-40B4-BE49-F238E27FC236}">
                <a16:creationId xmlns:a16="http://schemas.microsoft.com/office/drawing/2014/main" id="{24477FE9-51A8-43A5-AE32-AC79B19DA156}"/>
              </a:ext>
            </a:extLst>
          </p:cNvPr>
          <p:cNvSpPr>
            <a:spLocks xmlns:a="http://schemas.openxmlformats.org/drawingml/2006/main" noGrp="1"/>
          </p:cNvSpPr>
          <p:nvPr/>
        </p:nvSpPr>
        <p:spPr>
          <a:xfrm xmlns:a="http://schemas.openxmlformats.org/drawingml/2006/main">
            <a:off x="7658100" y="1714500"/>
            <a:ext cx="3448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00" b="1">
                <a:solidFill>
                  <a:srgbClr val="0B4F7A"/>
                </a:solidFill>
              </a:defRPr>
            </a:pPr>
            <a:r>
              <a:rPr sz="2700" b="1">
                <a:solidFill>
                  <a:srgbClr val="0B4F7A"/>
                </a:solidFill>
              </a:rPr>
              <a:t>83,9</a:t>
            </a:r>
          </a:p>
        </p:txBody>
      </p:sp>
      <p:sp>
        <p:nvSpPr>
          <p:cNvPr id="9" name="">
            <a:extLst xmlns:a="http://schemas.openxmlformats.org/drawingml/2006/main">
              <a:ext uri="{FF2B5EF4-FFF2-40B4-BE49-F238E27FC236}">
                <a16:creationId xmlns:a16="http://schemas.microsoft.com/office/drawing/2014/main" id="{8D9D14C3-C7B0-4DCB-BDA5-47A9B89472F0}"/>
              </a:ext>
            </a:extLst>
          </p:cNvPr>
          <p:cNvSpPr>
            <a:spLocks xmlns:a="http://schemas.openxmlformats.org/drawingml/2006/main" noGrp="1"/>
          </p:cNvSpPr>
          <p:nvPr/>
        </p:nvSpPr>
        <p:spPr>
          <a:xfrm xmlns:a="http://schemas.openxmlformats.org/drawingml/2006/main">
            <a:off x="7658100" y="2266950"/>
            <a:ext cx="3448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0F172A"/>
                </a:solidFill>
              </a:defRPr>
            </a:pPr>
            <a:r>
              <a:rPr sz="1500" b="1">
                <a:solidFill>
                  <a:srgbClr val="0F172A"/>
                </a:solidFill>
              </a:rPr>
              <a:t>THI maximal</a:t>
            </a:r>
          </a:p>
        </p:txBody>
      </p:sp>
      <p:sp>
        <p:nvSpPr>
          <p:cNvPr id="10" name="">
            <a:extLst xmlns:a="http://schemas.openxmlformats.org/drawingml/2006/main">
              <a:ext uri="{FF2B5EF4-FFF2-40B4-BE49-F238E27FC236}">
                <a16:creationId xmlns:a16="http://schemas.microsoft.com/office/drawing/2014/main" id="{03314D16-F850-4875-80E3-308B92A4A8D3}"/>
              </a:ext>
            </a:extLst>
          </p:cNvPr>
          <p:cNvSpPr>
            <a:spLocks xmlns:a="http://schemas.openxmlformats.org/drawingml/2006/main" noGrp="1"/>
          </p:cNvSpPr>
          <p:nvPr/>
        </p:nvSpPr>
        <p:spPr>
          <a:xfrm xmlns:a="http://schemas.openxmlformats.org/drawingml/2006/main">
            <a:off x="7658100" y="2609850"/>
            <a:ext cx="3448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a:solidFill>
                  <a:srgbClr val="475569"/>
                </a:solidFill>
              </a:defRPr>
            </a:pPr>
            <a:r>
              <a:rPr sz="1125" b="0">
                <a:solidFill>
                  <a:srgbClr val="475569"/>
                </a:solidFill>
              </a:rPr>
              <a:t>Une faible part des données représente un stress thermique sévère.</a:t>
            </a:r>
          </a:p>
        </p:txBody>
      </p:sp>
      <p:sp>
        <p:nvSpPr>
          <p:cNvPr id="11" name="">
            <a:extLst xmlns:a="http://schemas.openxmlformats.org/drawingml/2006/main">
              <a:ext uri="{FF2B5EF4-FFF2-40B4-BE49-F238E27FC236}">
                <a16:creationId xmlns:a16="http://schemas.microsoft.com/office/drawing/2014/main" id="{40EEE909-9F10-4AD0-A587-E9E8AD8F7580}"/>
              </a:ext>
            </a:extLst>
          </p:cNvPr>
          <p:cNvSpPr>
            <a:spLocks xmlns:a="http://schemas.openxmlformats.org/drawingml/2006/main" noGrp="1"/>
          </p:cNvSpPr>
          <p:nvPr/>
        </p:nvSpPr>
        <p:spPr>
          <a:xfrm xmlns:a="http://schemas.openxmlformats.org/drawingml/2006/main">
            <a:off x="7429500" y="3295650"/>
            <a:ext cx="3905250" cy="1466850"/>
          </a:xfrm>
          <a:prstGeom xmlns:a="http://schemas.openxmlformats.org/drawingml/2006/main" prst="rect">
            <a:avLst/>
          </a:prstGeom>
          <a:solidFill xmlns:a="http://schemas.openxmlformats.org/drawingml/2006/main">
            <a:srgbClr val="F8FAFC"/>
          </a:solidFill>
          <a:ln xmlns:a="http://schemas.openxmlformats.org/drawingml/2006/main" w="9525">
            <a:solidFill>
              <a:srgbClr val="D3D7DE"/>
            </a:solidFill>
            <a:prstDash val="solid"/>
          </a:ln>
        </p:spPr>
      </p:sp>
      <p:sp>
        <p:nvSpPr>
          <p:cNvPr id="12" name="">
            <a:extLst xmlns:a="http://schemas.openxmlformats.org/drawingml/2006/main">
              <a:ext uri="{FF2B5EF4-FFF2-40B4-BE49-F238E27FC236}">
                <a16:creationId xmlns:a16="http://schemas.microsoft.com/office/drawing/2014/main" id="{98204B57-61D6-45BD-BA6C-8F300AB1B591}"/>
              </a:ext>
            </a:extLst>
          </p:cNvPr>
          <p:cNvSpPr>
            <a:spLocks xmlns:a="http://schemas.openxmlformats.org/drawingml/2006/main" noGrp="1"/>
          </p:cNvSpPr>
          <p:nvPr/>
        </p:nvSpPr>
        <p:spPr>
          <a:xfrm xmlns:a="http://schemas.openxmlformats.org/drawingml/2006/main">
            <a:off x="7658100" y="3486150"/>
            <a:ext cx="34480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700" b="1">
                <a:solidFill>
                  <a:srgbClr val="0B4F7A"/>
                </a:solidFill>
              </a:defRPr>
            </a:pPr>
            <a:r>
              <a:rPr sz="2700" b="1">
                <a:solidFill>
                  <a:srgbClr val="0B4F7A"/>
                </a:solidFill>
              </a:rPr>
              <a:t>68,4</a:t>
            </a:r>
          </a:p>
        </p:txBody>
      </p:sp>
      <p:sp>
        <p:nvSpPr>
          <p:cNvPr id="13" name="">
            <a:extLst xmlns:a="http://schemas.openxmlformats.org/drawingml/2006/main">
              <a:ext uri="{FF2B5EF4-FFF2-40B4-BE49-F238E27FC236}">
                <a16:creationId xmlns:a16="http://schemas.microsoft.com/office/drawing/2014/main" id="{62AE9CCC-6042-4B02-91B0-9BE029065538}"/>
              </a:ext>
            </a:extLst>
          </p:cNvPr>
          <p:cNvSpPr>
            <a:spLocks xmlns:a="http://schemas.openxmlformats.org/drawingml/2006/main" noGrp="1"/>
          </p:cNvSpPr>
          <p:nvPr/>
        </p:nvSpPr>
        <p:spPr>
          <a:xfrm xmlns:a="http://schemas.openxmlformats.org/drawingml/2006/main">
            <a:off x="7658100" y="4038600"/>
            <a:ext cx="34480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0F172A"/>
                </a:solidFill>
              </a:defRPr>
            </a:pPr>
            <a:r>
              <a:rPr sz="1500" b="1">
                <a:solidFill>
                  <a:srgbClr val="0F172A"/>
                </a:solidFill>
              </a:rPr>
              <a:t>THI moyen</a:t>
            </a:r>
          </a:p>
        </p:txBody>
      </p:sp>
      <p:sp>
        <p:nvSpPr>
          <p:cNvPr id="14" name="">
            <a:extLst xmlns:a="http://schemas.openxmlformats.org/drawingml/2006/main">
              <a:ext uri="{FF2B5EF4-FFF2-40B4-BE49-F238E27FC236}">
                <a16:creationId xmlns:a16="http://schemas.microsoft.com/office/drawing/2014/main" id="{EE153667-91CB-4DA5-89C1-C69B0CE30A18}"/>
              </a:ext>
            </a:extLst>
          </p:cNvPr>
          <p:cNvSpPr>
            <a:spLocks xmlns:a="http://schemas.openxmlformats.org/drawingml/2006/main" noGrp="1"/>
          </p:cNvSpPr>
          <p:nvPr/>
        </p:nvSpPr>
        <p:spPr>
          <a:xfrm xmlns:a="http://schemas.openxmlformats.org/drawingml/2006/main">
            <a:off x="7658100" y="4381500"/>
            <a:ext cx="3448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a:solidFill>
                  <a:srgbClr val="475569"/>
                </a:solidFill>
              </a:defRPr>
            </a:pPr>
            <a:r>
              <a:rPr sz="1125" b="0">
                <a:solidFill>
                  <a:srgbClr val="475569"/>
                </a:solidFill>
              </a:rPr>
              <a:t>La conclusion concerne surtout une plage thermique légère à modérée.</a:t>
            </a:r>
          </a:p>
        </p:txBody>
      </p:sp>
    </p:spTree>
    <p:extLst>
      <p:ext uri="{BB962C8B-B14F-4D97-AF65-F5344CB8AC3E}">
        <p14:creationId xmlns:p14="http://schemas.microsoft.com/office/powerpoint/2010/main" val="751026902"/>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7564D9C-4AC9-4C60-A310-636F762F10AF}"/>
              </a:ext>
            </a:extLst>
          </p:cNvPr>
          <p:cNvSpPr>
            <a:spLocks xmlns:a="http://schemas.openxmlformats.org/drawingml/2006/main" noGrp="1"/>
          </p:cNvSpPr>
          <p:nvPr/>
        </p:nvSpPr>
        <p:spPr>
          <a:xfrm xmlns:a="http://schemas.openxmlformats.org/drawingml/2006/main">
            <a:off x="495300" y="323850"/>
            <a:ext cx="11201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a:solidFill>
                  <a:srgbClr val="0F172A"/>
                </a:solidFill>
              </a:defRPr>
            </a:pPr>
            <a:r>
              <a:rPr sz="2850" b="1">
                <a:solidFill>
                  <a:srgbClr val="0F172A"/>
                </a:solidFill>
              </a:rPr>
              <a:t>Le contrôle du jour change la conclusion</a:t>
            </a:r>
          </a:p>
        </p:txBody>
      </p:sp>
      <p:sp>
        <p:nvSpPr>
          <p:cNvPr id="2" name="">
            <a:extLst xmlns:a="http://schemas.openxmlformats.org/drawingml/2006/main">
              <a:ext uri="{FF2B5EF4-FFF2-40B4-BE49-F238E27FC236}">
                <a16:creationId xmlns:a16="http://schemas.microsoft.com/office/drawing/2014/main" id="{18E577B4-4A90-4EB8-AC12-ED7E99E18BDB}"/>
              </a:ext>
            </a:extLst>
          </p:cNvPr>
          <p:cNvSpPr>
            <a:spLocks xmlns:a="http://schemas.openxmlformats.org/drawingml/2006/main" noGrp="1"/>
          </p:cNvSpPr>
          <p:nvPr/>
        </p:nvSpPr>
        <p:spPr>
          <a:xfrm xmlns:a="http://schemas.openxmlformats.org/drawingml/2006/main">
            <a:off x="495300" y="914400"/>
            <a:ext cx="1120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475569"/>
                </a:solidFill>
              </a:defRPr>
            </a:pPr>
            <a:r>
              <a:rPr sz="1500" b="0">
                <a:solidFill>
                  <a:srgbClr val="475569"/>
                </a:solidFill>
              </a:rPr>
              <a:t>Le THI est partagé entre vaches; l’unité troupeau-temps évite une pseudo-réplication.</a:t>
            </a:r>
          </a:p>
        </p:txBody>
      </p:sp>
      <p:sp>
        <p:nvSpPr>
          <p:cNvPr id="3" name="">
            <a:extLst xmlns:a="http://schemas.openxmlformats.org/drawingml/2006/main">
              <a:ext uri="{FF2B5EF4-FFF2-40B4-BE49-F238E27FC236}">
                <a16:creationId xmlns:a16="http://schemas.microsoft.com/office/drawing/2014/main" id="{A9D57F82-D6DD-49FB-86EA-7BECAD178D37}"/>
              </a:ext>
            </a:extLst>
          </p:cNvPr>
          <p:cNvSpPr>
            <a:spLocks xmlns:a="http://schemas.openxmlformats.org/drawingml/2006/main" noGrp="1"/>
          </p:cNvSpPr>
          <p:nvPr/>
        </p:nvSpPr>
        <p:spPr>
          <a:xfrm xmlns:a="http://schemas.openxmlformats.org/drawingml/2006/main">
            <a:off x="495300" y="1257300"/>
            <a:ext cx="112014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1A6B1280-AE3E-4936-A85D-94253B0302B0}"/>
              </a:ext>
            </a:extLst>
          </p:cNvPr>
          <p:cNvSpPr>
            <a:spLocks xmlns:a="http://schemas.openxmlformats.org/drawingml/2006/main" noGrp="1"/>
          </p:cNvSpPr>
          <p:nvPr/>
        </p:nvSpPr>
        <p:spPr>
          <a:xfrm xmlns:a="http://schemas.openxmlformats.org/drawingml/2006/main">
            <a:off x="495300" y="64198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475569"/>
                </a:solidFill>
              </a:defRPr>
            </a:pPr>
            <a:r>
              <a:rPr sz="1050" b="0">
                <a:solidFill>
                  <a:srgbClr val="475569"/>
                </a:solidFill>
              </a:rPr>
              <a:t>Projet McGill / WELL-E - Objectif 2</a:t>
            </a:r>
          </a:p>
        </p:txBody>
      </p:sp>
      <p:sp>
        <p:nvSpPr>
          <p:cNvPr id="5" name="">
            <a:extLst xmlns:a="http://schemas.openxmlformats.org/drawingml/2006/main">
              <a:ext uri="{FF2B5EF4-FFF2-40B4-BE49-F238E27FC236}">
                <a16:creationId xmlns:a16="http://schemas.microsoft.com/office/drawing/2014/main" id="{EA7C1D69-5499-462A-9D08-71C42B7B733F}"/>
              </a:ext>
            </a:extLst>
          </p:cNvPr>
          <p:cNvSpPr>
            <a:spLocks xmlns:a="http://schemas.openxmlformats.org/drawingml/2006/main" noGrp="1"/>
          </p:cNvSpPr>
          <p:nvPr/>
        </p:nvSpPr>
        <p:spPr>
          <a:xfrm xmlns:a="http://schemas.openxmlformats.org/drawingml/2006/main">
            <a:off x="11334750" y="6419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a:solidFill>
                  <a:srgbClr val="475569"/>
                </a:solidFill>
              </a:defRPr>
            </a:pPr>
            <a:r>
              <a:rPr sz="1050" b="0">
                <a:solidFill>
                  <a:srgbClr val="475569"/>
                </a:solidFill>
              </a:rPr>
              <a:t>7</a:t>
            </a:r>
          </a:p>
        </p:txBody>
      </p:sp>
      <p:graphicFrame>
        <p:nvGraphicFramePr>
          <p:cNvPr id="27" name="Chart"/>
          <p:cNvGraphicFramePr/>
          <p:nvPr/>
        </p:nvGraphicFramePr>
        <p:xfrm>
          <a:off xmlns:a="http://schemas.openxmlformats.org/drawingml/2006/main" x="495300" y="1562100"/>
          <a:ext xmlns:a="http://schemas.openxmlformats.org/drawingml/2006/main" cx="7239000" cy="3714750"/>
        </p:xfrm>
        <a:graphic xmlns:a="http://schemas.openxmlformats.org/drawingml/2006/main">
          <a:graphicData uri="http://schemas.openxmlformats.org/drawingml/2006/chart">
            <c:chart xmlns:r="http://schemas.openxmlformats.org/officeDocument/2006/relationships" xmlns:c="http://schemas.openxmlformats.org/drawingml/2006/chart" r:id="R472d8f186e284e16"/>
          </a:graphicData>
        </a:graphic>
      </p:graphicFrame>
      <p:sp>
        <p:nvSpPr>
          <p:cNvPr id="7" name="">
            <a:extLst xmlns:a="http://schemas.openxmlformats.org/drawingml/2006/main">
              <a:ext uri="{FF2B5EF4-FFF2-40B4-BE49-F238E27FC236}">
                <a16:creationId xmlns:a16="http://schemas.microsoft.com/office/drawing/2014/main" id="{B845C6A7-CEE4-4443-A3DF-383B14E5D4DD}"/>
              </a:ext>
            </a:extLst>
          </p:cNvPr>
          <p:cNvSpPr>
            <a:spLocks xmlns:a="http://schemas.openxmlformats.org/drawingml/2006/main" noGrp="1"/>
          </p:cNvSpPr>
          <p:nvPr/>
        </p:nvSpPr>
        <p:spPr>
          <a:xfrm xmlns:a="http://schemas.openxmlformats.org/drawingml/2006/main">
            <a:off x="8096250" y="1562100"/>
            <a:ext cx="3600450" cy="1104900"/>
          </a:xfrm>
          <a:prstGeom xmlns:a="http://schemas.openxmlformats.org/drawingml/2006/main" prst="rect">
            <a:avLst/>
          </a:prstGeom>
          <a:solidFill xmlns:a="http://schemas.openxmlformats.org/drawingml/2006/main">
            <a:srgbClr val="EEF6FB"/>
          </a:solidFill>
          <a:ln xmlns:a="http://schemas.openxmlformats.org/drawingml/2006/main" w="9525">
            <a:solidFill>
              <a:srgbClr val="D3D7DE"/>
            </a:solidFill>
            <a:prstDash val="solid"/>
          </a:ln>
        </p:spPr>
      </p:sp>
      <p:sp>
        <p:nvSpPr>
          <p:cNvPr id="8" name="">
            <a:extLst xmlns:a="http://schemas.openxmlformats.org/drawingml/2006/main">
              <a:ext uri="{FF2B5EF4-FFF2-40B4-BE49-F238E27FC236}">
                <a16:creationId xmlns:a16="http://schemas.microsoft.com/office/drawing/2014/main" id="{565EF28E-FDFE-4B73-8944-1291F9AF4377}"/>
              </a:ext>
            </a:extLst>
          </p:cNvPr>
          <p:cNvSpPr>
            <a:spLocks xmlns:a="http://schemas.openxmlformats.org/drawingml/2006/main" noGrp="1"/>
          </p:cNvSpPr>
          <p:nvPr/>
        </p:nvSpPr>
        <p:spPr>
          <a:xfrm xmlns:a="http://schemas.openxmlformats.org/drawingml/2006/main">
            <a:off x="8324850" y="1828800"/>
            <a:ext cx="76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550" b="1">
                <a:solidFill>
                  <a:srgbClr val="0B4F7A"/>
                </a:solidFill>
              </a:defRPr>
            </a:pPr>
            <a:r>
              <a:rPr sz="1350" b="1">
                <a:solidFill>
                  <a:srgbClr val="0B4F7A"/>
                </a:solidFill>
              </a:rPr>
              <a:t>0,20</a:t>
            </a:r>
          </a:p>
        </p:txBody>
      </p:sp>
      <p:sp>
        <p:nvSpPr>
          <p:cNvPr id="9" name="">
            <a:extLst xmlns:a="http://schemas.openxmlformats.org/drawingml/2006/main">
              <a:ext uri="{FF2B5EF4-FFF2-40B4-BE49-F238E27FC236}">
                <a16:creationId xmlns:a16="http://schemas.microsoft.com/office/drawing/2014/main" id="{2064273C-3D19-4973-8719-D7A6C74B35B6}"/>
              </a:ext>
            </a:extLst>
          </p:cNvPr>
          <p:cNvSpPr>
            <a:spLocks xmlns:a="http://schemas.openxmlformats.org/drawingml/2006/main" noGrp="1"/>
          </p:cNvSpPr>
          <p:nvPr/>
        </p:nvSpPr>
        <p:spPr>
          <a:xfrm xmlns:a="http://schemas.openxmlformats.org/drawingml/2006/main">
            <a:off x="8915400" y="1752600"/>
            <a:ext cx="247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a:solidFill>
                  <a:srgbClr val="0F172A"/>
                </a:solidFill>
              </a:defRPr>
            </a:pPr>
            <a:r>
              <a:rPr sz="1425" b="1">
                <a:solidFill>
                  <a:srgbClr val="0F172A"/>
                </a:solidFill>
              </a:rPr>
              <a:t>Mixte vache + heure</a:t>
            </a:r>
          </a:p>
        </p:txBody>
      </p:sp>
      <p:sp>
        <p:nvSpPr>
          <p:cNvPr id="10" name="">
            <a:extLst xmlns:a="http://schemas.openxmlformats.org/drawingml/2006/main">
              <a:ext uri="{FF2B5EF4-FFF2-40B4-BE49-F238E27FC236}">
                <a16:creationId xmlns:a16="http://schemas.microsoft.com/office/drawing/2014/main" id="{6C26554A-7DE5-4974-B02D-7D06C66F8789}"/>
              </a:ext>
            </a:extLst>
          </p:cNvPr>
          <p:cNvSpPr>
            <a:spLocks xmlns:a="http://schemas.openxmlformats.org/drawingml/2006/main" noGrp="1"/>
          </p:cNvSpPr>
          <p:nvPr/>
        </p:nvSpPr>
        <p:spPr>
          <a:xfrm xmlns:a="http://schemas.openxmlformats.org/drawingml/2006/main">
            <a:off x="8915400" y="2228850"/>
            <a:ext cx="247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a:solidFill>
                  <a:srgbClr val="475569"/>
                </a:solidFill>
              </a:defRPr>
            </a:pPr>
            <a:r>
              <a:rPr sz="1125" b="0">
                <a:solidFill>
                  <a:srgbClr val="475569"/>
                </a:solidFill>
              </a:rPr>
              <a:t>effet +0,198; sans contrôle des différences entre jours</a:t>
            </a:r>
          </a:p>
        </p:txBody>
      </p:sp>
      <p:sp>
        <p:nvSpPr>
          <p:cNvPr id="11" name="">
            <a:extLst xmlns:a="http://schemas.openxmlformats.org/drawingml/2006/main">
              <a:ext uri="{FF2B5EF4-FFF2-40B4-BE49-F238E27FC236}">
                <a16:creationId xmlns:a16="http://schemas.microsoft.com/office/drawing/2014/main" id="{C6E8EDE4-21E3-4276-8CB8-498C2C513921}"/>
              </a:ext>
            </a:extLst>
          </p:cNvPr>
          <p:cNvSpPr>
            <a:spLocks xmlns:a="http://schemas.openxmlformats.org/drawingml/2006/main" noGrp="1"/>
          </p:cNvSpPr>
          <p:nvPr/>
        </p:nvSpPr>
        <p:spPr>
          <a:xfrm xmlns:a="http://schemas.openxmlformats.org/drawingml/2006/main">
            <a:off x="8096250" y="2914650"/>
            <a:ext cx="3600450" cy="1104900"/>
          </a:xfrm>
          <a:prstGeom xmlns:a="http://schemas.openxmlformats.org/drawingml/2006/main" prst="rect">
            <a:avLst/>
          </a:prstGeom>
          <a:solidFill xmlns:a="http://schemas.openxmlformats.org/drawingml/2006/main">
            <a:srgbClr val="EEF6FB"/>
          </a:solidFill>
          <a:ln xmlns:a="http://schemas.openxmlformats.org/drawingml/2006/main" w="9525">
            <a:solidFill>
              <a:srgbClr val="D3D7DE"/>
            </a:solidFill>
            <a:prstDash val="solid"/>
          </a:ln>
        </p:spPr>
      </p:sp>
      <p:sp>
        <p:nvSpPr>
          <p:cNvPr id="12" name="">
            <a:extLst xmlns:a="http://schemas.openxmlformats.org/drawingml/2006/main">
              <a:ext uri="{FF2B5EF4-FFF2-40B4-BE49-F238E27FC236}">
                <a16:creationId xmlns:a16="http://schemas.microsoft.com/office/drawing/2014/main" id="{DBC5A613-58D7-4CDD-9085-78E20146682D}"/>
              </a:ext>
            </a:extLst>
          </p:cNvPr>
          <p:cNvSpPr>
            <a:spLocks xmlns:a="http://schemas.openxmlformats.org/drawingml/2006/main" noGrp="1"/>
          </p:cNvSpPr>
          <p:nvPr/>
        </p:nvSpPr>
        <p:spPr>
          <a:xfrm xmlns:a="http://schemas.openxmlformats.org/drawingml/2006/main">
            <a:off x="8324850" y="3181350"/>
            <a:ext cx="76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550" b="1">
                <a:solidFill>
                  <a:srgbClr val="0B4F7A"/>
                </a:solidFill>
              </a:defRPr>
            </a:pPr>
            <a:r>
              <a:rPr sz="1350" b="1">
                <a:solidFill>
                  <a:srgbClr val="0B4F7A"/>
                </a:solidFill>
              </a:rPr>
              <a:t>0,22</a:t>
            </a:r>
          </a:p>
        </p:txBody>
      </p:sp>
      <p:sp>
        <p:nvSpPr>
          <p:cNvPr id="13" name="">
            <a:extLst xmlns:a="http://schemas.openxmlformats.org/drawingml/2006/main">
              <a:ext uri="{FF2B5EF4-FFF2-40B4-BE49-F238E27FC236}">
                <a16:creationId xmlns:a16="http://schemas.microsoft.com/office/drawing/2014/main" id="{B5EEA695-2002-4BB2-9984-57F875BFF8DE}"/>
              </a:ext>
            </a:extLst>
          </p:cNvPr>
          <p:cNvSpPr>
            <a:spLocks xmlns:a="http://schemas.openxmlformats.org/drawingml/2006/main" noGrp="1"/>
          </p:cNvSpPr>
          <p:nvPr/>
        </p:nvSpPr>
        <p:spPr>
          <a:xfrm xmlns:a="http://schemas.openxmlformats.org/drawingml/2006/main">
            <a:off x="8915400" y="3105150"/>
            <a:ext cx="247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a:solidFill>
                  <a:srgbClr val="0F172A"/>
                </a:solidFill>
              </a:defRPr>
            </a:pPr>
            <a:r>
              <a:rPr sz="1425" b="1">
                <a:solidFill>
                  <a:srgbClr val="0F172A"/>
                </a:solidFill>
              </a:rPr>
              <a:t>Troupeau + heure</a:t>
            </a:r>
          </a:p>
        </p:txBody>
      </p:sp>
      <p:sp>
        <p:nvSpPr>
          <p:cNvPr id="14" name="">
            <a:extLst xmlns:a="http://schemas.openxmlformats.org/drawingml/2006/main">
              <a:ext uri="{FF2B5EF4-FFF2-40B4-BE49-F238E27FC236}">
                <a16:creationId xmlns:a16="http://schemas.microsoft.com/office/drawing/2014/main" id="{F8BA7420-9930-4CE5-B5A6-3BAC16600944}"/>
              </a:ext>
            </a:extLst>
          </p:cNvPr>
          <p:cNvSpPr>
            <a:spLocks xmlns:a="http://schemas.openxmlformats.org/drawingml/2006/main" noGrp="1"/>
          </p:cNvSpPr>
          <p:nvPr/>
        </p:nvSpPr>
        <p:spPr>
          <a:xfrm xmlns:a="http://schemas.openxmlformats.org/drawingml/2006/main">
            <a:off x="8915400" y="3581400"/>
            <a:ext cx="247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a:solidFill>
                  <a:srgbClr val="475569"/>
                </a:solidFill>
              </a:defRPr>
            </a:pPr>
            <a:r>
              <a:rPr sz="1125" b="0">
                <a:solidFill>
                  <a:srgbClr val="475569"/>
                </a:solidFill>
              </a:rPr>
              <a:t>effet +0,221; association positive entre horodatages</a:t>
            </a:r>
          </a:p>
        </p:txBody>
      </p:sp>
      <p:sp>
        <p:nvSpPr>
          <p:cNvPr id="15" name="">
            <a:extLst xmlns:a="http://schemas.openxmlformats.org/drawingml/2006/main">
              <a:ext uri="{FF2B5EF4-FFF2-40B4-BE49-F238E27FC236}">
                <a16:creationId xmlns:a16="http://schemas.microsoft.com/office/drawing/2014/main" id="{DCABBF5B-0A5A-4C0B-A802-2132F94745A2}"/>
              </a:ext>
            </a:extLst>
          </p:cNvPr>
          <p:cNvSpPr>
            <a:spLocks xmlns:a="http://schemas.openxmlformats.org/drawingml/2006/main" noGrp="1"/>
          </p:cNvSpPr>
          <p:nvPr/>
        </p:nvSpPr>
        <p:spPr>
          <a:xfrm xmlns:a="http://schemas.openxmlformats.org/drawingml/2006/main">
            <a:off x="8096250" y="4267200"/>
            <a:ext cx="3600450" cy="1104900"/>
          </a:xfrm>
          <a:prstGeom xmlns:a="http://schemas.openxmlformats.org/drawingml/2006/main" prst="rect">
            <a:avLst/>
          </a:prstGeom>
          <a:solidFill xmlns:a="http://schemas.openxmlformats.org/drawingml/2006/main">
            <a:srgbClr val="F2F4F7"/>
          </a:solidFill>
          <a:ln xmlns:a="http://schemas.openxmlformats.org/drawingml/2006/main" w="9525">
            <a:solidFill>
              <a:srgbClr val="D3D7DE"/>
            </a:solidFill>
            <a:prstDash val="solid"/>
          </a:ln>
        </p:spPr>
      </p:sp>
      <p:sp>
        <p:nvSpPr>
          <p:cNvPr id="16" name="">
            <a:extLst xmlns:a="http://schemas.openxmlformats.org/drawingml/2006/main">
              <a:ext uri="{FF2B5EF4-FFF2-40B4-BE49-F238E27FC236}">
                <a16:creationId xmlns:a16="http://schemas.microsoft.com/office/drawing/2014/main" id="{9F0DC8BE-C15D-49E2-AA2B-2F324A024BDC}"/>
              </a:ext>
            </a:extLst>
          </p:cNvPr>
          <p:cNvSpPr>
            <a:spLocks xmlns:a="http://schemas.openxmlformats.org/drawingml/2006/main" noGrp="1"/>
          </p:cNvSpPr>
          <p:nvPr/>
        </p:nvSpPr>
        <p:spPr>
          <a:xfrm xmlns:a="http://schemas.openxmlformats.org/drawingml/2006/main">
            <a:off x="8324850" y="4533900"/>
            <a:ext cx="762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550" b="1">
                <a:solidFill>
                  <a:srgbClr val="0B4F7A"/>
                </a:solidFill>
              </a:defRPr>
            </a:pPr>
            <a:r>
              <a:rPr sz="1350" b="1">
                <a:solidFill>
                  <a:srgbClr val="0B4F7A"/>
                </a:solidFill>
              </a:rPr>
              <a:t>0,06</a:t>
            </a:r>
          </a:p>
        </p:txBody>
      </p:sp>
      <p:sp>
        <p:nvSpPr>
          <p:cNvPr id="17" name="">
            <a:extLst xmlns:a="http://schemas.openxmlformats.org/drawingml/2006/main">
              <a:ext uri="{FF2B5EF4-FFF2-40B4-BE49-F238E27FC236}">
                <a16:creationId xmlns:a16="http://schemas.microsoft.com/office/drawing/2014/main" id="{A5358D85-5BCA-49D8-99DB-5C9D7027B1A1}"/>
              </a:ext>
            </a:extLst>
          </p:cNvPr>
          <p:cNvSpPr>
            <a:spLocks xmlns:a="http://schemas.openxmlformats.org/drawingml/2006/main" noGrp="1"/>
          </p:cNvSpPr>
          <p:nvPr/>
        </p:nvSpPr>
        <p:spPr>
          <a:xfrm xmlns:a="http://schemas.openxmlformats.org/drawingml/2006/main">
            <a:off x="8915400" y="4457700"/>
            <a:ext cx="2476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25" b="1">
                <a:solidFill>
                  <a:srgbClr val="0F172A"/>
                </a:solidFill>
              </a:defRPr>
            </a:pPr>
            <a:r>
              <a:rPr sz="1425" b="1">
                <a:solidFill>
                  <a:srgbClr val="0F172A"/>
                </a:solidFill>
              </a:rPr>
              <a:t>Avec contrôle du jour</a:t>
            </a:r>
          </a:p>
        </p:txBody>
      </p:sp>
      <p:sp>
        <p:nvSpPr>
          <p:cNvPr id="18" name="">
            <a:extLst xmlns:a="http://schemas.openxmlformats.org/drawingml/2006/main">
              <a:ext uri="{FF2B5EF4-FFF2-40B4-BE49-F238E27FC236}">
                <a16:creationId xmlns:a16="http://schemas.microsoft.com/office/drawing/2014/main" id="{FFD19B21-88DC-4EFC-88EB-CDEF66D12636}"/>
              </a:ext>
            </a:extLst>
          </p:cNvPr>
          <p:cNvSpPr>
            <a:spLocks xmlns:a="http://schemas.openxmlformats.org/drawingml/2006/main" noGrp="1"/>
          </p:cNvSpPr>
          <p:nvPr/>
        </p:nvSpPr>
        <p:spPr>
          <a:xfrm xmlns:a="http://schemas.openxmlformats.org/drawingml/2006/main">
            <a:off x="8915400" y="4933950"/>
            <a:ext cx="2476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125" b="0">
                <a:solidFill>
                  <a:srgbClr val="475569"/>
                </a:solidFill>
              </a:defRPr>
            </a:pPr>
            <a:r>
              <a:rPr sz="1125" b="0">
                <a:solidFill>
                  <a:srgbClr val="475569"/>
                </a:solidFill>
              </a:rPr>
              <a:t>effet +0,061; p = 0,364; résultat non concluant</a:t>
            </a:r>
          </a:p>
        </p:txBody>
      </p:sp>
    </p:spTree>
    <p:extLst>
      <p:ext uri="{BB962C8B-B14F-4D97-AF65-F5344CB8AC3E}">
        <p14:creationId xmlns:p14="http://schemas.microsoft.com/office/powerpoint/2010/main" val="38613660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399B8FBF-1D12-49CE-8DAB-1544821866F0}"/>
              </a:ext>
            </a:extLst>
          </p:cNvPr>
          <p:cNvSpPr>
            <a:spLocks xmlns:a="http://schemas.openxmlformats.org/drawingml/2006/main" noGrp="1"/>
          </p:cNvSpPr>
          <p:nvPr/>
        </p:nvSpPr>
        <p:spPr>
          <a:xfrm xmlns:a="http://schemas.openxmlformats.org/drawingml/2006/main">
            <a:off x="495300" y="323850"/>
            <a:ext cx="11201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a:solidFill>
                  <a:srgbClr val="0F172A"/>
                </a:solidFill>
              </a:defRPr>
            </a:pPr>
            <a:r>
              <a:rPr sz="2850" b="1">
                <a:solidFill>
                  <a:srgbClr val="0F172A"/>
                </a:solidFill>
              </a:rPr>
              <a:t>Effet intra-jour non concluant</a:t>
            </a:r>
          </a:p>
        </p:txBody>
      </p:sp>
      <p:sp>
        <p:nvSpPr>
          <p:cNvPr id="2" name="">
            <a:extLst xmlns:a="http://schemas.openxmlformats.org/drawingml/2006/main">
              <a:ext uri="{FF2B5EF4-FFF2-40B4-BE49-F238E27FC236}">
                <a16:creationId xmlns:a16="http://schemas.microsoft.com/office/drawing/2014/main" id="{1805AFF8-430C-466C-86F8-28D53DBB4A1A}"/>
              </a:ext>
            </a:extLst>
          </p:cNvPr>
          <p:cNvSpPr>
            <a:spLocks xmlns:a="http://schemas.openxmlformats.org/drawingml/2006/main" noGrp="1"/>
          </p:cNvSpPr>
          <p:nvPr/>
        </p:nvSpPr>
        <p:spPr>
          <a:xfrm xmlns:a="http://schemas.openxmlformats.org/drawingml/2006/main">
            <a:off x="495300" y="914400"/>
            <a:ext cx="1120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475569"/>
                </a:solidFill>
              </a:defRPr>
            </a:pPr>
            <a:r>
              <a:rPr sz="1500" b="0">
                <a:solidFill>
                  <a:srgbClr val="475569"/>
                </a:solidFill>
              </a:rPr>
              <a:t>Les sensibilités confirment une lecture exploratoire.</a:t>
            </a:r>
          </a:p>
        </p:txBody>
      </p:sp>
      <p:sp>
        <p:nvSpPr>
          <p:cNvPr id="3" name="">
            <a:extLst xmlns:a="http://schemas.openxmlformats.org/drawingml/2006/main">
              <a:ext uri="{FF2B5EF4-FFF2-40B4-BE49-F238E27FC236}">
                <a16:creationId xmlns:a16="http://schemas.microsoft.com/office/drawing/2014/main" id="{F39DCC71-ABE6-43F1-90F3-B0668D632938}"/>
              </a:ext>
            </a:extLst>
          </p:cNvPr>
          <p:cNvSpPr>
            <a:spLocks xmlns:a="http://schemas.openxmlformats.org/drawingml/2006/main" noGrp="1"/>
          </p:cNvSpPr>
          <p:nvPr/>
        </p:nvSpPr>
        <p:spPr>
          <a:xfrm xmlns:a="http://schemas.openxmlformats.org/drawingml/2006/main">
            <a:off x="495300" y="1257300"/>
            <a:ext cx="112014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E0CE3AD7-04DA-4FDC-A03D-F21FE7ABF816}"/>
              </a:ext>
            </a:extLst>
          </p:cNvPr>
          <p:cNvSpPr>
            <a:spLocks xmlns:a="http://schemas.openxmlformats.org/drawingml/2006/main" noGrp="1"/>
          </p:cNvSpPr>
          <p:nvPr/>
        </p:nvSpPr>
        <p:spPr>
          <a:xfrm xmlns:a="http://schemas.openxmlformats.org/drawingml/2006/main">
            <a:off x="495300" y="64198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475569"/>
                </a:solidFill>
              </a:defRPr>
            </a:pPr>
            <a:r>
              <a:rPr sz="1050" b="0">
                <a:solidFill>
                  <a:srgbClr val="475569"/>
                </a:solidFill>
              </a:rPr>
              <a:t>Projet McGill / WELL-E - Objectif 2</a:t>
            </a:r>
          </a:p>
        </p:txBody>
      </p:sp>
      <p:sp>
        <p:nvSpPr>
          <p:cNvPr id="5" name="">
            <a:extLst xmlns:a="http://schemas.openxmlformats.org/drawingml/2006/main">
              <a:ext uri="{FF2B5EF4-FFF2-40B4-BE49-F238E27FC236}">
                <a16:creationId xmlns:a16="http://schemas.microsoft.com/office/drawing/2014/main" id="{1C6E0954-F757-424A-A6BC-E9EC72A0BC49}"/>
              </a:ext>
            </a:extLst>
          </p:cNvPr>
          <p:cNvSpPr>
            <a:spLocks xmlns:a="http://schemas.openxmlformats.org/drawingml/2006/main" noGrp="1"/>
          </p:cNvSpPr>
          <p:nvPr/>
        </p:nvSpPr>
        <p:spPr>
          <a:xfrm xmlns:a="http://schemas.openxmlformats.org/drawingml/2006/main">
            <a:off x="11334750" y="6419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a:solidFill>
                  <a:srgbClr val="475569"/>
                </a:solidFill>
              </a:defRPr>
            </a:pPr>
            <a:r>
              <a:rPr sz="1050" b="0">
                <a:solidFill>
                  <a:srgbClr val="475569"/>
                </a:solidFill>
              </a:rPr>
              <a:t>8</a:t>
            </a:r>
          </a:p>
        </p:txBody>
      </p:sp>
      <p:sp>
        <p:nvSpPr>
          <p:cNvPr id="6" name="">
            <a:extLst xmlns:a="http://schemas.openxmlformats.org/drawingml/2006/main">
              <a:ext uri="{FF2B5EF4-FFF2-40B4-BE49-F238E27FC236}">
                <a16:creationId xmlns:a16="http://schemas.microsoft.com/office/drawing/2014/main" id="{50444E8E-D6E4-47C0-B985-DF1312D7BAD7}"/>
              </a:ext>
            </a:extLst>
          </p:cNvPr>
          <p:cNvSpPr>
            <a:spLocks xmlns:a="http://schemas.openxmlformats.org/drawingml/2006/main" noGrp="1"/>
          </p:cNvSpPr>
          <p:nvPr/>
        </p:nvSpPr>
        <p:spPr>
          <a:xfrm xmlns:a="http://schemas.openxmlformats.org/drawingml/2006/main">
            <a:off x="495300" y="1619250"/>
            <a:ext cx="3429000" cy="2190750"/>
          </a:xfrm>
          <a:prstGeom xmlns:a="http://schemas.openxmlformats.org/drawingml/2006/main" prst="rect">
            <a:avLst/>
          </a:prstGeom>
          <a:solidFill xmlns:a="http://schemas.openxmlformats.org/drawingml/2006/main">
            <a:srgbClr val="F2F4F7"/>
          </a:solidFill>
          <a:ln xmlns:a="http://schemas.openxmlformats.org/drawingml/2006/main" w="9525">
            <a:solidFill>
              <a:srgbClr val="D3D7DE"/>
            </a:solidFill>
            <a:prstDash val="solid"/>
          </a:ln>
        </p:spPr>
      </p:sp>
      <p:sp>
        <p:nvSpPr>
          <p:cNvPr id="7" name="">
            <a:extLst xmlns:a="http://schemas.openxmlformats.org/drawingml/2006/main">
              <a:ext uri="{FF2B5EF4-FFF2-40B4-BE49-F238E27FC236}">
                <a16:creationId xmlns:a16="http://schemas.microsoft.com/office/drawing/2014/main" id="{BFF00988-95B1-4047-A24E-ED8EE737C19E}"/>
              </a:ext>
            </a:extLst>
          </p:cNvPr>
          <p:cNvSpPr>
            <a:spLocks xmlns:a="http://schemas.openxmlformats.org/drawingml/2006/main" noGrp="1"/>
          </p:cNvSpPr>
          <p:nvPr/>
        </p:nvSpPr>
        <p:spPr>
          <a:xfrm xmlns:a="http://schemas.openxmlformats.org/drawingml/2006/main">
            <a:off x="723900" y="1885950"/>
            <a:ext cx="2971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4F7A"/>
                </a:solidFill>
              </a:defRPr>
            </a:pPr>
            <a:r>
              <a:rPr sz="3150" b="1">
                <a:solidFill>
                  <a:srgbClr val="0B4F7A"/>
                </a:solidFill>
              </a:rPr>
              <a:t>p = 0,364</a:t>
            </a:r>
          </a:p>
        </p:txBody>
      </p:sp>
      <p:sp>
        <p:nvSpPr>
          <p:cNvPr id="8" name="">
            <a:extLst xmlns:a="http://schemas.openxmlformats.org/drawingml/2006/main">
              <a:ext uri="{FF2B5EF4-FFF2-40B4-BE49-F238E27FC236}">
                <a16:creationId xmlns:a16="http://schemas.microsoft.com/office/drawing/2014/main" id="{BF9D9E7C-8D0D-4F21-A6C1-A07A11FF1276}"/>
              </a:ext>
            </a:extLst>
          </p:cNvPr>
          <p:cNvSpPr>
            <a:spLocks xmlns:a="http://schemas.openxmlformats.org/drawingml/2006/main" noGrp="1"/>
          </p:cNvSpPr>
          <p:nvPr/>
        </p:nvSpPr>
        <p:spPr>
          <a:xfrm xmlns:a="http://schemas.openxmlformats.org/drawingml/2006/main">
            <a:off x="723900" y="2514600"/>
            <a:ext cx="2971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1">
                <a:solidFill>
                  <a:srgbClr val="0F172A"/>
                </a:solidFill>
              </a:defRPr>
            </a:pPr>
            <a:r>
              <a:rPr sz="1575" b="1">
                <a:solidFill>
                  <a:srgbClr val="0F172A"/>
                </a:solidFill>
              </a:rPr>
              <a:t>Activité en pas</a:t>
            </a:r>
          </a:p>
        </p:txBody>
      </p:sp>
      <p:sp>
        <p:nvSpPr>
          <p:cNvPr id="9" name="">
            <a:extLst xmlns:a="http://schemas.openxmlformats.org/drawingml/2006/main">
              <a:ext uri="{FF2B5EF4-FFF2-40B4-BE49-F238E27FC236}">
                <a16:creationId xmlns:a16="http://schemas.microsoft.com/office/drawing/2014/main" id="{BECB08CA-FC1B-4EED-B918-9E3AAF55101B}"/>
              </a:ext>
            </a:extLst>
          </p:cNvPr>
          <p:cNvSpPr>
            <a:spLocks xmlns:a="http://schemas.openxmlformats.org/drawingml/2006/main" noGrp="1"/>
          </p:cNvSpPr>
          <p:nvPr/>
        </p:nvSpPr>
        <p:spPr>
          <a:xfrm xmlns:a="http://schemas.openxmlformats.org/drawingml/2006/main">
            <a:off x="723900" y="2895600"/>
            <a:ext cx="2971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475569"/>
                </a:solidFill>
              </a:defRPr>
            </a:pPr>
            <a:r>
              <a:rPr sz="1275" b="0">
                <a:solidFill>
                  <a:srgbClr val="475569"/>
                </a:solidFill>
              </a:rPr>
              <a:t>IC 95 % : [-0,070; 0,192]; l’intervalle inclut zéro.</a:t>
            </a:r>
          </a:p>
        </p:txBody>
      </p:sp>
      <p:sp>
        <p:nvSpPr>
          <p:cNvPr id="10" name="">
            <a:extLst xmlns:a="http://schemas.openxmlformats.org/drawingml/2006/main">
              <a:ext uri="{FF2B5EF4-FFF2-40B4-BE49-F238E27FC236}">
                <a16:creationId xmlns:a16="http://schemas.microsoft.com/office/drawing/2014/main" id="{EE0F11F0-ED5C-490D-9CEF-C7D2524BFDC2}"/>
              </a:ext>
            </a:extLst>
          </p:cNvPr>
          <p:cNvSpPr>
            <a:spLocks xmlns:a="http://schemas.openxmlformats.org/drawingml/2006/main" noGrp="1"/>
          </p:cNvSpPr>
          <p:nvPr/>
        </p:nvSpPr>
        <p:spPr>
          <a:xfrm xmlns:a="http://schemas.openxmlformats.org/drawingml/2006/main">
            <a:off x="4381500" y="1619250"/>
            <a:ext cx="3429000" cy="2190750"/>
          </a:xfrm>
          <a:prstGeom xmlns:a="http://schemas.openxmlformats.org/drawingml/2006/main" prst="rect">
            <a:avLst/>
          </a:prstGeom>
          <a:solidFill xmlns:a="http://schemas.openxmlformats.org/drawingml/2006/main">
            <a:srgbClr val="F8FAFC"/>
          </a:solidFill>
          <a:ln xmlns:a="http://schemas.openxmlformats.org/drawingml/2006/main" w="9525">
            <a:solidFill>
              <a:srgbClr val="D3D7DE"/>
            </a:solidFill>
            <a:prstDash val="solid"/>
          </a:ln>
        </p:spPr>
      </p:sp>
      <p:sp>
        <p:nvSpPr>
          <p:cNvPr id="11" name="">
            <a:extLst xmlns:a="http://schemas.openxmlformats.org/drawingml/2006/main">
              <a:ext uri="{FF2B5EF4-FFF2-40B4-BE49-F238E27FC236}">
                <a16:creationId xmlns:a16="http://schemas.microsoft.com/office/drawing/2014/main" id="{9A4DD6FB-D7B9-498B-9293-A5C8A2809395}"/>
              </a:ext>
            </a:extLst>
          </p:cNvPr>
          <p:cNvSpPr>
            <a:spLocks xmlns:a="http://schemas.openxmlformats.org/drawingml/2006/main" noGrp="1"/>
          </p:cNvSpPr>
          <p:nvPr/>
        </p:nvSpPr>
        <p:spPr>
          <a:xfrm xmlns:a="http://schemas.openxmlformats.org/drawingml/2006/main">
            <a:off x="4610100" y="1885950"/>
            <a:ext cx="2971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4F7A"/>
                </a:solidFill>
              </a:defRPr>
            </a:pPr>
            <a:r>
              <a:rPr sz="3150" b="1">
                <a:solidFill>
                  <a:srgbClr val="0B4F7A"/>
                </a:solidFill>
              </a:rPr>
              <a:t>p = 0,752</a:t>
            </a:r>
          </a:p>
        </p:txBody>
      </p:sp>
      <p:sp>
        <p:nvSpPr>
          <p:cNvPr id="12" name="">
            <a:extLst xmlns:a="http://schemas.openxmlformats.org/drawingml/2006/main">
              <a:ext uri="{FF2B5EF4-FFF2-40B4-BE49-F238E27FC236}">
                <a16:creationId xmlns:a16="http://schemas.microsoft.com/office/drawing/2014/main" id="{D1C834FE-3C14-4A6D-85B5-B2598A0B1634}"/>
              </a:ext>
            </a:extLst>
          </p:cNvPr>
          <p:cNvSpPr>
            <a:spLocks xmlns:a="http://schemas.openxmlformats.org/drawingml/2006/main" noGrp="1"/>
          </p:cNvSpPr>
          <p:nvPr/>
        </p:nvSpPr>
        <p:spPr>
          <a:xfrm xmlns:a="http://schemas.openxmlformats.org/drawingml/2006/main">
            <a:off x="4610100" y="2514600"/>
            <a:ext cx="2971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1">
                <a:solidFill>
                  <a:srgbClr val="0F172A"/>
                </a:solidFill>
              </a:defRPr>
            </a:pPr>
            <a:r>
              <a:rPr sz="1575" b="1">
                <a:solidFill>
                  <a:srgbClr val="0F172A"/>
                </a:solidFill>
              </a:rPr>
              <a:t>Motion Index</a:t>
            </a:r>
          </a:p>
        </p:txBody>
      </p:sp>
      <p:sp>
        <p:nvSpPr>
          <p:cNvPr id="13" name="">
            <a:extLst xmlns:a="http://schemas.openxmlformats.org/drawingml/2006/main">
              <a:ext uri="{FF2B5EF4-FFF2-40B4-BE49-F238E27FC236}">
                <a16:creationId xmlns:a16="http://schemas.microsoft.com/office/drawing/2014/main" id="{0261E314-4CB8-486A-B687-4EF90BE87148}"/>
              </a:ext>
            </a:extLst>
          </p:cNvPr>
          <p:cNvSpPr>
            <a:spLocks xmlns:a="http://schemas.openxmlformats.org/drawingml/2006/main" noGrp="1"/>
          </p:cNvSpPr>
          <p:nvPr/>
        </p:nvSpPr>
        <p:spPr>
          <a:xfrm xmlns:a="http://schemas.openxmlformats.org/drawingml/2006/main">
            <a:off x="4610100" y="2895600"/>
            <a:ext cx="2971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475569"/>
                </a:solidFill>
              </a:defRPr>
            </a:pPr>
            <a:r>
              <a:rPr sz="1275" b="0">
                <a:solidFill>
                  <a:srgbClr val="475569"/>
                </a:solidFill>
              </a:rPr>
              <a:t>L’analyse de sensibilité est également non concluante.</a:t>
            </a:r>
          </a:p>
        </p:txBody>
      </p:sp>
      <p:sp>
        <p:nvSpPr>
          <p:cNvPr id="14" name="">
            <a:extLst xmlns:a="http://schemas.openxmlformats.org/drawingml/2006/main">
              <a:ext uri="{FF2B5EF4-FFF2-40B4-BE49-F238E27FC236}">
                <a16:creationId xmlns:a16="http://schemas.microsoft.com/office/drawing/2014/main" id="{F5585E88-8EC6-42C5-9C2F-1A027D0C794A}"/>
              </a:ext>
            </a:extLst>
          </p:cNvPr>
          <p:cNvSpPr>
            <a:spLocks xmlns:a="http://schemas.openxmlformats.org/drawingml/2006/main" noGrp="1"/>
          </p:cNvSpPr>
          <p:nvPr/>
        </p:nvSpPr>
        <p:spPr>
          <a:xfrm xmlns:a="http://schemas.openxmlformats.org/drawingml/2006/main">
            <a:off x="8267700" y="1619250"/>
            <a:ext cx="3429000" cy="2190750"/>
          </a:xfrm>
          <a:prstGeom xmlns:a="http://schemas.openxmlformats.org/drawingml/2006/main" prst="rect">
            <a:avLst/>
          </a:prstGeom>
          <a:solidFill xmlns:a="http://schemas.openxmlformats.org/drawingml/2006/main">
            <a:srgbClr val="EEF6FB"/>
          </a:solidFill>
          <a:ln xmlns:a="http://schemas.openxmlformats.org/drawingml/2006/main" w="9525">
            <a:solidFill>
              <a:srgbClr val="D3D7DE"/>
            </a:solidFill>
            <a:prstDash val="solid"/>
          </a:ln>
        </p:spPr>
      </p:sp>
      <p:sp>
        <p:nvSpPr>
          <p:cNvPr id="15" name="">
            <a:extLst xmlns:a="http://schemas.openxmlformats.org/drawingml/2006/main">
              <a:ext uri="{FF2B5EF4-FFF2-40B4-BE49-F238E27FC236}">
                <a16:creationId xmlns:a16="http://schemas.microsoft.com/office/drawing/2014/main" id="{954E30E9-1603-41D8-8DA4-97168D11A456}"/>
              </a:ext>
            </a:extLst>
          </p:cNvPr>
          <p:cNvSpPr>
            <a:spLocks xmlns:a="http://schemas.openxmlformats.org/drawingml/2006/main" noGrp="1"/>
          </p:cNvSpPr>
          <p:nvPr/>
        </p:nvSpPr>
        <p:spPr>
          <a:xfrm xmlns:a="http://schemas.openxmlformats.org/drawingml/2006/main">
            <a:off x="8496300" y="1885950"/>
            <a:ext cx="2971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4F7A"/>
                </a:solidFill>
              </a:defRPr>
            </a:pPr>
            <a:r>
              <a:rPr sz="3150" b="1">
                <a:solidFill>
                  <a:srgbClr val="0B4F7A"/>
                </a:solidFill>
              </a:rPr>
              <a:t>p = 0,224</a:t>
            </a:r>
          </a:p>
        </p:txBody>
      </p:sp>
      <p:sp>
        <p:nvSpPr>
          <p:cNvPr id="16" name="">
            <a:extLst xmlns:a="http://schemas.openxmlformats.org/drawingml/2006/main">
              <a:ext uri="{FF2B5EF4-FFF2-40B4-BE49-F238E27FC236}">
                <a16:creationId xmlns:a16="http://schemas.microsoft.com/office/drawing/2014/main" id="{AD3345BB-84E0-4DFA-AF5D-03F61B9579D5}"/>
              </a:ext>
            </a:extLst>
          </p:cNvPr>
          <p:cNvSpPr>
            <a:spLocks xmlns:a="http://schemas.openxmlformats.org/drawingml/2006/main" noGrp="1"/>
          </p:cNvSpPr>
          <p:nvPr/>
        </p:nvSpPr>
        <p:spPr>
          <a:xfrm xmlns:a="http://schemas.openxmlformats.org/drawingml/2006/main">
            <a:off x="8496300" y="2514600"/>
            <a:ext cx="2971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1">
                <a:solidFill>
                  <a:srgbClr val="0F172A"/>
                </a:solidFill>
              </a:defRPr>
            </a:pPr>
            <a:r>
              <a:rPr sz="1575" b="1">
                <a:solidFill>
                  <a:srgbClr val="0F172A"/>
                </a:solidFill>
              </a:rPr>
              <a:t>Non-linéarité</a:t>
            </a:r>
          </a:p>
        </p:txBody>
      </p:sp>
      <p:sp>
        <p:nvSpPr>
          <p:cNvPr id="17" name="">
            <a:extLst xmlns:a="http://schemas.openxmlformats.org/drawingml/2006/main">
              <a:ext uri="{FF2B5EF4-FFF2-40B4-BE49-F238E27FC236}">
                <a16:creationId xmlns:a16="http://schemas.microsoft.com/office/drawing/2014/main" id="{53696E58-D880-4B96-8F21-391EDB0524C3}"/>
              </a:ext>
            </a:extLst>
          </p:cNvPr>
          <p:cNvSpPr>
            <a:spLocks xmlns:a="http://schemas.openxmlformats.org/drawingml/2006/main" noGrp="1"/>
          </p:cNvSpPr>
          <p:nvPr/>
        </p:nvSpPr>
        <p:spPr>
          <a:xfrm xmlns:a="http://schemas.openxmlformats.org/drawingml/2006/main">
            <a:off x="8496300" y="2895600"/>
            <a:ext cx="2971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475569"/>
                </a:solidFill>
              </a:defRPr>
            </a:pPr>
            <a:r>
              <a:rPr sz="1275" b="0">
                <a:solidFill>
                  <a:srgbClr val="475569"/>
                </a:solidFill>
              </a:rPr>
              <a:t>Le terme quadratique ne confirme pas de seuil dans ces données.</a:t>
            </a:r>
          </a:p>
        </p:txBody>
      </p:sp>
      <p:sp>
        <p:nvSpPr>
          <p:cNvPr id="18" name="">
            <a:extLst xmlns:a="http://schemas.openxmlformats.org/drawingml/2006/main">
              <a:ext uri="{FF2B5EF4-FFF2-40B4-BE49-F238E27FC236}">
                <a16:creationId xmlns:a16="http://schemas.microsoft.com/office/drawing/2014/main" id="{C66454BD-FFB9-46DD-99D4-1570377E02AA}"/>
              </a:ext>
            </a:extLst>
          </p:cNvPr>
          <p:cNvSpPr>
            <a:spLocks xmlns:a="http://schemas.openxmlformats.org/drawingml/2006/main" noGrp="1"/>
          </p:cNvSpPr>
          <p:nvPr/>
        </p:nvSpPr>
        <p:spPr>
          <a:xfrm xmlns:a="http://schemas.openxmlformats.org/drawingml/2006/main">
            <a:off x="495300" y="4324350"/>
            <a:ext cx="11201400" cy="895350"/>
          </a:xfrm>
          <a:prstGeom xmlns:a="http://schemas.openxmlformats.org/drawingml/2006/main" prst="rect">
            <a:avLst/>
          </a:prstGeom>
          <a:solidFill xmlns:a="http://schemas.openxmlformats.org/drawingml/2006/main">
            <a:srgbClr val="F8FAFC"/>
          </a:solidFill>
          <a:ln xmlns:a="http://schemas.openxmlformats.org/drawingml/2006/main" w="9525">
            <a:solidFill>
              <a:srgbClr val="D3D7DE"/>
            </a:solidFill>
            <a:prstDash val="solid"/>
          </a:ln>
        </p:spPr>
      </p:sp>
      <p:sp>
        <p:nvSpPr>
          <p:cNvPr id="19" name="">
            <a:extLst xmlns:a="http://schemas.openxmlformats.org/drawingml/2006/main">
              <a:ext uri="{FF2B5EF4-FFF2-40B4-BE49-F238E27FC236}">
                <a16:creationId xmlns:a16="http://schemas.microsoft.com/office/drawing/2014/main" id="{A1B8D259-99C7-4D8A-9E1D-6AF4208AB6D2}"/>
              </a:ext>
            </a:extLst>
          </p:cNvPr>
          <p:cNvSpPr>
            <a:spLocks xmlns:a="http://schemas.openxmlformats.org/drawingml/2006/main" noGrp="1"/>
          </p:cNvSpPr>
          <p:nvPr/>
        </p:nvSpPr>
        <p:spPr>
          <a:xfrm xmlns:a="http://schemas.openxmlformats.org/drawingml/2006/main">
            <a:off x="704850" y="4514850"/>
            <a:ext cx="107823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0F172A"/>
                </a:solidFill>
              </a:defRPr>
            </a:pPr>
            <a:r>
              <a:rPr sz="1650" b="0">
                <a:solidFill>
                  <a:srgbClr val="0F172A"/>
                </a:solidFill>
              </a:rPr>
              <a:t>La progression saisonnière, le jour et possiblement le protocole d’exercice peuvent expliquer une partie du signal brut.</a:t>
            </a:r>
          </a:p>
        </p:txBody>
      </p:sp>
    </p:spTree>
    <p:extLst>
      <p:ext uri="{BB962C8B-B14F-4D97-AF65-F5344CB8AC3E}">
        <p14:creationId xmlns:p14="http://schemas.microsoft.com/office/powerpoint/2010/main" val="38042044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6C1C707B-6A8E-4AF1-810C-4A588375B500}"/>
              </a:ext>
            </a:extLst>
          </p:cNvPr>
          <p:cNvSpPr>
            <a:spLocks xmlns:a="http://schemas.openxmlformats.org/drawingml/2006/main" noGrp="1"/>
          </p:cNvSpPr>
          <p:nvPr/>
        </p:nvSpPr>
        <p:spPr>
          <a:xfrm xmlns:a="http://schemas.openxmlformats.org/drawingml/2006/main">
            <a:off x="495300" y="323850"/>
            <a:ext cx="11201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a:solidFill>
                  <a:srgbClr val="0F172A"/>
                </a:solidFill>
              </a:defRPr>
            </a:pPr>
            <a:r>
              <a:rPr sz="2850" b="1">
                <a:solidFill>
                  <a:srgbClr val="0F172A"/>
                </a:solidFill>
              </a:rPr>
              <a:t>Les comportements observés restent suggestifs</a:t>
            </a:r>
          </a:p>
        </p:txBody>
      </p:sp>
      <p:sp>
        <p:nvSpPr>
          <p:cNvPr id="2" name="">
            <a:extLst xmlns:a="http://schemas.openxmlformats.org/drawingml/2006/main">
              <a:ext uri="{FF2B5EF4-FFF2-40B4-BE49-F238E27FC236}">
                <a16:creationId xmlns:a16="http://schemas.microsoft.com/office/drawing/2014/main" id="{B7CC9B0B-AE8F-4ADB-8B9C-64569659AFA0}"/>
              </a:ext>
            </a:extLst>
          </p:cNvPr>
          <p:cNvSpPr>
            <a:spLocks xmlns:a="http://schemas.openxmlformats.org/drawingml/2006/main" noGrp="1"/>
          </p:cNvSpPr>
          <p:nvPr/>
        </p:nvSpPr>
        <p:spPr>
          <a:xfrm xmlns:a="http://schemas.openxmlformats.org/drawingml/2006/main">
            <a:off x="495300" y="914400"/>
            <a:ext cx="1120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475569"/>
                </a:solidFill>
              </a:defRPr>
            </a:pPr>
            <a:r>
              <a:rPr sz="1500" b="0">
                <a:solidFill>
                  <a:srgbClr val="475569"/>
                </a:solidFill>
              </a:rPr>
              <a:t>Les corrélations portent sur huit jours indépendants; leur puissance statistique reste limitée.</a:t>
            </a:r>
          </a:p>
        </p:txBody>
      </p:sp>
      <p:sp>
        <p:nvSpPr>
          <p:cNvPr id="3" name="">
            <a:extLst xmlns:a="http://schemas.openxmlformats.org/drawingml/2006/main">
              <a:ext uri="{FF2B5EF4-FFF2-40B4-BE49-F238E27FC236}">
                <a16:creationId xmlns:a16="http://schemas.microsoft.com/office/drawing/2014/main" id="{501B3A8C-8A05-4D4E-81C9-387442871814}"/>
              </a:ext>
            </a:extLst>
          </p:cNvPr>
          <p:cNvSpPr>
            <a:spLocks xmlns:a="http://schemas.openxmlformats.org/drawingml/2006/main" noGrp="1"/>
          </p:cNvSpPr>
          <p:nvPr/>
        </p:nvSpPr>
        <p:spPr>
          <a:xfrm xmlns:a="http://schemas.openxmlformats.org/drawingml/2006/main">
            <a:off x="495300" y="1257300"/>
            <a:ext cx="112014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6C2B843C-4510-4FF5-8D1B-C340FDBB9206}"/>
              </a:ext>
            </a:extLst>
          </p:cNvPr>
          <p:cNvSpPr>
            <a:spLocks xmlns:a="http://schemas.openxmlformats.org/drawingml/2006/main" noGrp="1"/>
          </p:cNvSpPr>
          <p:nvPr/>
        </p:nvSpPr>
        <p:spPr>
          <a:xfrm xmlns:a="http://schemas.openxmlformats.org/drawingml/2006/main">
            <a:off x="495300" y="64198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475569"/>
                </a:solidFill>
              </a:defRPr>
            </a:pPr>
            <a:r>
              <a:rPr sz="1050" b="0">
                <a:solidFill>
                  <a:srgbClr val="475569"/>
                </a:solidFill>
              </a:rPr>
              <a:t>Projet McGill / WELL-E - Objectif 2</a:t>
            </a:r>
          </a:p>
        </p:txBody>
      </p:sp>
      <p:sp>
        <p:nvSpPr>
          <p:cNvPr id="5" name="">
            <a:extLst xmlns:a="http://schemas.openxmlformats.org/drawingml/2006/main">
              <a:ext uri="{FF2B5EF4-FFF2-40B4-BE49-F238E27FC236}">
                <a16:creationId xmlns:a16="http://schemas.microsoft.com/office/drawing/2014/main" id="{6A198705-A769-4C2F-B23D-62EBC6CD0599}"/>
              </a:ext>
            </a:extLst>
          </p:cNvPr>
          <p:cNvSpPr>
            <a:spLocks xmlns:a="http://schemas.openxmlformats.org/drawingml/2006/main" noGrp="1"/>
          </p:cNvSpPr>
          <p:nvPr/>
        </p:nvSpPr>
        <p:spPr>
          <a:xfrm xmlns:a="http://schemas.openxmlformats.org/drawingml/2006/main">
            <a:off x="11334750" y="6419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a:solidFill>
                  <a:srgbClr val="475569"/>
                </a:solidFill>
              </a:defRPr>
            </a:pPr>
            <a:r>
              <a:rPr sz="1050" b="0">
                <a:solidFill>
                  <a:srgbClr val="475569"/>
                </a:solidFill>
              </a:rPr>
              <a:t>9</a:t>
            </a:r>
          </a:p>
        </p:txBody>
      </p:sp>
      <p:graphicFrame>
        <p:nvGraphicFramePr>
          <p:cNvPr id="21" name=""/>
          <p:cNvGraphicFramePr/>
          <p:nvPr/>
        </p:nvGraphicFramePr>
        <p:xfrm>
          <a:off xmlns:a="http://schemas.openxmlformats.org/drawingml/2006/main" x="495300" y="1504950"/>
          <a:ext xmlns:a="http://schemas.openxmlformats.org/drawingml/2006/main" cx="11201400" cy="2667000"/>
        </p:xfrm>
        <a:graphic xmlns:a="http://schemas.openxmlformats.org/drawingml/2006/main">
          <a:graphicData uri="http://schemas.openxmlformats.org/drawingml/2006/table">
            <a:tbl>
              <a:tblPr firstRow="1" bandRow="1"/>
              <a:tblGrid>
                <a:gridCol w="4148667"/>
                <a:gridCol w="2489200"/>
                <a:gridCol w="2489200"/>
                <a:gridCol w="2074333"/>
              </a:tblGrid>
              <a:tr h="533400">
                <a:tc>
                  <a:txBody>
                    <a:bodyPr/>
                    <a:lstStyle/>
                    <a:p>
                      <a:r>
                        <a:rPr sz="1050" b="1">
                          <a:solidFill>
                            <a:srgbClr val="FFFFFF"/>
                          </a:solidFill>
                        </a:rPr>
                        <a:t>Comportement</a:t>
                      </a:r>
                    </a:p>
                  </a:txBody>
                  <a:tcPr marL="91440" marR="91440" marT="45720" marB="45720">
                    <a:solidFill>
                      <a:srgbClr val="0B4F7A"/>
                    </a:solidFill>
                  </a:tcPr>
                </a:tc>
                <a:tc>
                  <a:txBody>
                    <a:bodyPr/>
                    <a:lstStyle/>
                    <a:p>
                      <a:r>
                        <a:rPr sz="1050" b="1">
                          <a:solidFill>
                            <a:srgbClr val="FFFFFF"/>
                          </a:solidFill>
                        </a:rPr>
                        <a:t>rho vs THI</a:t>
                      </a:r>
                    </a:p>
                  </a:txBody>
                  <a:tcPr marL="91440" marR="91440" marT="45720" marB="45720">
                    <a:solidFill>
                      <a:srgbClr val="0B4F7A"/>
                    </a:solidFill>
                  </a:tcPr>
                </a:tc>
                <a:tc>
                  <a:txBody>
                    <a:bodyPr/>
                    <a:lstStyle/>
                    <a:p>
                      <a:r>
                        <a:rPr sz="1050" b="1">
                          <a:solidFill>
                            <a:srgbClr val="FFFFFF"/>
                          </a:solidFill>
                        </a:rPr>
                        <a:t>p</a:t>
                      </a:r>
                    </a:p>
                  </a:txBody>
                  <a:tcPr marL="91440" marR="91440" marT="45720" marB="45720">
                    <a:solidFill>
                      <a:srgbClr val="0B4F7A"/>
                    </a:solidFill>
                  </a:tcPr>
                </a:tc>
                <a:tc>
                  <a:txBody>
                    <a:bodyPr/>
                    <a:lstStyle/>
                    <a:p>
                      <a:r>
                        <a:rPr sz="1050" b="1">
                          <a:solidFill>
                            <a:srgbClr val="FFFFFF"/>
                          </a:solidFill>
                        </a:rPr>
                        <a:t>Lecture</a:t>
                      </a:r>
                    </a:p>
                  </a:txBody>
                  <a:tcPr marL="91440" marR="91440" marT="45720" marB="45720">
                    <a:solidFill>
                      <a:srgbClr val="0B4F7A"/>
                    </a:solidFill>
                  </a:tcPr>
                </a:tc>
              </a:tr>
              <a:tr h="533400">
                <a:tc>
                  <a:txBody>
                    <a:bodyPr/>
                    <a:lstStyle/>
                    <a:p>
                      <a:r>
                        <a:rPr sz="975">
                          <a:solidFill>
                            <a:srgbClr val="0F172A"/>
                          </a:solidFill>
                        </a:rPr>
                        <a:t>Alimentation</a:t>
                      </a:r>
                    </a:p>
                  </a:txBody>
                  <a:tcPr marL="91440" marR="91440" marT="45720" marB="45720"/>
                </a:tc>
                <a:tc>
                  <a:txBody>
                    <a:bodyPr/>
                    <a:lstStyle/>
                    <a:p>
                      <a:r>
                        <a:rPr sz="975">
                          <a:solidFill>
                            <a:srgbClr val="0F172A"/>
                          </a:solidFill>
                        </a:rPr>
                        <a:t>+0,738</a:t>
                      </a:r>
                    </a:p>
                  </a:txBody>
                  <a:tcPr marL="91440" marR="91440" marT="45720" marB="45720"/>
                </a:tc>
                <a:tc>
                  <a:txBody>
                    <a:bodyPr/>
                    <a:lstStyle/>
                    <a:p>
                      <a:r>
                        <a:rPr sz="975">
                          <a:solidFill>
                            <a:srgbClr val="0F172A"/>
                          </a:solidFill>
                        </a:rPr>
                        <a:t>0,037</a:t>
                      </a:r>
                    </a:p>
                  </a:txBody>
                  <a:tcPr marL="91440" marR="91440" marT="45720" marB="45720"/>
                </a:tc>
                <a:tc>
                  <a:txBody>
                    <a:bodyPr/>
                    <a:lstStyle/>
                    <a:p>
                      <a:r>
                        <a:rPr sz="975">
                          <a:solidFill>
                            <a:srgbClr val="0F172A"/>
                          </a:solidFill>
                        </a:rPr>
                        <a:t>Suggestif</a:t>
                      </a:r>
                    </a:p>
                  </a:txBody>
                  <a:tcPr marL="91440" marR="91440" marT="45720" marB="45720"/>
                </a:tc>
              </a:tr>
              <a:tr h="533400">
                <a:tc>
                  <a:txBody>
                    <a:bodyPr/>
                    <a:lstStyle/>
                    <a:p>
                      <a:r>
                        <a:rPr sz="975">
                          <a:solidFill>
                            <a:srgbClr val="0F172A"/>
                          </a:solidFill>
                        </a:rPr>
                        <a:t>Locomotion</a:t>
                      </a:r>
                    </a:p>
                  </a:txBody>
                  <a:tcPr marL="91440" marR="91440" marT="45720" marB="45720"/>
                </a:tc>
                <a:tc>
                  <a:txBody>
                    <a:bodyPr/>
                    <a:lstStyle/>
                    <a:p>
                      <a:r>
                        <a:rPr sz="975">
                          <a:solidFill>
                            <a:srgbClr val="0F172A"/>
                          </a:solidFill>
                        </a:rPr>
                        <a:t>-0,098</a:t>
                      </a:r>
                    </a:p>
                  </a:txBody>
                  <a:tcPr marL="91440" marR="91440" marT="45720" marB="45720"/>
                </a:tc>
                <a:tc>
                  <a:txBody>
                    <a:bodyPr/>
                    <a:lstStyle/>
                    <a:p>
                      <a:r>
                        <a:rPr sz="975">
                          <a:solidFill>
                            <a:srgbClr val="0F172A"/>
                          </a:solidFill>
                        </a:rPr>
                        <a:t>0,818</a:t>
                      </a:r>
                    </a:p>
                  </a:txBody>
                  <a:tcPr marL="91440" marR="91440" marT="45720" marB="45720"/>
                </a:tc>
                <a:tc>
                  <a:txBody>
                    <a:bodyPr/>
                    <a:lstStyle/>
                    <a:p>
                      <a:r>
                        <a:rPr sz="975">
                          <a:solidFill>
                            <a:srgbClr val="0F172A"/>
                          </a:solidFill>
                        </a:rPr>
                        <a:t>Non significatif</a:t>
                      </a:r>
                    </a:p>
                  </a:txBody>
                  <a:tcPr marL="91440" marR="91440" marT="45720" marB="45720"/>
                </a:tc>
              </a:tr>
              <a:tr h="533400">
                <a:tc>
                  <a:txBody>
                    <a:bodyPr/>
                    <a:lstStyle/>
                    <a:p>
                      <a:r>
                        <a:rPr sz="975">
                          <a:solidFill>
                            <a:srgbClr val="0F172A"/>
                          </a:solidFill>
                        </a:rPr>
                        <a:t>Exploration</a:t>
                      </a:r>
                    </a:p>
                  </a:txBody>
                  <a:tcPr marL="91440" marR="91440" marT="45720" marB="45720"/>
                </a:tc>
                <a:tc>
                  <a:txBody>
                    <a:bodyPr/>
                    <a:lstStyle/>
                    <a:p>
                      <a:r>
                        <a:rPr sz="975">
                          <a:solidFill>
                            <a:srgbClr val="0F172A"/>
                          </a:solidFill>
                        </a:rPr>
                        <a:t>-0,595</a:t>
                      </a:r>
                    </a:p>
                  </a:txBody>
                  <a:tcPr marL="91440" marR="91440" marT="45720" marB="45720"/>
                </a:tc>
                <a:tc>
                  <a:txBody>
                    <a:bodyPr/>
                    <a:lstStyle/>
                    <a:p>
                      <a:r>
                        <a:rPr sz="975">
                          <a:solidFill>
                            <a:srgbClr val="0F172A"/>
                          </a:solidFill>
                        </a:rPr>
                        <a:t>0,120</a:t>
                      </a:r>
                    </a:p>
                  </a:txBody>
                  <a:tcPr marL="91440" marR="91440" marT="45720" marB="45720"/>
                </a:tc>
                <a:tc>
                  <a:txBody>
                    <a:bodyPr/>
                    <a:lstStyle/>
                    <a:p>
                      <a:r>
                        <a:rPr sz="975">
                          <a:solidFill>
                            <a:srgbClr val="0F172A"/>
                          </a:solidFill>
                        </a:rPr>
                        <a:t>Non significatif</a:t>
                      </a:r>
                    </a:p>
                  </a:txBody>
                  <a:tcPr marL="91440" marR="91440" marT="45720" marB="45720"/>
                </a:tc>
              </a:tr>
              <a:tr h="533400">
                <a:tc>
                  <a:txBody>
                    <a:bodyPr/>
                    <a:lstStyle/>
                    <a:p>
                      <a:r>
                        <a:rPr sz="975">
                          <a:solidFill>
                            <a:srgbClr val="0F172A"/>
                          </a:solidFill>
                        </a:rPr>
                        <a:t>Social</a:t>
                      </a:r>
                    </a:p>
                  </a:txBody>
                  <a:tcPr marL="91440" marR="91440" marT="45720" marB="45720"/>
                </a:tc>
                <a:tc>
                  <a:txBody>
                    <a:bodyPr/>
                    <a:lstStyle/>
                    <a:p>
                      <a:r>
                        <a:rPr sz="975">
                          <a:solidFill>
                            <a:srgbClr val="0F172A"/>
                          </a:solidFill>
                        </a:rPr>
                        <a:t>-0,357</a:t>
                      </a:r>
                    </a:p>
                  </a:txBody>
                  <a:tcPr marL="91440" marR="91440" marT="45720" marB="45720"/>
                </a:tc>
                <a:tc>
                  <a:txBody>
                    <a:bodyPr/>
                    <a:lstStyle/>
                    <a:p>
                      <a:r>
                        <a:rPr sz="975">
                          <a:solidFill>
                            <a:srgbClr val="0F172A"/>
                          </a:solidFill>
                        </a:rPr>
                        <a:t>0,385</a:t>
                      </a:r>
                    </a:p>
                  </a:txBody>
                  <a:tcPr marL="91440" marR="91440" marT="45720" marB="45720"/>
                </a:tc>
                <a:tc>
                  <a:txBody>
                    <a:bodyPr/>
                    <a:lstStyle/>
                    <a:p>
                      <a:r>
                        <a:rPr sz="975">
                          <a:solidFill>
                            <a:srgbClr val="0F172A"/>
                          </a:solidFill>
                        </a:rPr>
                        <a:t>Non significatif</a:t>
                      </a:r>
                    </a:p>
                  </a:txBody>
                  <a:tcPr marL="91440" marR="91440" marT="45720" marB="45720"/>
                </a:tc>
              </a:tr>
            </a:tbl>
          </a:graphicData>
        </a:graphic>
      </p:graphicFrame>
      <p:sp>
        <p:nvSpPr>
          <p:cNvPr id="7" name="">
            <a:extLst xmlns:a="http://schemas.openxmlformats.org/drawingml/2006/main">
              <a:ext uri="{FF2B5EF4-FFF2-40B4-BE49-F238E27FC236}">
                <a16:creationId xmlns:a16="http://schemas.microsoft.com/office/drawing/2014/main" id="{D2638B49-821A-41CF-8F3C-67FC9976EE9F}"/>
              </a:ext>
            </a:extLst>
          </p:cNvPr>
          <p:cNvSpPr>
            <a:spLocks xmlns:a="http://schemas.openxmlformats.org/drawingml/2006/main" noGrp="1"/>
          </p:cNvSpPr>
          <p:nvPr/>
        </p:nvSpPr>
        <p:spPr>
          <a:xfrm xmlns:a="http://schemas.openxmlformats.org/drawingml/2006/main">
            <a:off x="495300" y="4629150"/>
            <a:ext cx="5276850" cy="1066800"/>
          </a:xfrm>
          <a:prstGeom xmlns:a="http://schemas.openxmlformats.org/drawingml/2006/main" prst="rect">
            <a:avLst/>
          </a:prstGeom>
          <a:solidFill xmlns:a="http://schemas.openxmlformats.org/drawingml/2006/main">
            <a:srgbClr val="EEF6FB"/>
          </a:solidFill>
          <a:ln xmlns:a="http://schemas.openxmlformats.org/drawingml/2006/main" w="9525">
            <a:solidFill>
              <a:srgbClr val="D3D7DE"/>
            </a:solidFill>
            <a:prstDash val="solid"/>
          </a:ln>
        </p:spPr>
      </p:sp>
      <p:sp>
        <p:nvSpPr>
          <p:cNvPr id="8" name="">
            <a:extLst xmlns:a="http://schemas.openxmlformats.org/drawingml/2006/main">
              <a:ext uri="{FF2B5EF4-FFF2-40B4-BE49-F238E27FC236}">
                <a16:creationId xmlns:a16="http://schemas.microsoft.com/office/drawing/2014/main" id="{BA08EA36-C233-4585-8C50-69E768672F70}"/>
              </a:ext>
            </a:extLst>
          </p:cNvPr>
          <p:cNvSpPr>
            <a:spLocks xmlns:a="http://schemas.openxmlformats.org/drawingml/2006/main" noGrp="1"/>
          </p:cNvSpPr>
          <p:nvPr/>
        </p:nvSpPr>
        <p:spPr>
          <a:xfrm xmlns:a="http://schemas.openxmlformats.org/drawingml/2006/main">
            <a:off x="704850" y="4819650"/>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0F172A"/>
                </a:solidFill>
              </a:defRPr>
            </a:pPr>
            <a:r>
              <a:rPr sz="1650" b="1">
                <a:solidFill>
                  <a:srgbClr val="0F172A"/>
                </a:solidFill>
              </a:rPr>
              <a:t>Ce que cela appuie</a:t>
            </a:r>
          </a:p>
        </p:txBody>
      </p:sp>
      <p:sp>
        <p:nvSpPr>
          <p:cNvPr id="9" name="">
            <a:extLst xmlns:a="http://schemas.openxmlformats.org/drawingml/2006/main">
              <a:ext uri="{FF2B5EF4-FFF2-40B4-BE49-F238E27FC236}">
                <a16:creationId xmlns:a16="http://schemas.microsoft.com/office/drawing/2014/main" id="{740E816B-8CB3-4B5C-B3D0-8509644CDC24}"/>
              </a:ext>
            </a:extLst>
          </p:cNvPr>
          <p:cNvSpPr>
            <a:spLocks xmlns:a="http://schemas.openxmlformats.org/drawingml/2006/main" noGrp="1"/>
          </p:cNvSpPr>
          <p:nvPr/>
        </p:nvSpPr>
        <p:spPr>
          <a:xfrm xmlns:a="http://schemas.openxmlformats.org/drawingml/2006/main">
            <a:off x="704850" y="51435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475569"/>
                </a:solidFill>
              </a:defRPr>
            </a:pPr>
            <a:r>
              <a:rPr sz="1275" b="0">
                <a:solidFill>
                  <a:srgbClr val="475569"/>
                </a:solidFill>
              </a:rPr>
              <a:t>Un signal quotidien positif entre THI et alimentation, à confirmer sur davantage de jours.</a:t>
            </a:r>
          </a:p>
        </p:txBody>
      </p:sp>
      <p:sp>
        <p:nvSpPr>
          <p:cNvPr id="10" name="">
            <a:extLst xmlns:a="http://schemas.openxmlformats.org/drawingml/2006/main">
              <a:ext uri="{FF2B5EF4-FFF2-40B4-BE49-F238E27FC236}">
                <a16:creationId xmlns:a16="http://schemas.microsoft.com/office/drawing/2014/main" id="{BA64EF5F-65A9-4A05-8E3E-81FB8A2F9C00}"/>
              </a:ext>
            </a:extLst>
          </p:cNvPr>
          <p:cNvSpPr>
            <a:spLocks xmlns:a="http://schemas.openxmlformats.org/drawingml/2006/main" noGrp="1"/>
          </p:cNvSpPr>
          <p:nvPr/>
        </p:nvSpPr>
        <p:spPr>
          <a:xfrm xmlns:a="http://schemas.openxmlformats.org/drawingml/2006/main">
            <a:off x="6419850" y="4629150"/>
            <a:ext cx="5276850" cy="1066800"/>
          </a:xfrm>
          <a:prstGeom xmlns:a="http://schemas.openxmlformats.org/drawingml/2006/main" prst="rect">
            <a:avLst/>
          </a:prstGeom>
          <a:solidFill xmlns:a="http://schemas.openxmlformats.org/drawingml/2006/main">
            <a:srgbClr val="F8FAFC"/>
          </a:solidFill>
          <a:ln xmlns:a="http://schemas.openxmlformats.org/drawingml/2006/main" w="9525">
            <a:solidFill>
              <a:srgbClr val="D3D7DE"/>
            </a:solidFill>
            <a:prstDash val="solid"/>
          </a:ln>
        </p:spPr>
      </p:sp>
      <p:sp>
        <p:nvSpPr>
          <p:cNvPr id="11" name="">
            <a:extLst xmlns:a="http://schemas.openxmlformats.org/drawingml/2006/main">
              <a:ext uri="{FF2B5EF4-FFF2-40B4-BE49-F238E27FC236}">
                <a16:creationId xmlns:a16="http://schemas.microsoft.com/office/drawing/2014/main" id="{0C22E435-5C7A-49D2-BEC2-BE7D66531DE1}"/>
              </a:ext>
            </a:extLst>
          </p:cNvPr>
          <p:cNvSpPr>
            <a:spLocks xmlns:a="http://schemas.openxmlformats.org/drawingml/2006/main" noGrp="1"/>
          </p:cNvSpPr>
          <p:nvPr/>
        </p:nvSpPr>
        <p:spPr>
          <a:xfrm xmlns:a="http://schemas.openxmlformats.org/drawingml/2006/main">
            <a:off x="6629400" y="481965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1">
                <a:solidFill>
                  <a:srgbClr val="0F172A"/>
                </a:solidFill>
              </a:defRPr>
            </a:pPr>
            <a:r>
              <a:rPr sz="1650" b="1">
                <a:solidFill>
                  <a:srgbClr val="0F172A"/>
                </a:solidFill>
              </a:rPr>
              <a:t>Ce que cela ne prouve pas</a:t>
            </a:r>
          </a:p>
        </p:txBody>
      </p:sp>
      <p:sp>
        <p:nvSpPr>
          <p:cNvPr id="12" name="">
            <a:extLst xmlns:a="http://schemas.openxmlformats.org/drawingml/2006/main">
              <a:ext uri="{FF2B5EF4-FFF2-40B4-BE49-F238E27FC236}">
                <a16:creationId xmlns:a16="http://schemas.microsoft.com/office/drawing/2014/main" id="{DCFAB03E-03FB-499C-B803-4D796D1C0DB2}"/>
              </a:ext>
            </a:extLst>
          </p:cNvPr>
          <p:cNvSpPr>
            <a:spLocks xmlns:a="http://schemas.openxmlformats.org/drawingml/2006/main" noGrp="1"/>
          </p:cNvSpPr>
          <p:nvPr/>
        </p:nvSpPr>
        <p:spPr>
          <a:xfrm xmlns:a="http://schemas.openxmlformats.org/drawingml/2006/main">
            <a:off x="6629400" y="5143500"/>
            <a:ext cx="4762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75" b="0">
                <a:solidFill>
                  <a:srgbClr val="475569"/>
                </a:solidFill>
              </a:defRPr>
            </a:pPr>
            <a:r>
              <a:rPr sz="1275" b="0">
                <a:solidFill>
                  <a:srgbClr val="475569"/>
                </a:solidFill>
              </a:rPr>
              <a:t>Huit jours ne suffisent pas pour établir un effet stable, indépendant ou causal.</a:t>
            </a:r>
          </a:p>
        </p:txBody>
      </p:sp>
    </p:spTree>
    <p:extLst>
      <p:ext uri="{BB962C8B-B14F-4D97-AF65-F5344CB8AC3E}">
        <p14:creationId xmlns:p14="http://schemas.microsoft.com/office/powerpoint/2010/main" val="34924266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FADD7B1-84BB-48BA-A1A3-08B979D5F6E7}"/>
              </a:ext>
            </a:extLst>
          </p:cNvPr>
          <p:cNvSpPr>
            <a:spLocks xmlns:a="http://schemas.openxmlformats.org/drawingml/2006/main" noGrp="1"/>
          </p:cNvSpPr>
          <p:nvPr/>
        </p:nvSpPr>
        <p:spPr>
          <a:xfrm xmlns:a="http://schemas.openxmlformats.org/drawingml/2006/main">
            <a:off x="495300" y="323850"/>
            <a:ext cx="11201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a:solidFill>
                  <a:srgbClr val="0F172A"/>
                </a:solidFill>
              </a:defRPr>
            </a:pPr>
            <a:r>
              <a:rPr sz="2850" b="1">
                <a:solidFill>
                  <a:srgbClr val="0F172A"/>
                </a:solidFill>
              </a:rPr>
              <a:t>49 scans trimodaux sur 51</a:t>
            </a:r>
          </a:p>
        </p:txBody>
      </p:sp>
      <p:sp>
        <p:nvSpPr>
          <p:cNvPr id="2" name="">
            <a:extLst xmlns:a="http://schemas.openxmlformats.org/drawingml/2006/main">
              <a:ext uri="{FF2B5EF4-FFF2-40B4-BE49-F238E27FC236}">
                <a16:creationId xmlns:a16="http://schemas.microsoft.com/office/drawing/2014/main" id="{F0F0511A-03AC-474C-B2B1-902E512B693A}"/>
              </a:ext>
            </a:extLst>
          </p:cNvPr>
          <p:cNvSpPr>
            <a:spLocks xmlns:a="http://schemas.openxmlformats.org/drawingml/2006/main" noGrp="1"/>
          </p:cNvSpPr>
          <p:nvPr/>
        </p:nvSpPr>
        <p:spPr>
          <a:xfrm xmlns:a="http://schemas.openxmlformats.org/drawingml/2006/main">
            <a:off x="495300" y="914400"/>
            <a:ext cx="1120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475569"/>
                </a:solidFill>
              </a:defRPr>
            </a:pPr>
            <a:r>
              <a:rPr sz="1500" b="0">
                <a:solidFill>
                  <a:srgbClr val="475569"/>
                </a:solidFill>
              </a:rPr>
              <a:t>Trois modalités fusionnées par vache et par jour.</a:t>
            </a:r>
          </a:p>
        </p:txBody>
      </p:sp>
      <p:sp>
        <p:nvSpPr>
          <p:cNvPr id="3" name="">
            <a:extLst xmlns:a="http://schemas.openxmlformats.org/drawingml/2006/main">
              <a:ext uri="{FF2B5EF4-FFF2-40B4-BE49-F238E27FC236}">
                <a16:creationId xmlns:a16="http://schemas.microsoft.com/office/drawing/2014/main" id="{F4E2F10A-BC1A-4690-82EB-D10F8774CE74}"/>
              </a:ext>
            </a:extLst>
          </p:cNvPr>
          <p:cNvSpPr>
            <a:spLocks xmlns:a="http://schemas.openxmlformats.org/drawingml/2006/main" noGrp="1"/>
          </p:cNvSpPr>
          <p:nvPr/>
        </p:nvSpPr>
        <p:spPr>
          <a:xfrm xmlns:a="http://schemas.openxmlformats.org/drawingml/2006/main">
            <a:off x="495300" y="1257300"/>
            <a:ext cx="112014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A2EA3107-7A94-484F-998D-10B499A718E0}"/>
              </a:ext>
            </a:extLst>
          </p:cNvPr>
          <p:cNvSpPr>
            <a:spLocks xmlns:a="http://schemas.openxmlformats.org/drawingml/2006/main" noGrp="1"/>
          </p:cNvSpPr>
          <p:nvPr/>
        </p:nvSpPr>
        <p:spPr>
          <a:xfrm xmlns:a="http://schemas.openxmlformats.org/drawingml/2006/main">
            <a:off x="495300" y="64198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475569"/>
                </a:solidFill>
              </a:defRPr>
            </a:pPr>
            <a:r>
              <a:rPr sz="1050" b="0">
                <a:solidFill>
                  <a:srgbClr val="475569"/>
                </a:solidFill>
              </a:rPr>
              <a:t>Projet McGill / WELL-E - Objectif 2</a:t>
            </a:r>
          </a:p>
        </p:txBody>
      </p:sp>
      <p:sp>
        <p:nvSpPr>
          <p:cNvPr id="5" name="">
            <a:extLst xmlns:a="http://schemas.openxmlformats.org/drawingml/2006/main">
              <a:ext uri="{FF2B5EF4-FFF2-40B4-BE49-F238E27FC236}">
                <a16:creationId xmlns:a16="http://schemas.microsoft.com/office/drawing/2014/main" id="{197B7DE1-EE3F-4FED-8799-8FEFF6D90BDF}"/>
              </a:ext>
            </a:extLst>
          </p:cNvPr>
          <p:cNvSpPr>
            <a:spLocks xmlns:a="http://schemas.openxmlformats.org/drawingml/2006/main" noGrp="1"/>
          </p:cNvSpPr>
          <p:nvPr/>
        </p:nvSpPr>
        <p:spPr>
          <a:xfrm xmlns:a="http://schemas.openxmlformats.org/drawingml/2006/main">
            <a:off x="11334750" y="6419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a:solidFill>
                  <a:srgbClr val="475569"/>
                </a:solidFill>
              </a:defRPr>
            </a:pPr>
            <a:r>
              <a:rPr sz="1050" b="0">
                <a:solidFill>
                  <a:srgbClr val="475569"/>
                </a:solidFill>
              </a:rPr>
              <a:t>10</a:t>
            </a:r>
          </a:p>
        </p:txBody>
      </p:sp>
      <p:sp>
        <p:nvSpPr>
          <p:cNvPr id="6" name="">
            <a:extLst xmlns:a="http://schemas.openxmlformats.org/drawingml/2006/main">
              <a:ext uri="{FF2B5EF4-FFF2-40B4-BE49-F238E27FC236}">
                <a16:creationId xmlns:a16="http://schemas.microsoft.com/office/drawing/2014/main" id="{A550CB05-29BA-483B-995E-438F65294835}"/>
              </a:ext>
            </a:extLst>
          </p:cNvPr>
          <p:cNvSpPr>
            <a:spLocks xmlns:a="http://schemas.openxmlformats.org/drawingml/2006/main" noGrp="1"/>
          </p:cNvSpPr>
          <p:nvPr/>
        </p:nvSpPr>
        <p:spPr>
          <a:xfrm xmlns:a="http://schemas.openxmlformats.org/drawingml/2006/main">
            <a:off x="495300" y="1714500"/>
            <a:ext cx="3429000" cy="2381250"/>
          </a:xfrm>
          <a:prstGeom xmlns:a="http://schemas.openxmlformats.org/drawingml/2006/main" prst="rect">
            <a:avLst/>
          </a:prstGeom>
          <a:solidFill xmlns:a="http://schemas.openxmlformats.org/drawingml/2006/main">
            <a:srgbClr val="F8FAFC"/>
          </a:solidFill>
          <a:ln xmlns:a="http://schemas.openxmlformats.org/drawingml/2006/main" w="9525">
            <a:solidFill>
              <a:srgbClr val="D3D7DE"/>
            </a:solidFill>
            <a:prstDash val="solid"/>
          </a:ln>
        </p:spPr>
      </p:sp>
      <p:sp>
        <p:nvSpPr>
          <p:cNvPr id="7" name="">
            <a:extLst xmlns:a="http://schemas.openxmlformats.org/drawingml/2006/main">
              <a:ext uri="{FF2B5EF4-FFF2-40B4-BE49-F238E27FC236}">
                <a16:creationId xmlns:a16="http://schemas.microsoft.com/office/drawing/2014/main" id="{1B39F587-7118-4474-8CCE-5841CB49FA6B}"/>
              </a:ext>
            </a:extLst>
          </p:cNvPr>
          <p:cNvSpPr>
            <a:spLocks xmlns:a="http://schemas.openxmlformats.org/drawingml/2006/main" noGrp="1"/>
          </p:cNvSpPr>
          <p:nvPr/>
        </p:nvSpPr>
        <p:spPr>
          <a:xfrm xmlns:a="http://schemas.openxmlformats.org/drawingml/2006/main">
            <a:off x="723900" y="20002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a:solidFill>
                  <a:srgbClr val="0F172A"/>
                </a:solidFill>
              </a:defRPr>
            </a:pPr>
            <a:r>
              <a:rPr sz="1725" b="1">
                <a:solidFill>
                  <a:srgbClr val="0F172A"/>
                </a:solidFill>
              </a:rPr>
              <a:t>51 scans</a:t>
            </a:r>
          </a:p>
        </p:txBody>
      </p:sp>
      <p:sp>
        <p:nvSpPr>
          <p:cNvPr id="8" name="">
            <a:extLst xmlns:a="http://schemas.openxmlformats.org/drawingml/2006/main">
              <a:ext uri="{FF2B5EF4-FFF2-40B4-BE49-F238E27FC236}">
                <a16:creationId xmlns:a16="http://schemas.microsoft.com/office/drawing/2014/main" id="{857A25D8-EA60-4887-8FC8-85DCE085B244}"/>
              </a:ext>
            </a:extLst>
          </p:cNvPr>
          <p:cNvSpPr>
            <a:spLocks xmlns:a="http://schemas.openxmlformats.org/drawingml/2006/main" noGrp="1"/>
          </p:cNvSpPr>
          <p:nvPr/>
        </p:nvSpPr>
        <p:spPr>
          <a:xfrm xmlns:a="http://schemas.openxmlformats.org/drawingml/2006/main">
            <a:off x="723900" y="2476500"/>
            <a:ext cx="2952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475569"/>
                </a:solidFill>
              </a:defRPr>
            </a:pPr>
            <a:r>
              <a:rPr sz="1500" b="0">
                <a:solidFill>
                  <a:srgbClr val="475569"/>
                </a:solidFill>
              </a:rPr>
              <a:t>Toutes les observations comportementales sont conservées</a:t>
            </a:r>
          </a:p>
          <a:p xmlns:a="http://schemas.openxmlformats.org/drawingml/2006/main">
            <a:pPr algn="l">
              <a:buNone/>
              <a:defRPr sz="1500" b="0">
                <a:solidFill>
                  <a:srgbClr val="475569"/>
                </a:solidFill>
              </a:defRPr>
            </a:pPr>
            <a:r>
              <a:rPr sz="1500" b="0">
                <a:solidFill>
                  <a:srgbClr val="475569"/>
                </a:solidFill>
              </a:rPr>
              <a:t>8 vaches et 8 jours</a:t>
            </a:r>
          </a:p>
          <a:p xmlns:a="http://schemas.openxmlformats.org/drawingml/2006/main">
            <a:pPr algn="l">
              <a:buNone/>
              <a:defRPr sz="1500" b="0">
                <a:solidFill>
                  <a:srgbClr val="475569"/>
                </a:solidFill>
              </a:defRPr>
            </a:pPr>
            <a:r>
              <a:rPr sz="1500" b="0">
                <a:solidFill>
                  <a:srgbClr val="475569"/>
                </a:solidFill>
              </a:rPr>
              <a:t>Résolution vache-jour-scan</a:t>
            </a:r>
          </a:p>
        </p:txBody>
      </p:sp>
      <p:sp>
        <p:nvSpPr>
          <p:cNvPr id="9" name="">
            <a:extLst xmlns:a="http://schemas.openxmlformats.org/drawingml/2006/main">
              <a:ext uri="{FF2B5EF4-FFF2-40B4-BE49-F238E27FC236}">
                <a16:creationId xmlns:a16="http://schemas.microsoft.com/office/drawing/2014/main" id="{8F274342-283E-4666-9578-D17D1EE59A2F}"/>
              </a:ext>
            </a:extLst>
          </p:cNvPr>
          <p:cNvSpPr>
            <a:spLocks xmlns:a="http://schemas.openxmlformats.org/drawingml/2006/main" noGrp="1"/>
          </p:cNvSpPr>
          <p:nvPr/>
        </p:nvSpPr>
        <p:spPr>
          <a:xfrm xmlns:a="http://schemas.openxmlformats.org/drawingml/2006/main">
            <a:off x="4352925" y="1714500"/>
            <a:ext cx="3429000" cy="2381250"/>
          </a:xfrm>
          <a:prstGeom xmlns:a="http://schemas.openxmlformats.org/drawingml/2006/main" prst="rect">
            <a:avLst/>
          </a:prstGeom>
          <a:solidFill xmlns:a="http://schemas.openxmlformats.org/drawingml/2006/main">
            <a:srgbClr val="F8FAFC"/>
          </a:solidFill>
          <a:ln xmlns:a="http://schemas.openxmlformats.org/drawingml/2006/main" w="9525">
            <a:solidFill>
              <a:srgbClr val="D3D7DE"/>
            </a:solidFill>
            <a:prstDash val="solid"/>
          </a:ln>
        </p:spPr>
      </p:sp>
      <p:sp>
        <p:nvSpPr>
          <p:cNvPr id="10" name="">
            <a:extLst xmlns:a="http://schemas.openxmlformats.org/drawingml/2006/main">
              <a:ext uri="{FF2B5EF4-FFF2-40B4-BE49-F238E27FC236}">
                <a16:creationId xmlns:a16="http://schemas.microsoft.com/office/drawing/2014/main" id="{A38D15F2-A6E2-4F68-B71A-B35499A5C8B3}"/>
              </a:ext>
            </a:extLst>
          </p:cNvPr>
          <p:cNvSpPr>
            <a:spLocks xmlns:a="http://schemas.openxmlformats.org/drawingml/2006/main" noGrp="1"/>
          </p:cNvSpPr>
          <p:nvPr/>
        </p:nvSpPr>
        <p:spPr>
          <a:xfrm xmlns:a="http://schemas.openxmlformats.org/drawingml/2006/main">
            <a:off x="4581525" y="20002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a:solidFill>
                  <a:srgbClr val="0F172A"/>
                </a:solidFill>
              </a:defRPr>
            </a:pPr>
            <a:r>
              <a:rPr sz="1725" b="1">
                <a:solidFill>
                  <a:srgbClr val="0F172A"/>
                </a:solidFill>
              </a:rPr>
              <a:t>49 complets</a:t>
            </a:r>
          </a:p>
        </p:txBody>
      </p:sp>
      <p:sp>
        <p:nvSpPr>
          <p:cNvPr id="11" name="">
            <a:extLst xmlns:a="http://schemas.openxmlformats.org/drawingml/2006/main">
              <a:ext uri="{FF2B5EF4-FFF2-40B4-BE49-F238E27FC236}">
                <a16:creationId xmlns:a16="http://schemas.microsoft.com/office/drawing/2014/main" id="{BD21F608-6BFE-4D6A-981D-8B01A292C0E5}"/>
              </a:ext>
            </a:extLst>
          </p:cNvPr>
          <p:cNvSpPr>
            <a:spLocks xmlns:a="http://schemas.openxmlformats.org/drawingml/2006/main" noGrp="1"/>
          </p:cNvSpPr>
          <p:nvPr/>
        </p:nvSpPr>
        <p:spPr>
          <a:xfrm xmlns:a="http://schemas.openxmlformats.org/drawingml/2006/main">
            <a:off x="4581525" y="2476500"/>
            <a:ext cx="2952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475569"/>
                </a:solidFill>
              </a:defRPr>
            </a:pPr>
            <a:r>
              <a:rPr sz="1500" b="0">
                <a:solidFill>
                  <a:srgbClr val="475569"/>
                </a:solidFill>
              </a:rPr>
              <a:t>IceTag + HOBO + comportement disponibles</a:t>
            </a:r>
          </a:p>
          <a:p xmlns:a="http://schemas.openxmlformats.org/drawingml/2006/main">
            <a:pPr algn="l">
              <a:buNone/>
              <a:defRPr sz="1500" b="0">
                <a:solidFill>
                  <a:srgbClr val="475569"/>
                </a:solidFill>
              </a:defRPr>
            </a:pPr>
            <a:r>
              <a:rPr sz="1500" b="0">
                <a:solidFill>
                  <a:srgbClr val="475569"/>
                </a:solidFill>
              </a:rPr>
              <a:t>96,1 % des scans</a:t>
            </a:r>
          </a:p>
          <a:p xmlns:a="http://schemas.openxmlformats.org/drawingml/2006/main">
            <a:pPr algn="l">
              <a:buNone/>
              <a:defRPr sz="1500" b="0">
                <a:solidFill>
                  <a:srgbClr val="475569"/>
                </a:solidFill>
              </a:defRPr>
            </a:pPr>
            <a:r>
              <a:rPr sz="1500" b="0">
                <a:solidFill>
                  <a:srgbClr val="475569"/>
                </a:solidFill>
              </a:rPr>
              <a:t>Table trimodale exploitable</a:t>
            </a:r>
          </a:p>
        </p:txBody>
      </p:sp>
      <p:sp>
        <p:nvSpPr>
          <p:cNvPr id="12" name="">
            <a:extLst xmlns:a="http://schemas.openxmlformats.org/drawingml/2006/main">
              <a:ext uri="{FF2B5EF4-FFF2-40B4-BE49-F238E27FC236}">
                <a16:creationId xmlns:a16="http://schemas.microsoft.com/office/drawing/2014/main" id="{62D64805-5447-4560-BECD-0A630F950C06}"/>
              </a:ext>
            </a:extLst>
          </p:cNvPr>
          <p:cNvSpPr>
            <a:spLocks xmlns:a="http://schemas.openxmlformats.org/drawingml/2006/main" noGrp="1"/>
          </p:cNvSpPr>
          <p:nvPr/>
        </p:nvSpPr>
        <p:spPr>
          <a:xfrm xmlns:a="http://schemas.openxmlformats.org/drawingml/2006/main">
            <a:off x="8210550" y="1714500"/>
            <a:ext cx="3429000" cy="2381250"/>
          </a:xfrm>
          <a:prstGeom xmlns:a="http://schemas.openxmlformats.org/drawingml/2006/main" prst="rect">
            <a:avLst/>
          </a:prstGeom>
          <a:solidFill xmlns:a="http://schemas.openxmlformats.org/drawingml/2006/main">
            <a:srgbClr val="FFF7ED"/>
          </a:solidFill>
          <a:ln xmlns:a="http://schemas.openxmlformats.org/drawingml/2006/main" w="9525">
            <a:solidFill>
              <a:srgbClr val="D3D7DE"/>
            </a:solidFill>
            <a:prstDash val="solid"/>
          </a:ln>
        </p:spPr>
      </p:sp>
      <p:sp>
        <p:nvSpPr>
          <p:cNvPr id="13" name="">
            <a:extLst xmlns:a="http://schemas.openxmlformats.org/drawingml/2006/main">
              <a:ext uri="{FF2B5EF4-FFF2-40B4-BE49-F238E27FC236}">
                <a16:creationId xmlns:a16="http://schemas.microsoft.com/office/drawing/2014/main" id="{65574BE7-38B0-47F5-8EB5-B4F523D39B4A}"/>
              </a:ext>
            </a:extLst>
          </p:cNvPr>
          <p:cNvSpPr>
            <a:spLocks xmlns:a="http://schemas.openxmlformats.org/drawingml/2006/main" noGrp="1"/>
          </p:cNvSpPr>
          <p:nvPr/>
        </p:nvSpPr>
        <p:spPr>
          <a:xfrm xmlns:a="http://schemas.openxmlformats.org/drawingml/2006/main">
            <a:off x="8439150" y="20002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25" b="1">
                <a:solidFill>
                  <a:srgbClr val="0F172A"/>
                </a:solidFill>
              </a:defRPr>
            </a:pPr>
            <a:r>
              <a:rPr sz="1725" b="1">
                <a:solidFill>
                  <a:srgbClr val="0F172A"/>
                </a:solidFill>
              </a:rPr>
              <a:t>2 incomplets</a:t>
            </a:r>
          </a:p>
        </p:txBody>
      </p:sp>
      <p:sp>
        <p:nvSpPr>
          <p:cNvPr id="14" name="">
            <a:extLst xmlns:a="http://schemas.openxmlformats.org/drawingml/2006/main">
              <a:ext uri="{FF2B5EF4-FFF2-40B4-BE49-F238E27FC236}">
                <a16:creationId xmlns:a16="http://schemas.microsoft.com/office/drawing/2014/main" id="{4F7F88F1-96E0-454D-9CFE-F9AA9984FD72}"/>
              </a:ext>
            </a:extLst>
          </p:cNvPr>
          <p:cNvSpPr>
            <a:spLocks xmlns:a="http://schemas.openxmlformats.org/drawingml/2006/main" noGrp="1"/>
          </p:cNvSpPr>
          <p:nvPr/>
        </p:nvSpPr>
        <p:spPr>
          <a:xfrm xmlns:a="http://schemas.openxmlformats.org/drawingml/2006/main">
            <a:off x="8439150" y="2476500"/>
            <a:ext cx="2952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475569"/>
                </a:solidFill>
              </a:defRPr>
            </a:pPr>
            <a:r>
              <a:rPr sz="1500" b="0">
                <a:solidFill>
                  <a:srgbClr val="475569"/>
                </a:solidFill>
              </a:rPr>
              <a:t>Vache 5169</a:t>
            </a:r>
          </a:p>
          <a:p xmlns:a="http://schemas.openxmlformats.org/drawingml/2006/main">
            <a:pPr algn="l">
              <a:buNone/>
              <a:defRPr sz="1500" b="0">
                <a:solidFill>
                  <a:srgbClr val="475569"/>
                </a:solidFill>
              </a:defRPr>
            </a:pPr>
            <a:r>
              <a:rPr sz="1500" b="0">
                <a:solidFill>
                  <a:srgbClr val="475569"/>
                </a:solidFill>
              </a:rPr>
              <a:t>16 et 23 août 2019</a:t>
            </a:r>
          </a:p>
          <a:p xmlns:a="http://schemas.openxmlformats.org/drawingml/2006/main">
            <a:pPr algn="l">
              <a:buNone/>
              <a:defRPr sz="1500" b="0">
                <a:solidFill>
                  <a:srgbClr val="475569"/>
                </a:solidFill>
              </a:defRPr>
            </a:pPr>
            <a:r>
              <a:rPr sz="1500" b="0">
                <a:solidFill>
                  <a:srgbClr val="475569"/>
                </a:solidFill>
              </a:rPr>
              <a:t>Activité absente, non imputée</a:t>
            </a:r>
          </a:p>
        </p:txBody>
      </p:sp>
      <p:sp>
        <p:nvSpPr>
          <p:cNvPr id="15" name="">
            <a:extLst xmlns:a="http://schemas.openxmlformats.org/drawingml/2006/main">
              <a:ext uri="{FF2B5EF4-FFF2-40B4-BE49-F238E27FC236}">
                <a16:creationId xmlns:a16="http://schemas.microsoft.com/office/drawing/2014/main" id="{6A5F6E50-4471-4202-A796-5A2EC9012B3E}"/>
              </a:ext>
            </a:extLst>
          </p:cNvPr>
          <p:cNvSpPr>
            <a:spLocks xmlns:a="http://schemas.openxmlformats.org/drawingml/2006/main" noGrp="1"/>
          </p:cNvSpPr>
          <p:nvPr/>
        </p:nvSpPr>
        <p:spPr>
          <a:xfrm xmlns:a="http://schemas.openxmlformats.org/drawingml/2006/main">
            <a:off x="495300" y="4781550"/>
            <a:ext cx="112014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0B4F7A"/>
                </a:solidFill>
              </a:defRPr>
            </a:pPr>
            <a:r>
              <a:rPr sz="1800" b="1">
                <a:solidFill>
                  <a:srgbClr val="0B4F7A"/>
                </a:solidFill>
              </a:rPr>
              <a:t>Lecture : documenter explicitement deux scans non appariés est préférable à une imputation cachée ou à leur suppression silencieuse.</a:t>
            </a:r>
          </a:p>
        </p:txBody>
      </p:sp>
    </p:spTree>
    <p:extLst>
      <p:ext uri="{BB962C8B-B14F-4D97-AF65-F5344CB8AC3E}">
        <p14:creationId xmlns:p14="http://schemas.microsoft.com/office/powerpoint/2010/main" val="185140373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21767895-DF87-4B0C-BF82-FEA9A1B4B6CC}"/>
              </a:ext>
            </a:extLst>
          </p:cNvPr>
          <p:cNvSpPr>
            <a:spLocks xmlns:a="http://schemas.openxmlformats.org/drawingml/2006/main" noGrp="1"/>
          </p:cNvSpPr>
          <p:nvPr/>
        </p:nvSpPr>
        <p:spPr>
          <a:xfrm xmlns:a="http://schemas.openxmlformats.org/drawingml/2006/main">
            <a:off x="495300" y="323850"/>
            <a:ext cx="11201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a:solidFill>
                  <a:srgbClr val="0F172A"/>
                </a:solidFill>
              </a:defRPr>
            </a:pPr>
            <a:r>
              <a:rPr sz="2850" b="1">
                <a:solidFill>
                  <a:srgbClr val="0F172A"/>
                </a:solidFill>
              </a:rPr>
              <a:t>Ce qui est terminé et ce qui reste optionnel</a:t>
            </a:r>
          </a:p>
        </p:txBody>
      </p:sp>
      <p:sp>
        <p:nvSpPr>
          <p:cNvPr id="2" name="">
            <a:extLst xmlns:a="http://schemas.openxmlformats.org/drawingml/2006/main">
              <a:ext uri="{FF2B5EF4-FFF2-40B4-BE49-F238E27FC236}">
                <a16:creationId xmlns:a16="http://schemas.microsoft.com/office/drawing/2014/main" id="{D9647425-71DE-4052-9355-E3162C1D3DB4}"/>
              </a:ext>
            </a:extLst>
          </p:cNvPr>
          <p:cNvSpPr>
            <a:spLocks xmlns:a="http://schemas.openxmlformats.org/drawingml/2006/main" noGrp="1"/>
          </p:cNvSpPr>
          <p:nvPr/>
        </p:nvSpPr>
        <p:spPr>
          <a:xfrm xmlns:a="http://schemas.openxmlformats.org/drawingml/2006/main">
            <a:off x="495300" y="914400"/>
            <a:ext cx="1120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475569"/>
                </a:solidFill>
              </a:defRPr>
            </a:pPr>
            <a:r>
              <a:rPr sz="1500" b="0">
                <a:solidFill>
                  <a:srgbClr val="475569"/>
                </a:solidFill>
              </a:rPr>
              <a:t>Aucun livrable obligatoire du SOW ne manque; les travaux suivants renforceraient seulement la portée scientifique.</a:t>
            </a:r>
          </a:p>
        </p:txBody>
      </p:sp>
      <p:sp>
        <p:nvSpPr>
          <p:cNvPr id="3" name="">
            <a:extLst xmlns:a="http://schemas.openxmlformats.org/drawingml/2006/main">
              <a:ext uri="{FF2B5EF4-FFF2-40B4-BE49-F238E27FC236}">
                <a16:creationId xmlns:a16="http://schemas.microsoft.com/office/drawing/2014/main" id="{5EB9BFE6-4C99-4FAD-A608-98371A090BFC}"/>
              </a:ext>
            </a:extLst>
          </p:cNvPr>
          <p:cNvSpPr>
            <a:spLocks xmlns:a="http://schemas.openxmlformats.org/drawingml/2006/main" noGrp="1"/>
          </p:cNvSpPr>
          <p:nvPr/>
        </p:nvSpPr>
        <p:spPr>
          <a:xfrm xmlns:a="http://schemas.openxmlformats.org/drawingml/2006/main">
            <a:off x="495300" y="1257300"/>
            <a:ext cx="112014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763553BA-081A-49F5-8EBB-7DB27E29E0FE}"/>
              </a:ext>
            </a:extLst>
          </p:cNvPr>
          <p:cNvSpPr>
            <a:spLocks xmlns:a="http://schemas.openxmlformats.org/drawingml/2006/main" noGrp="1"/>
          </p:cNvSpPr>
          <p:nvPr/>
        </p:nvSpPr>
        <p:spPr>
          <a:xfrm xmlns:a="http://schemas.openxmlformats.org/drawingml/2006/main">
            <a:off x="495300" y="64198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475569"/>
                </a:solidFill>
              </a:defRPr>
            </a:pPr>
            <a:r>
              <a:rPr sz="1050" b="0">
                <a:solidFill>
                  <a:srgbClr val="475569"/>
                </a:solidFill>
              </a:rPr>
              <a:t>Projet McGill / WELL-E - Objectif 2</a:t>
            </a:r>
          </a:p>
        </p:txBody>
      </p:sp>
      <p:sp>
        <p:nvSpPr>
          <p:cNvPr id="5" name="">
            <a:extLst xmlns:a="http://schemas.openxmlformats.org/drawingml/2006/main">
              <a:ext uri="{FF2B5EF4-FFF2-40B4-BE49-F238E27FC236}">
                <a16:creationId xmlns:a16="http://schemas.microsoft.com/office/drawing/2014/main" id="{ACE653B9-B65B-44B8-904D-5AFC897F1D8B}"/>
              </a:ext>
            </a:extLst>
          </p:cNvPr>
          <p:cNvSpPr>
            <a:spLocks xmlns:a="http://schemas.openxmlformats.org/drawingml/2006/main" noGrp="1"/>
          </p:cNvSpPr>
          <p:nvPr/>
        </p:nvSpPr>
        <p:spPr>
          <a:xfrm xmlns:a="http://schemas.openxmlformats.org/drawingml/2006/main">
            <a:off x="11334750" y="6419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a:solidFill>
                  <a:srgbClr val="475569"/>
                </a:solidFill>
              </a:defRPr>
            </a:pPr>
            <a:r>
              <a:rPr sz="1050" b="0">
                <a:solidFill>
                  <a:srgbClr val="475569"/>
                </a:solidFill>
              </a:rPr>
              <a:t>11</a:t>
            </a:r>
          </a:p>
        </p:txBody>
      </p:sp>
      <p:sp>
        <p:nvSpPr>
          <p:cNvPr id="6" name="">
            <a:extLst xmlns:a="http://schemas.openxmlformats.org/drawingml/2006/main">
              <a:ext uri="{FF2B5EF4-FFF2-40B4-BE49-F238E27FC236}">
                <a16:creationId xmlns:a16="http://schemas.microsoft.com/office/drawing/2014/main" id="{0E6A3329-99D4-4F51-8AF6-A4FA71A289C5}"/>
              </a:ext>
            </a:extLst>
          </p:cNvPr>
          <p:cNvSpPr>
            <a:spLocks xmlns:a="http://schemas.openxmlformats.org/drawingml/2006/main" noGrp="1"/>
          </p:cNvSpPr>
          <p:nvPr/>
        </p:nvSpPr>
        <p:spPr>
          <a:xfrm xmlns:a="http://schemas.openxmlformats.org/drawingml/2006/main">
            <a:off x="495300" y="1562100"/>
            <a:ext cx="5334000" cy="1714500"/>
          </a:xfrm>
          <a:prstGeom xmlns:a="http://schemas.openxmlformats.org/drawingml/2006/main" prst="rect">
            <a:avLst/>
          </a:prstGeom>
          <a:solidFill xmlns:a="http://schemas.openxmlformats.org/drawingml/2006/main">
            <a:srgbClr val="F2F4F7"/>
          </a:solidFill>
          <a:ln xmlns:a="http://schemas.openxmlformats.org/drawingml/2006/main" w="9525">
            <a:solidFill>
              <a:srgbClr val="D3D7DE"/>
            </a:solidFill>
            <a:prstDash val="solid"/>
          </a:ln>
        </p:spPr>
      </p:sp>
      <p:sp>
        <p:nvSpPr>
          <p:cNvPr id="7" name="">
            <a:extLst xmlns:a="http://schemas.openxmlformats.org/drawingml/2006/main">
              <a:ext uri="{FF2B5EF4-FFF2-40B4-BE49-F238E27FC236}">
                <a16:creationId xmlns:a16="http://schemas.microsoft.com/office/drawing/2014/main" id="{896A0F0B-05FE-443E-8F8E-1A3DFE153CC9}"/>
              </a:ext>
            </a:extLst>
          </p:cNvPr>
          <p:cNvSpPr>
            <a:spLocks xmlns:a="http://schemas.openxmlformats.org/drawingml/2006/main" noGrp="1"/>
          </p:cNvSpPr>
          <p:nvPr/>
        </p:nvSpPr>
        <p:spPr>
          <a:xfrm xmlns:a="http://schemas.openxmlformats.org/drawingml/2006/main">
            <a:off x="723900" y="17335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0B4F7A"/>
                </a:solidFill>
              </a:defRPr>
            </a:pPr>
            <a:r>
              <a:rPr sz="1800" b="1">
                <a:solidFill>
                  <a:srgbClr val="0B4F7A"/>
                </a:solidFill>
              </a:rPr>
              <a:t>Tâche 2.1</a:t>
            </a:r>
          </a:p>
        </p:txBody>
      </p:sp>
      <p:sp>
        <p:nvSpPr>
          <p:cNvPr id="8" name="">
            <a:extLst xmlns:a="http://schemas.openxmlformats.org/drawingml/2006/main">
              <a:ext uri="{FF2B5EF4-FFF2-40B4-BE49-F238E27FC236}">
                <a16:creationId xmlns:a16="http://schemas.microsoft.com/office/drawing/2014/main" id="{4C5BBA33-0E32-4AAC-A9A4-D2B8E628E1F9}"/>
              </a:ext>
            </a:extLst>
          </p:cNvPr>
          <p:cNvSpPr>
            <a:spLocks xmlns:a="http://schemas.openxmlformats.org/drawingml/2006/main" noGrp="1"/>
          </p:cNvSpPr>
          <p:nvPr/>
        </p:nvSpPr>
        <p:spPr>
          <a:xfrm xmlns:a="http://schemas.openxmlformats.org/drawingml/2006/main">
            <a:off x="723900" y="21336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1">
                <a:solidFill>
                  <a:srgbClr val="0F172A"/>
                </a:solidFill>
              </a:defRPr>
            </a:pPr>
            <a:r>
              <a:rPr sz="1575" b="1">
                <a:solidFill>
                  <a:srgbClr val="0F172A"/>
                </a:solidFill>
              </a:rPr>
              <a:t>Terminée</a:t>
            </a:r>
          </a:p>
        </p:txBody>
      </p:sp>
      <p:sp>
        <p:nvSpPr>
          <p:cNvPr id="9" name="">
            <a:extLst xmlns:a="http://schemas.openxmlformats.org/drawingml/2006/main">
              <a:ext uri="{FF2B5EF4-FFF2-40B4-BE49-F238E27FC236}">
                <a16:creationId xmlns:a16="http://schemas.microsoft.com/office/drawing/2014/main" id="{A499147C-F363-4DC0-A4BE-405467245D73}"/>
              </a:ext>
            </a:extLst>
          </p:cNvPr>
          <p:cNvSpPr>
            <a:spLocks xmlns:a="http://schemas.openxmlformats.org/drawingml/2006/main" noGrp="1"/>
          </p:cNvSpPr>
          <p:nvPr/>
        </p:nvSpPr>
        <p:spPr>
          <a:xfrm xmlns:a="http://schemas.openxmlformats.org/drawingml/2006/main">
            <a:off x="723900" y="251460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475569"/>
                </a:solidFill>
              </a:defRPr>
            </a:pPr>
            <a:r>
              <a:rPr sz="1350" b="0">
                <a:solidFill>
                  <a:srgbClr val="475569"/>
                </a:solidFill>
              </a:rPr>
              <a:t>Jeux synchronisés, table trimodale et documentation de jointure livrés.</a:t>
            </a:r>
          </a:p>
        </p:txBody>
      </p:sp>
      <p:sp>
        <p:nvSpPr>
          <p:cNvPr id="10" name="">
            <a:extLst xmlns:a="http://schemas.openxmlformats.org/drawingml/2006/main">
              <a:ext uri="{FF2B5EF4-FFF2-40B4-BE49-F238E27FC236}">
                <a16:creationId xmlns:a16="http://schemas.microsoft.com/office/drawing/2014/main" id="{55F52DC1-C56B-4CAE-A72D-6B3602A56D27}"/>
              </a:ext>
            </a:extLst>
          </p:cNvPr>
          <p:cNvSpPr>
            <a:spLocks xmlns:a="http://schemas.openxmlformats.org/drawingml/2006/main" noGrp="1"/>
          </p:cNvSpPr>
          <p:nvPr/>
        </p:nvSpPr>
        <p:spPr>
          <a:xfrm xmlns:a="http://schemas.openxmlformats.org/drawingml/2006/main">
            <a:off x="6362700" y="1562100"/>
            <a:ext cx="5334000" cy="1714500"/>
          </a:xfrm>
          <a:prstGeom xmlns:a="http://schemas.openxmlformats.org/drawingml/2006/main" prst="rect">
            <a:avLst/>
          </a:prstGeom>
          <a:solidFill xmlns:a="http://schemas.openxmlformats.org/drawingml/2006/main">
            <a:srgbClr val="F8FAFC"/>
          </a:solidFill>
          <a:ln xmlns:a="http://schemas.openxmlformats.org/drawingml/2006/main" w="9525">
            <a:solidFill>
              <a:srgbClr val="D3D7DE"/>
            </a:solidFill>
            <a:prstDash val="solid"/>
          </a:ln>
        </p:spPr>
      </p:sp>
      <p:sp>
        <p:nvSpPr>
          <p:cNvPr id="11" name="">
            <a:extLst xmlns:a="http://schemas.openxmlformats.org/drawingml/2006/main">
              <a:ext uri="{FF2B5EF4-FFF2-40B4-BE49-F238E27FC236}">
                <a16:creationId xmlns:a16="http://schemas.microsoft.com/office/drawing/2014/main" id="{6C97086A-BCDC-4DEE-84C8-B63944F835A6}"/>
              </a:ext>
            </a:extLst>
          </p:cNvPr>
          <p:cNvSpPr>
            <a:spLocks xmlns:a="http://schemas.openxmlformats.org/drawingml/2006/main" noGrp="1"/>
          </p:cNvSpPr>
          <p:nvPr/>
        </p:nvSpPr>
        <p:spPr>
          <a:xfrm xmlns:a="http://schemas.openxmlformats.org/drawingml/2006/main">
            <a:off x="6591300" y="17335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0B4F7A"/>
                </a:solidFill>
              </a:defRPr>
            </a:pPr>
            <a:r>
              <a:rPr sz="1800" b="1">
                <a:solidFill>
                  <a:srgbClr val="0B4F7A"/>
                </a:solidFill>
              </a:rPr>
              <a:t>Tâche 2.2</a:t>
            </a:r>
          </a:p>
        </p:txBody>
      </p:sp>
      <p:sp>
        <p:nvSpPr>
          <p:cNvPr id="12" name="">
            <a:extLst xmlns:a="http://schemas.openxmlformats.org/drawingml/2006/main">
              <a:ext uri="{FF2B5EF4-FFF2-40B4-BE49-F238E27FC236}">
                <a16:creationId xmlns:a16="http://schemas.microsoft.com/office/drawing/2014/main" id="{12290873-0435-41AF-A8E7-0F9AC4A8AB91}"/>
              </a:ext>
            </a:extLst>
          </p:cNvPr>
          <p:cNvSpPr>
            <a:spLocks xmlns:a="http://schemas.openxmlformats.org/drawingml/2006/main" noGrp="1"/>
          </p:cNvSpPr>
          <p:nvPr/>
        </p:nvSpPr>
        <p:spPr>
          <a:xfrm xmlns:a="http://schemas.openxmlformats.org/drawingml/2006/main">
            <a:off x="6591300" y="21336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1">
                <a:solidFill>
                  <a:srgbClr val="0F172A"/>
                </a:solidFill>
              </a:defRPr>
            </a:pPr>
            <a:r>
              <a:rPr sz="1575" b="1">
                <a:solidFill>
                  <a:srgbClr val="0F172A"/>
                </a:solidFill>
              </a:rPr>
              <a:t>Terminée</a:t>
            </a:r>
          </a:p>
        </p:txBody>
      </p:sp>
      <p:sp>
        <p:nvSpPr>
          <p:cNvPr id="13" name="">
            <a:extLst xmlns:a="http://schemas.openxmlformats.org/drawingml/2006/main">
              <a:ext uri="{FF2B5EF4-FFF2-40B4-BE49-F238E27FC236}">
                <a16:creationId xmlns:a16="http://schemas.microsoft.com/office/drawing/2014/main" id="{A1486CFC-BC64-47F8-B6D0-483424CBA888}"/>
              </a:ext>
            </a:extLst>
          </p:cNvPr>
          <p:cNvSpPr>
            <a:spLocks xmlns:a="http://schemas.openxmlformats.org/drawingml/2006/main" noGrp="1"/>
          </p:cNvSpPr>
          <p:nvPr/>
        </p:nvSpPr>
        <p:spPr>
          <a:xfrm xmlns:a="http://schemas.openxmlformats.org/drawingml/2006/main">
            <a:off x="6591300" y="251460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475569"/>
                </a:solidFill>
              </a:defRPr>
            </a:pPr>
            <a:r>
              <a:rPr sz="1350" b="0">
                <a:solidFill>
                  <a:srgbClr val="475569"/>
                </a:solidFill>
              </a:rPr>
              <a:t>Analyse exploratoire, modèles de sensibilité et note de faisabilité livrés.</a:t>
            </a:r>
          </a:p>
        </p:txBody>
      </p:sp>
      <p:sp>
        <p:nvSpPr>
          <p:cNvPr id="14" name="">
            <a:extLst xmlns:a="http://schemas.openxmlformats.org/drawingml/2006/main">
              <a:ext uri="{FF2B5EF4-FFF2-40B4-BE49-F238E27FC236}">
                <a16:creationId xmlns:a16="http://schemas.microsoft.com/office/drawing/2014/main" id="{B307E516-E061-4959-B052-8E3135C2F983}"/>
              </a:ext>
            </a:extLst>
          </p:cNvPr>
          <p:cNvSpPr>
            <a:spLocks xmlns:a="http://schemas.openxmlformats.org/drawingml/2006/main" noGrp="1"/>
          </p:cNvSpPr>
          <p:nvPr/>
        </p:nvSpPr>
        <p:spPr>
          <a:xfrm xmlns:a="http://schemas.openxmlformats.org/drawingml/2006/main">
            <a:off x="495300" y="3676650"/>
            <a:ext cx="5334000" cy="1714500"/>
          </a:xfrm>
          <a:prstGeom xmlns:a="http://schemas.openxmlformats.org/drawingml/2006/main" prst="rect">
            <a:avLst/>
          </a:prstGeom>
          <a:solidFill xmlns:a="http://schemas.openxmlformats.org/drawingml/2006/main">
            <a:srgbClr val="F8FAFC"/>
          </a:solidFill>
          <a:ln xmlns:a="http://schemas.openxmlformats.org/drawingml/2006/main" w="9525">
            <a:solidFill>
              <a:srgbClr val="D3D7DE"/>
            </a:solidFill>
            <a:prstDash val="solid"/>
          </a:ln>
        </p:spPr>
      </p:sp>
      <p:sp>
        <p:nvSpPr>
          <p:cNvPr id="15" name="">
            <a:extLst xmlns:a="http://schemas.openxmlformats.org/drawingml/2006/main">
              <a:ext uri="{FF2B5EF4-FFF2-40B4-BE49-F238E27FC236}">
                <a16:creationId xmlns:a16="http://schemas.microsoft.com/office/drawing/2014/main" id="{42113400-BD08-4A51-90BE-CC8ADFDBBC63}"/>
              </a:ext>
            </a:extLst>
          </p:cNvPr>
          <p:cNvSpPr>
            <a:spLocks xmlns:a="http://schemas.openxmlformats.org/drawingml/2006/main" noGrp="1"/>
          </p:cNvSpPr>
          <p:nvPr/>
        </p:nvSpPr>
        <p:spPr>
          <a:xfrm xmlns:a="http://schemas.openxmlformats.org/drawingml/2006/main">
            <a:off x="723900" y="38481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0B4F7A"/>
                </a:solidFill>
              </a:defRPr>
            </a:pPr>
            <a:r>
              <a:rPr sz="1800" b="1">
                <a:solidFill>
                  <a:srgbClr val="0B4F7A"/>
                </a:solidFill>
              </a:rPr>
              <a:t>Renforcement</a:t>
            </a:r>
          </a:p>
        </p:txBody>
      </p:sp>
      <p:sp>
        <p:nvSpPr>
          <p:cNvPr id="16" name="">
            <a:extLst xmlns:a="http://schemas.openxmlformats.org/drawingml/2006/main">
              <a:ext uri="{FF2B5EF4-FFF2-40B4-BE49-F238E27FC236}">
                <a16:creationId xmlns:a16="http://schemas.microsoft.com/office/drawing/2014/main" id="{E05EA4F9-BF67-4AC8-A741-C553218917CE}"/>
              </a:ext>
            </a:extLst>
          </p:cNvPr>
          <p:cNvSpPr>
            <a:spLocks xmlns:a="http://schemas.openxmlformats.org/drawingml/2006/main" noGrp="1"/>
          </p:cNvSpPr>
          <p:nvPr/>
        </p:nvSpPr>
        <p:spPr>
          <a:xfrm xmlns:a="http://schemas.openxmlformats.org/drawingml/2006/main">
            <a:off x="723900" y="42481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1">
                <a:solidFill>
                  <a:srgbClr val="0F172A"/>
                </a:solidFill>
              </a:defRPr>
            </a:pPr>
            <a:r>
              <a:rPr sz="1575" b="1">
                <a:solidFill>
                  <a:srgbClr val="0F172A"/>
                </a:solidFill>
              </a:rPr>
              <a:t>Optionnel</a:t>
            </a:r>
          </a:p>
        </p:txBody>
      </p:sp>
      <p:sp>
        <p:nvSpPr>
          <p:cNvPr id="17" name="">
            <a:extLst xmlns:a="http://schemas.openxmlformats.org/drawingml/2006/main">
              <a:ext uri="{FF2B5EF4-FFF2-40B4-BE49-F238E27FC236}">
                <a16:creationId xmlns:a16="http://schemas.microsoft.com/office/drawing/2014/main" id="{E30FF2DB-5C4C-48E0-8EFD-1614C786E21E}"/>
              </a:ext>
            </a:extLst>
          </p:cNvPr>
          <p:cNvSpPr>
            <a:spLocks xmlns:a="http://schemas.openxmlformats.org/drawingml/2006/main" noGrp="1"/>
          </p:cNvSpPr>
          <p:nvPr/>
        </p:nvSpPr>
        <p:spPr>
          <a:xfrm xmlns:a="http://schemas.openxmlformats.org/drawingml/2006/main">
            <a:off x="723900" y="46291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475569"/>
                </a:solidFill>
              </a:defRPr>
            </a:pPr>
            <a:r>
              <a:rPr sz="1350" b="0">
                <a:solidFill>
                  <a:srgbClr val="475569"/>
                </a:solidFill>
              </a:rPr>
              <a:t>Étendre au froid de Winter après validation de l’éthogramme et des variables.</a:t>
            </a:r>
          </a:p>
        </p:txBody>
      </p:sp>
      <p:sp>
        <p:nvSpPr>
          <p:cNvPr id="18" name="">
            <a:extLst xmlns:a="http://schemas.openxmlformats.org/drawingml/2006/main">
              <a:ext uri="{FF2B5EF4-FFF2-40B4-BE49-F238E27FC236}">
                <a16:creationId xmlns:a16="http://schemas.microsoft.com/office/drawing/2014/main" id="{7BD9A006-D400-45B7-8F86-A8084AE3ACC1}"/>
              </a:ext>
            </a:extLst>
          </p:cNvPr>
          <p:cNvSpPr>
            <a:spLocks xmlns:a="http://schemas.openxmlformats.org/drawingml/2006/main" noGrp="1"/>
          </p:cNvSpPr>
          <p:nvPr/>
        </p:nvSpPr>
        <p:spPr>
          <a:xfrm xmlns:a="http://schemas.openxmlformats.org/drawingml/2006/main">
            <a:off x="6362700" y="3676650"/>
            <a:ext cx="5334000" cy="1714500"/>
          </a:xfrm>
          <a:prstGeom xmlns:a="http://schemas.openxmlformats.org/drawingml/2006/main" prst="rect">
            <a:avLst/>
          </a:prstGeom>
          <a:solidFill xmlns:a="http://schemas.openxmlformats.org/drawingml/2006/main">
            <a:srgbClr val="F8FAFC"/>
          </a:solidFill>
          <a:ln xmlns:a="http://schemas.openxmlformats.org/drawingml/2006/main" w="9525">
            <a:solidFill>
              <a:srgbClr val="D3D7DE"/>
            </a:solidFill>
            <a:prstDash val="solid"/>
          </a:ln>
        </p:spPr>
      </p:sp>
      <p:sp>
        <p:nvSpPr>
          <p:cNvPr id="19" name="">
            <a:extLst xmlns:a="http://schemas.openxmlformats.org/drawingml/2006/main">
              <a:ext uri="{FF2B5EF4-FFF2-40B4-BE49-F238E27FC236}">
                <a16:creationId xmlns:a16="http://schemas.microsoft.com/office/drawing/2014/main" id="{9DC1D49A-4D12-46CB-B7A9-881E83B65A40}"/>
              </a:ext>
            </a:extLst>
          </p:cNvPr>
          <p:cNvSpPr>
            <a:spLocks xmlns:a="http://schemas.openxmlformats.org/drawingml/2006/main" noGrp="1"/>
          </p:cNvSpPr>
          <p:nvPr/>
        </p:nvSpPr>
        <p:spPr>
          <a:xfrm xmlns:a="http://schemas.openxmlformats.org/drawingml/2006/main">
            <a:off x="6591300" y="38481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0B4F7A"/>
                </a:solidFill>
              </a:defRPr>
            </a:pPr>
            <a:r>
              <a:rPr sz="1800" b="1">
                <a:solidFill>
                  <a:srgbClr val="0B4F7A"/>
                </a:solidFill>
              </a:rPr>
              <a:t>Nouvelles données</a:t>
            </a:r>
          </a:p>
        </p:txBody>
      </p:sp>
      <p:sp>
        <p:nvSpPr>
          <p:cNvPr id="20" name="">
            <a:extLst xmlns:a="http://schemas.openxmlformats.org/drawingml/2006/main">
              <a:ext uri="{FF2B5EF4-FFF2-40B4-BE49-F238E27FC236}">
                <a16:creationId xmlns:a16="http://schemas.microsoft.com/office/drawing/2014/main" id="{6BCF221F-EB94-445F-ADDA-BF46759E65FA}"/>
              </a:ext>
            </a:extLst>
          </p:cNvPr>
          <p:cNvSpPr>
            <a:spLocks xmlns:a="http://schemas.openxmlformats.org/drawingml/2006/main" noGrp="1"/>
          </p:cNvSpPr>
          <p:nvPr/>
        </p:nvSpPr>
        <p:spPr>
          <a:xfrm xmlns:a="http://schemas.openxmlformats.org/drawingml/2006/main">
            <a:off x="6591300" y="42481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75" b="1">
                <a:solidFill>
                  <a:srgbClr val="0F172A"/>
                </a:solidFill>
              </a:defRPr>
            </a:pPr>
            <a:r>
              <a:rPr sz="1575" b="1">
                <a:solidFill>
                  <a:srgbClr val="0F172A"/>
                </a:solidFill>
              </a:rPr>
              <a:t>Recommandées</a:t>
            </a:r>
          </a:p>
        </p:txBody>
      </p:sp>
      <p:sp>
        <p:nvSpPr>
          <p:cNvPr id="21" name="">
            <a:extLst xmlns:a="http://schemas.openxmlformats.org/drawingml/2006/main">
              <a:ext uri="{FF2B5EF4-FFF2-40B4-BE49-F238E27FC236}">
                <a16:creationId xmlns:a16="http://schemas.microsoft.com/office/drawing/2014/main" id="{B03AF369-2FF4-4147-9A72-36542E556F73}"/>
              </a:ext>
            </a:extLst>
          </p:cNvPr>
          <p:cNvSpPr>
            <a:spLocks xmlns:a="http://schemas.openxmlformats.org/drawingml/2006/main" noGrp="1"/>
          </p:cNvSpPr>
          <p:nvPr/>
        </p:nvSpPr>
        <p:spPr>
          <a:xfrm xmlns:a="http://schemas.openxmlformats.org/drawingml/2006/main">
            <a:off x="6591300" y="4629150"/>
            <a:ext cx="4762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475569"/>
                </a:solidFill>
              </a:defRPr>
            </a:pPr>
            <a:r>
              <a:rPr sz="1350" b="0">
                <a:solidFill>
                  <a:srgbClr val="475569"/>
                </a:solidFill>
              </a:rPr>
              <a:t>Ajouter des jours de scans, des retards, la parité et le stade de lactation.</a:t>
            </a:r>
          </a:p>
        </p:txBody>
      </p:sp>
    </p:spTree>
    <p:extLst>
      <p:ext uri="{BB962C8B-B14F-4D97-AF65-F5344CB8AC3E}">
        <p14:creationId xmlns:p14="http://schemas.microsoft.com/office/powerpoint/2010/main" val="1894485267"/>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D05D08A-89FB-4865-B7C9-E96E151E00AE}"/>
              </a:ext>
            </a:extLst>
          </p:cNvPr>
          <p:cNvSpPr>
            <a:spLocks xmlns:a="http://schemas.openxmlformats.org/drawingml/2006/main" noGrp="1"/>
          </p:cNvSpPr>
          <p:nvPr/>
        </p:nvSpPr>
        <p:spPr>
          <a:xfrm xmlns:a="http://schemas.openxmlformats.org/drawingml/2006/main">
            <a:off x="495300" y="323850"/>
            <a:ext cx="112014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850" b="1">
                <a:solidFill>
                  <a:srgbClr val="0F172A"/>
                </a:solidFill>
              </a:defRPr>
            </a:pPr>
            <a:r>
              <a:rPr sz="2850" b="1">
                <a:solidFill>
                  <a:srgbClr val="0F172A"/>
                </a:solidFill>
              </a:rPr>
              <a:t>Objectif 2 livré</a:t>
            </a:r>
          </a:p>
        </p:txBody>
      </p:sp>
      <p:sp>
        <p:nvSpPr>
          <p:cNvPr id="2" name="">
            <a:extLst xmlns:a="http://schemas.openxmlformats.org/drawingml/2006/main">
              <a:ext uri="{FF2B5EF4-FFF2-40B4-BE49-F238E27FC236}">
                <a16:creationId xmlns:a16="http://schemas.microsoft.com/office/drawing/2014/main" id="{DC4D9E10-49ED-4610-8B05-586CBD8307D7}"/>
              </a:ext>
            </a:extLst>
          </p:cNvPr>
          <p:cNvSpPr>
            <a:spLocks xmlns:a="http://schemas.openxmlformats.org/drawingml/2006/main" noGrp="1"/>
          </p:cNvSpPr>
          <p:nvPr/>
        </p:nvSpPr>
        <p:spPr>
          <a:xfrm xmlns:a="http://schemas.openxmlformats.org/drawingml/2006/main">
            <a:off x="495300" y="914400"/>
            <a:ext cx="1120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475569"/>
                </a:solidFill>
              </a:defRPr>
            </a:pPr>
            <a:r>
              <a:rPr sz="1500" b="0">
                <a:solidFill>
                  <a:srgbClr val="475569"/>
                </a:solidFill>
              </a:rPr>
              <a:t>Le paquet réunit les données synchronisées, les résultats, les scripts et une interprétation scientifique prudente.</a:t>
            </a:r>
          </a:p>
        </p:txBody>
      </p:sp>
      <p:sp>
        <p:nvSpPr>
          <p:cNvPr id="3" name="">
            <a:extLst xmlns:a="http://schemas.openxmlformats.org/drawingml/2006/main">
              <a:ext uri="{FF2B5EF4-FFF2-40B4-BE49-F238E27FC236}">
                <a16:creationId xmlns:a16="http://schemas.microsoft.com/office/drawing/2014/main" id="{4C5F6E77-542B-423A-B6F0-13D4DEEDAE78}"/>
              </a:ext>
            </a:extLst>
          </p:cNvPr>
          <p:cNvSpPr>
            <a:spLocks xmlns:a="http://schemas.openxmlformats.org/drawingml/2006/main" noGrp="1"/>
          </p:cNvSpPr>
          <p:nvPr/>
        </p:nvSpPr>
        <p:spPr>
          <a:xfrm xmlns:a="http://schemas.openxmlformats.org/drawingml/2006/main">
            <a:off x="495300" y="1257300"/>
            <a:ext cx="11201400" cy="0"/>
          </a:xfrm>
          <a:prstGeom xmlns:a="http://schemas.openxmlformats.org/drawingml/2006/main" prst="line">
            <a:avLst/>
          </a:prstGeom>
          <a:noFill xmlns:a="http://schemas.openxmlformats.org/drawingml/2006/main"/>
          <a:ln xmlns:a="http://schemas.openxmlformats.org/drawingml/2006/main" w="9525">
            <a:solidFill>
              <a:srgbClr val="B8BCC4"/>
            </a:solidFill>
            <a:prstDash val="solid"/>
          </a:ln>
        </p:spPr>
      </p:sp>
      <p:sp>
        <p:nvSpPr>
          <p:cNvPr id="4" name="">
            <a:extLst xmlns:a="http://schemas.openxmlformats.org/drawingml/2006/main">
              <a:ext uri="{FF2B5EF4-FFF2-40B4-BE49-F238E27FC236}">
                <a16:creationId xmlns:a16="http://schemas.microsoft.com/office/drawing/2014/main" id="{27E351AA-2C2A-4481-A340-F6BFAFA23E43}"/>
              </a:ext>
            </a:extLst>
          </p:cNvPr>
          <p:cNvSpPr>
            <a:spLocks xmlns:a="http://schemas.openxmlformats.org/drawingml/2006/main" noGrp="1"/>
          </p:cNvSpPr>
          <p:nvPr/>
        </p:nvSpPr>
        <p:spPr>
          <a:xfrm xmlns:a="http://schemas.openxmlformats.org/drawingml/2006/main">
            <a:off x="495300" y="641985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0">
                <a:solidFill>
                  <a:srgbClr val="475569"/>
                </a:solidFill>
              </a:defRPr>
            </a:pPr>
            <a:r>
              <a:rPr sz="1050" b="0">
                <a:solidFill>
                  <a:srgbClr val="475569"/>
                </a:solidFill>
              </a:rPr>
              <a:t>Projet McGill / WELL-E - Objectif 2</a:t>
            </a:r>
          </a:p>
        </p:txBody>
      </p:sp>
      <p:sp>
        <p:nvSpPr>
          <p:cNvPr id="5" name="">
            <a:extLst xmlns:a="http://schemas.openxmlformats.org/drawingml/2006/main">
              <a:ext uri="{FF2B5EF4-FFF2-40B4-BE49-F238E27FC236}">
                <a16:creationId xmlns:a16="http://schemas.microsoft.com/office/drawing/2014/main" id="{5E2C6042-B92D-4DE9-BEC8-66F10ED3F313}"/>
              </a:ext>
            </a:extLst>
          </p:cNvPr>
          <p:cNvSpPr>
            <a:spLocks xmlns:a="http://schemas.openxmlformats.org/drawingml/2006/main" noGrp="1"/>
          </p:cNvSpPr>
          <p:nvPr/>
        </p:nvSpPr>
        <p:spPr>
          <a:xfrm xmlns:a="http://schemas.openxmlformats.org/drawingml/2006/main">
            <a:off x="11334750" y="64198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050" b="0">
                <a:solidFill>
                  <a:srgbClr val="475569"/>
                </a:solidFill>
              </a:defRPr>
            </a:pPr>
            <a:r>
              <a:rPr sz="1050" b="0">
                <a:solidFill>
                  <a:srgbClr val="475569"/>
                </a:solidFill>
              </a:rPr>
              <a:t>12</a:t>
            </a:r>
          </a:p>
        </p:txBody>
      </p:sp>
      <p:sp>
        <p:nvSpPr>
          <p:cNvPr id="6" name="">
            <a:extLst xmlns:a="http://schemas.openxmlformats.org/drawingml/2006/main">
              <a:ext uri="{FF2B5EF4-FFF2-40B4-BE49-F238E27FC236}">
                <a16:creationId xmlns:a16="http://schemas.microsoft.com/office/drawing/2014/main" id="{0C6963C2-FA4D-4BD2-B94B-9611767D711A}"/>
              </a:ext>
            </a:extLst>
          </p:cNvPr>
          <p:cNvSpPr>
            <a:spLocks xmlns:a="http://schemas.openxmlformats.org/drawingml/2006/main" noGrp="1"/>
          </p:cNvSpPr>
          <p:nvPr/>
        </p:nvSpPr>
        <p:spPr>
          <a:xfrm xmlns:a="http://schemas.openxmlformats.org/drawingml/2006/main">
            <a:off x="495300" y="1619250"/>
            <a:ext cx="11201400" cy="1104900"/>
          </a:xfrm>
          <a:prstGeom xmlns:a="http://schemas.openxmlformats.org/drawingml/2006/main" prst="rect">
            <a:avLst/>
          </a:prstGeom>
          <a:solidFill xmlns:a="http://schemas.openxmlformats.org/drawingml/2006/main">
            <a:srgbClr val="EEF6FB"/>
          </a:solidFill>
          <a:ln xmlns:a="http://schemas.openxmlformats.org/drawingml/2006/main" w="9525">
            <a:solidFill>
              <a:srgbClr val="D3D7DE"/>
            </a:solidFill>
            <a:prstDash val="solid"/>
          </a:ln>
        </p:spPr>
      </p:sp>
      <p:sp>
        <p:nvSpPr>
          <p:cNvPr id="7" name="">
            <a:extLst xmlns:a="http://schemas.openxmlformats.org/drawingml/2006/main">
              <a:ext uri="{FF2B5EF4-FFF2-40B4-BE49-F238E27FC236}">
                <a16:creationId xmlns:a16="http://schemas.microsoft.com/office/drawing/2014/main" id="{06671222-D89C-40B6-A309-4E616ECEFDB0}"/>
              </a:ext>
            </a:extLst>
          </p:cNvPr>
          <p:cNvSpPr>
            <a:spLocks xmlns:a="http://schemas.openxmlformats.org/drawingml/2006/main" noGrp="1"/>
          </p:cNvSpPr>
          <p:nvPr/>
        </p:nvSpPr>
        <p:spPr>
          <a:xfrm xmlns:a="http://schemas.openxmlformats.org/drawingml/2006/main">
            <a:off x="704850" y="1809750"/>
            <a:ext cx="107823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0F172A"/>
                </a:solidFill>
              </a:defRPr>
            </a:pPr>
            <a:r>
              <a:rPr sz="1650" b="0">
                <a:solidFill>
                  <a:srgbClr val="0F172A"/>
                </a:solidFill>
              </a:rPr>
              <a:t>À dire : l’Objectif 2 satisfait le SOW pour Summer 2019. L’association THI-activité est positive avant contrôle du jour, puis non concluante après ce contrôle.</a:t>
            </a:r>
          </a:p>
        </p:txBody>
      </p:sp>
      <p:sp>
        <p:nvSpPr>
          <p:cNvPr id="8" name="">
            <a:extLst xmlns:a="http://schemas.openxmlformats.org/drawingml/2006/main">
              <a:ext uri="{FF2B5EF4-FFF2-40B4-BE49-F238E27FC236}">
                <a16:creationId xmlns:a16="http://schemas.microsoft.com/office/drawing/2014/main" id="{15B91F54-C03B-48FF-A3F6-14A93E072792}"/>
              </a:ext>
            </a:extLst>
          </p:cNvPr>
          <p:cNvSpPr>
            <a:spLocks xmlns:a="http://schemas.openxmlformats.org/drawingml/2006/main" noGrp="1"/>
          </p:cNvSpPr>
          <p:nvPr/>
        </p:nvSpPr>
        <p:spPr>
          <a:xfrm xmlns:a="http://schemas.openxmlformats.org/drawingml/2006/main">
            <a:off x="495300" y="3238500"/>
            <a:ext cx="3619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100" b="1">
                <a:solidFill>
                  <a:srgbClr val="0F172A"/>
                </a:solidFill>
              </a:defRPr>
            </a:pPr>
            <a:r>
              <a:rPr sz="2100" b="1">
                <a:solidFill>
                  <a:srgbClr val="0F172A"/>
                </a:solidFill>
              </a:rPr>
              <a:t>Contenu à livrer</a:t>
            </a:r>
          </a:p>
        </p:txBody>
      </p:sp>
      <p:sp>
        <p:nvSpPr>
          <p:cNvPr id="9" name="">
            <a:extLst xmlns:a="http://schemas.openxmlformats.org/drawingml/2006/main">
              <a:ext uri="{FF2B5EF4-FFF2-40B4-BE49-F238E27FC236}">
                <a16:creationId xmlns:a16="http://schemas.microsoft.com/office/drawing/2014/main" id="{434CCAC0-15C4-455C-B496-76A0ABE6A85C}"/>
              </a:ext>
            </a:extLst>
          </p:cNvPr>
          <p:cNvSpPr>
            <a:spLocks xmlns:a="http://schemas.openxmlformats.org/drawingml/2006/main" noGrp="1"/>
          </p:cNvSpPr>
          <p:nvPr/>
        </p:nvSpPr>
        <p:spPr>
          <a:xfrm xmlns:a="http://schemas.openxmlformats.org/drawingml/2006/main">
            <a:off x="495300" y="3695700"/>
            <a:ext cx="409575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0F172A"/>
                </a:solidFill>
              </a:defRPr>
            </a:pPr>
            <a:r>
              <a:rPr sz="1650" b="0">
                <a:solidFill>
                  <a:srgbClr val="0F172A"/>
                </a:solidFill>
              </a:rPr>
              <a:t>• RAPPORTS/</a:t>
            </a:r>
          </a:p>
          <a:p xmlns:a="http://schemas.openxmlformats.org/drawingml/2006/main">
            <a:pPr algn="l">
              <a:buNone/>
              <a:defRPr sz="1650" b="0">
                <a:solidFill>
                  <a:srgbClr val="0F172A"/>
                </a:solidFill>
              </a:defRPr>
            </a:pPr>
            <a:r>
              <a:rPr sz="1650" b="0">
                <a:solidFill>
                  <a:srgbClr val="0F172A"/>
                </a:solidFill>
              </a:rPr>
              <a:t>• DONNEES_SYNCHRONISEES/</a:t>
            </a:r>
          </a:p>
          <a:p xmlns:a="http://schemas.openxmlformats.org/drawingml/2006/main">
            <a:pPr algn="l">
              <a:buNone/>
              <a:defRPr sz="1650" b="0">
                <a:solidFill>
                  <a:srgbClr val="0F172A"/>
                </a:solidFill>
              </a:defRPr>
            </a:pPr>
            <a:r>
              <a:rPr sz="1650" b="0">
                <a:solidFill>
                  <a:srgbClr val="0F172A"/>
                </a:solidFill>
              </a:rPr>
              <a:t>• TABLEAUX_CSV/</a:t>
            </a:r>
          </a:p>
          <a:p xmlns:a="http://schemas.openxmlformats.org/drawingml/2006/main">
            <a:pPr algn="l">
              <a:buNone/>
              <a:defRPr sz="1650" b="0">
                <a:solidFill>
                  <a:srgbClr val="0F172A"/>
                </a:solidFill>
              </a:defRPr>
            </a:pPr>
            <a:r>
              <a:rPr sz="1650" b="0">
                <a:solidFill>
                  <a:srgbClr val="0F172A"/>
                </a:solidFill>
              </a:rPr>
              <a:t>• FIGURES/</a:t>
            </a:r>
          </a:p>
          <a:p xmlns:a="http://schemas.openxmlformats.org/drawingml/2006/main">
            <a:pPr algn="l">
              <a:buNone/>
              <a:defRPr sz="1650" b="0">
                <a:solidFill>
                  <a:srgbClr val="0F172A"/>
                </a:solidFill>
              </a:defRPr>
            </a:pPr>
            <a:r>
              <a:rPr sz="1650" b="0">
                <a:solidFill>
                  <a:srgbClr val="0F172A"/>
                </a:solidFill>
              </a:rPr>
              <a:t>• NOTES_SOW/ et code/</a:t>
            </a:r>
          </a:p>
        </p:txBody>
      </p:sp>
      <p:sp>
        <p:nvSpPr>
          <p:cNvPr id="10" name="">
            <a:extLst xmlns:a="http://schemas.openxmlformats.org/drawingml/2006/main">
              <a:ext uri="{FF2B5EF4-FFF2-40B4-BE49-F238E27FC236}">
                <a16:creationId xmlns:a16="http://schemas.microsoft.com/office/drawing/2014/main" id="{5D9E34DD-33FF-45C0-8470-BE2A1E8499FA}"/>
              </a:ext>
            </a:extLst>
          </p:cNvPr>
          <p:cNvSpPr>
            <a:spLocks xmlns:a="http://schemas.openxmlformats.org/drawingml/2006/main" noGrp="1"/>
          </p:cNvSpPr>
          <p:nvPr/>
        </p:nvSpPr>
        <p:spPr>
          <a:xfrm xmlns:a="http://schemas.openxmlformats.org/drawingml/2006/main">
            <a:off x="5924550" y="3238500"/>
            <a:ext cx="4000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100" b="1">
                <a:solidFill>
                  <a:srgbClr val="0F172A"/>
                </a:solidFill>
              </a:defRPr>
            </a:pPr>
            <a:r>
              <a:rPr sz="2100" b="1">
                <a:solidFill>
                  <a:srgbClr val="0F172A"/>
                </a:solidFill>
              </a:rPr>
              <a:t>Points de vigilance</a:t>
            </a:r>
          </a:p>
        </p:txBody>
      </p:sp>
      <p:sp>
        <p:nvSpPr>
          <p:cNvPr id="11" name="">
            <a:extLst xmlns:a="http://schemas.openxmlformats.org/drawingml/2006/main">
              <a:ext uri="{FF2B5EF4-FFF2-40B4-BE49-F238E27FC236}">
                <a16:creationId xmlns:a16="http://schemas.microsoft.com/office/drawing/2014/main" id="{09732065-52B6-420E-B5EE-1DAC11AB6FAF}"/>
              </a:ext>
            </a:extLst>
          </p:cNvPr>
          <p:cNvSpPr>
            <a:spLocks xmlns:a="http://schemas.openxmlformats.org/drawingml/2006/main" noGrp="1"/>
          </p:cNvSpPr>
          <p:nvPr/>
        </p:nvSpPr>
        <p:spPr>
          <a:xfrm xmlns:a="http://schemas.openxmlformats.org/drawingml/2006/main">
            <a:off x="5924550" y="3695700"/>
            <a:ext cx="5334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650" b="0">
                <a:solidFill>
                  <a:srgbClr val="0F172A"/>
                </a:solidFill>
              </a:defRPr>
            </a:pPr>
            <a:r>
              <a:rPr sz="1650" b="0">
                <a:solidFill>
                  <a:srgbClr val="0F172A"/>
                </a:solidFill>
              </a:rPr>
              <a:t>• Ne pas affirmer un effet causal ou robuste.</a:t>
            </a:r>
          </a:p>
          <a:p xmlns:a="http://schemas.openxmlformats.org/drawingml/2006/main">
            <a:pPr algn="l">
              <a:buNone/>
              <a:defRPr sz="1650" b="0">
                <a:solidFill>
                  <a:srgbClr val="0F172A"/>
                </a:solidFill>
              </a:defRPr>
            </a:pPr>
            <a:r>
              <a:rPr sz="1650" b="0">
                <a:solidFill>
                  <a:srgbClr val="0F172A"/>
                </a:solidFill>
              </a:rPr>
              <a:t>• L’alimentation est suggestive sur 8 jours.</a:t>
            </a:r>
          </a:p>
          <a:p xmlns:a="http://schemas.openxmlformats.org/drawingml/2006/main">
            <a:pPr algn="l">
              <a:buNone/>
              <a:defRPr sz="1650" b="0">
                <a:solidFill>
                  <a:srgbClr val="0F172A"/>
                </a:solidFill>
              </a:defRPr>
            </a:pPr>
            <a:r>
              <a:rPr sz="1650" b="0">
                <a:solidFill>
                  <a:srgbClr val="0F172A"/>
                </a:solidFill>
              </a:rPr>
              <a:t>• Deux scans sont non appariés et documentés.</a:t>
            </a:r>
          </a:p>
          <a:p xmlns:a="http://schemas.openxmlformats.org/drawingml/2006/main">
            <a:pPr algn="l">
              <a:buNone/>
              <a:defRPr sz="1650" b="0">
                <a:solidFill>
                  <a:srgbClr val="0F172A"/>
                </a:solidFill>
              </a:defRPr>
            </a:pPr>
            <a:r>
              <a:rPr sz="1650" b="0">
                <a:solidFill>
                  <a:srgbClr val="0F172A"/>
                </a:solidFill>
              </a:rPr>
              <a:t>• Les extensions Winter et les retards sont optionnels.</a:t>
            </a:r>
          </a:p>
        </p:txBody>
      </p:sp>
    </p:spTree>
    <p:extLst>
      <p:ext uri="{BB962C8B-B14F-4D97-AF65-F5344CB8AC3E}">
        <p14:creationId xmlns:p14="http://schemas.microsoft.com/office/powerpoint/2010/main" val="3081206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2026-07-22T20:35:17.2350000Z</dcterms:created>
  <dcterms:modified xsi:type="dcterms:W3CDTF">2026-07-22T20:35:17.2350000Z</dcterms:modified>
</coreProperties>
</file>