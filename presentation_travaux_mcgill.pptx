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224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2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FB36A"/>
                </a:solidFill>
                <a:latin typeface="Calibri"/>
              </a:rPr>
              <a:t>PROJET IoT — BOVINS LAITIERS · McGILL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Analyse intégrée de données IoT,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comportementales et environnementales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en élevage laitier — Point d'avancement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8FB36A"/>
                </a:solidFill>
                <a:latin typeface="Calibri"/>
              </a:rPr>
              <a:t>Aliou Barry — UQAM   ·   Projet Well-E (UQAM × McGill)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9CFA6"/>
                </a:solidFill>
                <a:latin typeface="Calibri"/>
              </a:rPr>
              <a:t>Travaux réalisés · Objectifs 1 à 3 · Statut Objectif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48640" cy="54864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4B2A"/>
                </a:solidFill>
                <a:latin typeface="Cambria"/>
              </a:rPr>
              <a:t>Contexte et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Statement of Work — 1er juin au 31 août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1024128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74519"/>
            <a:ext cx="475488" cy="475488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46504"/>
            <a:ext cx="7863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4B2A"/>
                </a:solidFill>
                <a:latin typeface="Calibri"/>
              </a:rPr>
              <a:t>Objectif 1 — </a:t>
            </a:r>
            <a:r>
              <a:rPr sz="1600" b="0">
                <a:solidFill>
                  <a:srgbClr val="202A22"/>
                </a:solidFill>
                <a:latin typeface="Calibri"/>
              </a:rPr>
              <a:t>Appliquer et évaluer le pipeline de détection de boiterie sur les données IoT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1892807"/>
            <a:ext cx="1417320" cy="438912"/>
          </a:xfrm>
          <a:prstGeom prst="roundRect">
            <a:avLst>
              <a:gd name="adj" fmla="val 35000"/>
            </a:avLst>
          </a:prstGeom>
          <a:solidFill>
            <a:srgbClr val="8F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29800" y="1892807"/>
            <a:ext cx="1417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Juin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70632"/>
            <a:ext cx="10881360" cy="1024128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044952"/>
            <a:ext cx="475488" cy="475488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916936"/>
            <a:ext cx="7863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4B2A"/>
                </a:solidFill>
                <a:latin typeface="Calibri"/>
              </a:rPr>
              <a:t>Objectif 2 — </a:t>
            </a:r>
            <a:r>
              <a:rPr sz="1600" b="0">
                <a:solidFill>
                  <a:srgbClr val="202A22"/>
                </a:solidFill>
                <a:latin typeface="Calibri"/>
              </a:rPr>
              <a:t>Analyser la relation entre conditions environnementales et comportement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3063240"/>
            <a:ext cx="1417320" cy="438912"/>
          </a:xfrm>
          <a:prstGeom prst="roundRect">
            <a:avLst>
              <a:gd name="adj" fmla="val 35000"/>
            </a:avLst>
          </a:prstGeom>
          <a:solidFill>
            <a:srgbClr val="8F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9800" y="3063240"/>
            <a:ext cx="1417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Juillet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41064"/>
            <a:ext cx="10881360" cy="1024128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215384"/>
            <a:ext cx="475488" cy="475488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087368"/>
            <a:ext cx="7863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4B2A"/>
                </a:solidFill>
                <a:latin typeface="Calibri"/>
              </a:rPr>
              <a:t>Objectif 3 — </a:t>
            </a:r>
            <a:r>
              <a:rPr sz="1600" b="0">
                <a:solidFill>
                  <a:srgbClr val="202A22"/>
                </a:solidFill>
                <a:latin typeface="Calibri"/>
              </a:rPr>
              <a:t>Développer un notebook de démonstration IoT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4233672"/>
            <a:ext cx="1417320" cy="438912"/>
          </a:xfrm>
          <a:prstGeom prst="roundRect">
            <a:avLst>
              <a:gd name="adj" fmla="val 35000"/>
            </a:avLst>
          </a:prstGeom>
          <a:solidFill>
            <a:srgbClr val="8F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4233672"/>
            <a:ext cx="1417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Août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11496"/>
            <a:ext cx="10881360" cy="1024128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5385816"/>
            <a:ext cx="475488" cy="475488"/>
          </a:xfrm>
          <a:prstGeom prst="ellipse">
            <a:avLst/>
          </a:prstGeom>
          <a:solidFill>
            <a:srgbClr val="C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257800"/>
            <a:ext cx="7863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4B2A"/>
                </a:solidFill>
                <a:latin typeface="Calibri"/>
              </a:rPr>
              <a:t>Objectif 4 — </a:t>
            </a:r>
            <a:r>
              <a:rPr sz="1600" b="0">
                <a:solidFill>
                  <a:srgbClr val="202A22"/>
                </a:solidFill>
                <a:latin typeface="Calibri"/>
              </a:rPr>
              <a:t>Support technique aux boîtes à outils WELL-E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5404104"/>
            <a:ext cx="1417320" cy="438912"/>
          </a:xfrm>
          <a:prstGeom prst="roundRect">
            <a:avLst>
              <a:gd name="adj" fmla="val 35000"/>
            </a:avLst>
          </a:prstGeom>
          <a:solidFill>
            <a:srgbClr val="C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5404104"/>
            <a:ext cx="1417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Fin août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48640" cy="54864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4B2A"/>
                </a:solidFill>
                <a:latin typeface="Cambria"/>
              </a:rPr>
              <a:t>Les données du corpus McGill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Quatre essais · capteurs IceTag (activité) + HOBO (environnement)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25780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8F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89280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24B2A"/>
                </a:solidFill>
                <a:latin typeface="Cambria"/>
              </a:rPr>
              <a:t>Fall 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4048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30 vaches   ·   nov–déc 2019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25780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8F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9280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24B2A"/>
                </a:solidFill>
                <a:latin typeface="Cambria"/>
              </a:rPr>
              <a:t>Summer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048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18 vaches   ·   juin–sept 2019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525780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8F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349300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24B2A"/>
                </a:solidFill>
                <a:latin typeface="Cambria"/>
              </a:rPr>
              <a:t>Winter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4005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17 vaches   ·   janv–avr 2019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91840"/>
            <a:ext cx="525780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8F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9300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24B2A"/>
                </a:solidFill>
                <a:latin typeface="Cambria"/>
              </a:rPr>
              <a:t>Fall 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05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10 vaches   ·   30 nov–6 déc 2021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224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212080"/>
            <a:ext cx="10332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FB36A"/>
                </a:solidFill>
                <a:latin typeface="Calibri"/>
              </a:rPr>
              <a:t>Capteur IceTag : </a:t>
            </a:r>
            <a:r>
              <a:rPr sz="1500" b="0">
                <a:solidFill>
                  <a:srgbClr val="FFFFFF"/>
                </a:solidFill>
                <a:latin typeface="Calibri"/>
              </a:rPr>
              <a:t>pas, motion index, temps couché/debout, transitions — agrégés en intervalles de 15 min.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FB36A"/>
                </a:solidFill>
                <a:latin typeface="Calibri"/>
              </a:rPr>
              <a:t>Capteur HOBO : </a:t>
            </a:r>
            <a:r>
              <a:rPr sz="1500" b="0">
                <a:solidFill>
                  <a:srgbClr val="FFFFFF"/>
                </a:solidFill>
                <a:latin typeface="Calibri"/>
              </a:rPr>
              <a:t>température et humidité (5 min) → indice de stress thermique THI.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48640" cy="54864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4B2A"/>
                </a:solidFill>
                <a:latin typeface="Cambria"/>
              </a:rPr>
              <a:t>Objectif 1 — Application du pipeline (Tâche 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Pipeline du mémoire appliqué aux 4 essais, sans modification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4C7A3F"/>
                </a:solidFill>
                <a:latin typeface="Cambri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essais traités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4C7A3F"/>
                </a:solidFill>
                <a:latin typeface="Cambria"/>
              </a:rPr>
              <a:t>385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7004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alertes générées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4592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78308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4C7A3F"/>
                </a:solidFill>
                <a:latin typeface="Cambria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67004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reproductible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108813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F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24B2A"/>
                </a:solidFill>
                <a:latin typeface="Cambria"/>
              </a:rPr>
              <a:t>Résultats par essai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69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A766C"/>
                </a:solidFill>
                <a:latin typeface="Calibri"/>
              </a:rPr>
              <a:t>Essai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0690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A766C"/>
                </a:solidFill>
                <a:latin typeface="Calibri"/>
              </a:rPr>
              <a:t>Vaches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069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A766C"/>
                </a:solidFill>
                <a:latin typeface="Calibri"/>
              </a:rPr>
              <a:t>Alertes boiterie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531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Fall 2019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4531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4531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C7A3F"/>
                </a:solidFill>
                <a:latin typeface="Calibri"/>
              </a:rP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5546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Summer 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85546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85546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C7A3F"/>
                </a:solidFill>
                <a:latin typeface="Calibri"/>
              </a:rPr>
              <a:t>127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Winter 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25780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C7A3F"/>
                </a:solidFill>
                <a:latin typeface="Calibri"/>
              </a:rPr>
              <a:t>149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660136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Fall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66013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6601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C7A3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48640" cy="54864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4B2A"/>
                </a:solidFill>
                <a:latin typeface="Cambria"/>
              </a:rPr>
              <a:t>Objectif 1 — Diagnostic : que détecte le pipeline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Confrontation aux scores cliniques SLS (Winter 2019, synchrone)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2011680"/>
          </a:xfrm>
          <a:prstGeom prst="roundRect">
            <a:avLst>
              <a:gd name="adj" fmla="val 9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4C7A3F"/>
                </a:solidFill>
                <a:latin typeface="Cambria"/>
              </a:rPr>
              <a:t>✓  Ce qui fonctionne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Le pipeline se transfère techniquement aux données McGill, sans modification ni réglage.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La portabilité est démontrée.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349240" cy="2011680"/>
          </a:xfrm>
          <a:prstGeom prst="roundRect">
            <a:avLst>
              <a:gd name="adj" fmla="val 9000"/>
            </a:avLst>
          </a:prstGeom>
          <a:solidFill>
            <a:srgbClr val="F7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C07A2B"/>
                </a:solidFill>
                <a:latin typeface="Cambria"/>
              </a:rPr>
              <a:t>✗  Ce qui ne concorde 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Les alertes ne correspondent pas aux vaches cliniquement boiteuses.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Corrélation nulle (AUC ≈ 0,24, p = 0,65).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10881360" cy="2057400"/>
          </a:xfrm>
          <a:prstGeom prst="roundRect">
            <a:avLst>
              <a:gd name="adj" fmla="val 7000"/>
            </a:avLst>
          </a:prstGeom>
          <a:solidFill>
            <a:srgbClr val="224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8FB36A"/>
                </a:solidFill>
                <a:latin typeface="Cambria"/>
              </a:rPr>
              <a:t>La cause : le capteur, pas l'algorithme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10149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Deux familles de variables testées (activité ET couchage) : aucun signal séparant boiteuses et saines.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L'IceTag mesure </a:t>
            </a:r>
            <a:r>
              <a:rPr sz="1500" b="1">
                <a:solidFill>
                  <a:srgbClr val="8FB36A"/>
                </a:solidFill>
                <a:latin typeface="Calibri"/>
              </a:rPr>
              <a:t>la quantité de mouvement</a:t>
            </a:r>
            <a:r>
              <a:rPr sz="1500" b="0">
                <a:solidFill>
                  <a:srgbClr val="FFFFFF"/>
                </a:solidFill>
                <a:latin typeface="Calibri"/>
              </a:rPr>
              <a:t>, pas </a:t>
            </a:r>
            <a:r>
              <a:rPr sz="1500" b="1">
                <a:solidFill>
                  <a:srgbClr val="8FB36A"/>
                </a:solidFill>
                <a:latin typeface="Calibri"/>
              </a:rPr>
              <a:t>l'asymétrie de démarche</a:t>
            </a:r>
            <a:r>
              <a:rPr sz="1500" b="0">
                <a:solidFill>
                  <a:srgbClr val="FFFFFF"/>
                </a:solidFill>
                <a:latin typeface="Calibri"/>
              </a:rPr>
              <a:t> — seul marqueur de la boiterie légère.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1">
                <a:solidFill>
                  <a:srgbClr val="CFE2BC"/>
                </a:solidFill>
                <a:latin typeface="Calibri"/>
              </a:rPr>
              <a:t>→ Confirmé par McGill : peu, voire pas, de vaches cliniquement boiteuses dans les essais.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48640" cy="54864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4B2A"/>
                </a:solidFill>
                <a:latin typeface="Cambria"/>
              </a:rPr>
              <a:t>Objectif 1 — Concordance comportementale (Tâche 1.2)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Alignement des alertes avec les observations de scans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246120" cy="1828800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4C7A3F"/>
                </a:solidFill>
                <a:latin typeface="Cambria"/>
              </a:rPr>
              <a:t>396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766C"/>
                </a:solidFill>
                <a:latin typeface="Calibri"/>
              </a:rPr>
              <a:t>scans alignés · 4 essais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691640"/>
            <a:ext cx="3246120" cy="1828800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874519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4C7A3F"/>
                </a:solidFill>
                <a:latin typeface="Cambria"/>
              </a:rPr>
              <a:t>24–44%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7889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766C"/>
                </a:solidFill>
                <a:latin typeface="Calibri"/>
              </a:rPr>
              <a:t>alertes à ±1 jour d'un scan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691640"/>
            <a:ext cx="4023360" cy="1828800"/>
          </a:xfrm>
          <a:prstGeom prst="roundRect">
            <a:avLst>
              <a:gd name="adj" fmla="val 10000"/>
            </a:avLst>
          </a:prstGeom>
          <a:solidFill>
            <a:srgbClr val="F7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874519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07A2B"/>
                </a:solidFill>
                <a:latin typeface="Cambria"/>
              </a:rPr>
              <a:t>≈ hasard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432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766C"/>
                </a:solidFill>
                <a:latin typeface="Calibri"/>
              </a:rPr>
              <a:t>après contrôle du confondant « essai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108813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F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4B2A"/>
                </a:solidFill>
                <a:latin typeface="Cambria"/>
              </a:rPr>
              <a:t>Lecture rigoureuse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>
                <a:solidFill>
                  <a:srgbClr val="202A22"/>
                </a:solidFill>
                <a:latin typeface="Calibri"/>
              </a:rPr>
              <a:t>• Une concordance apparente en analyse groupée s'est révélée être un artefact statistique (paradoxe de Simpson).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>
                <a:solidFill>
                  <a:srgbClr val="202A22"/>
                </a:solidFill>
                <a:latin typeface="Calibri"/>
              </a:rPr>
              <a:t>• Après contrôle par essai : pas de différence comportementale robuste entre scans avec et sans alerte.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>
                <a:solidFill>
                  <a:srgbClr val="202A22"/>
                </a:solidFill>
                <a:latin typeface="Calibri"/>
              </a:rPr>
              <a:t>• Puissance limitée (11–14 scans alertés par essai) → résultat présenté honnêtement comme non concluant.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48640" cy="54864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4B2A"/>
                </a:solidFill>
                <a:latin typeface="Cambria"/>
              </a:rPr>
              <a:t>Objectif 2 — Environnement × comportement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Summer 2019 · synchronisation IceTag + HOBO + scans datés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224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FB36A"/>
                </a:solidFill>
                <a:latin typeface="Cambria"/>
              </a:rPr>
              <a:t>Tâche 2.1 — Synchronisation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Dataset multimodal : </a:t>
            </a:r>
            <a:r>
              <a:rPr sz="1400" b="1">
                <a:solidFill>
                  <a:srgbClr val="8FB36A"/>
                </a:solidFill>
                <a:latin typeface="Calibri"/>
              </a:rPr>
              <a:t>87 500 intervalles</a:t>
            </a:r>
            <a:r>
              <a:rPr sz="1400" b="0">
                <a:solidFill>
                  <a:srgbClr val="FFFFFF"/>
                </a:solidFill>
                <a:latin typeface="Calibri"/>
              </a:rPr>
              <a:t>, 17 vaches.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Trois sources alignées : activité, température/THI, composition comportementale.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4C7A3F"/>
                </a:solidFill>
                <a:latin typeface="Cambria"/>
              </a:rPr>
              <a:t>Tâche 2.2 — 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Effet du stress thermique (THI) sur l'activité et le comportement.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Alimentation ↑ avec le THI : </a:t>
            </a:r>
            <a:r>
              <a:rPr sz="1400" b="1">
                <a:solidFill>
                  <a:srgbClr val="4C7A3F"/>
                </a:solidFill>
                <a:latin typeface="Calibri"/>
              </a:rPr>
              <a:t>rho = 0,74</a:t>
            </a:r>
            <a:r>
              <a:rPr sz="1400" b="0">
                <a:solidFill>
                  <a:srgbClr val="202A22"/>
                </a:solidFill>
                <a:latin typeface="Calibri"/>
              </a:rPr>
              <a:t> (8 jours — suggestif).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108813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C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4B2A"/>
                </a:solidFill>
                <a:latin typeface="Cambria"/>
              </a:rPr>
              <a:t>Contraste avec l'Objectif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0916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02A22"/>
                </a:solidFill>
                <a:latin typeface="Calibri"/>
              </a:rPr>
              <a:t>Contrairement à la boiterie (signal absent), l'environnement produit un </a:t>
            </a:r>
            <a:r>
              <a:rPr sz="1500" b="1">
                <a:solidFill>
                  <a:srgbClr val="4C7A3F"/>
                </a:solidFill>
                <a:latin typeface="Calibri"/>
              </a:rPr>
              <a:t>signal réel et mesurable</a:t>
            </a:r>
            <a:r>
              <a:rPr sz="1500" b="0">
                <a:solidFill>
                  <a:srgbClr val="202A22"/>
                </a:solidFill>
                <a:latin typeface="Calibri"/>
              </a:rPr>
              <a:t> sur le comportement.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Résultats vérifiés contre les confondants (heure, pseudo-réplication) et bornés honnêtement.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48640" cy="54864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4B2A"/>
                </a:solidFill>
                <a:latin typeface="Cambria"/>
              </a:rPr>
              <a:t>Objectif 3 — Notebook de démonstration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Vitrine pédagogique assemblant l'ensemble des travaux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9384"/>
            <a:ext cx="438912" cy="438912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19656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4B2A"/>
                </a:solidFill>
                <a:latin typeface="Calibri"/>
              </a:rPr>
              <a:t>Chargement &amp; prétraitement  </a:t>
            </a:r>
            <a:r>
              <a:rPr sz="1450" b="0">
                <a:solidFill>
                  <a:srgbClr val="6A766C"/>
                </a:solidFill>
                <a:latin typeface="Calibri"/>
              </a:rPr>
              <a:t>— IceTag → intervalles de 15 min, profils journaliers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8F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980944"/>
            <a:ext cx="438912" cy="438912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871216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4B2A"/>
                </a:solidFill>
                <a:latin typeface="Calibri"/>
              </a:rPr>
              <a:t>Exécution du pipeline  </a:t>
            </a:r>
            <a:r>
              <a:rPr sz="1450" b="0">
                <a:solidFill>
                  <a:srgbClr val="6A766C"/>
                </a:solidFill>
                <a:latin typeface="Calibri"/>
              </a:rPr>
              <a:t>— alertes sur les 4 essais, distribution horaire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032504"/>
            <a:ext cx="438912" cy="438912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22776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4B2A"/>
                </a:solidFill>
                <a:latin typeface="Calibri"/>
              </a:rPr>
              <a:t>Visualisations env. × comportement  </a:t>
            </a:r>
            <a:r>
              <a:rPr sz="1450" b="0">
                <a:solidFill>
                  <a:srgbClr val="6A766C"/>
                </a:solidFill>
                <a:latin typeface="Calibri"/>
              </a:rPr>
              <a:t>— activité vs THI, composition comportementale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8F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5084064"/>
            <a:ext cx="438912" cy="438912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974336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4B2A"/>
                </a:solidFill>
                <a:latin typeface="Calibri"/>
              </a:rPr>
              <a:t>Guide d'interprétation  </a:t>
            </a:r>
            <a:r>
              <a:rPr sz="1450" b="0">
                <a:solidFill>
                  <a:srgbClr val="6A766C"/>
                </a:solidFill>
                <a:latin typeface="Calibri"/>
              </a:rPr>
              <a:t>— alerte = dépistage, non diagnostic ; bonnes pratiques IoT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48640" cy="54864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4B2A"/>
                </a:solidFill>
                <a:latin typeface="Cambria"/>
              </a:rPr>
              <a:t>Objectif 4 — Support WELL-E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En attente des scripts — sur les 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02A22"/>
                </a:solidFill>
                <a:latin typeface="Calibri"/>
              </a:rPr>
              <a:t>Scripts Python WELL-E + contexte du projet de Mira : </a:t>
            </a:r>
            <a:r>
              <a:rPr sz="1600" b="1">
                <a:solidFill>
                  <a:srgbClr val="C07A2B"/>
                </a:solidFill>
                <a:latin typeface="Calibri"/>
              </a:rPr>
              <a:t>réception à la mi-juillet</a:t>
            </a:r>
            <a:r>
              <a:rPr sz="1600" b="0">
                <a:solidFill>
                  <a:srgbClr val="202A22"/>
                </a:solidFill>
                <a:latin typeface="Calibri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4023360"/>
            <a:ext cx="365760" cy="36576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20" y="4169663"/>
            <a:ext cx="3108960" cy="73152"/>
          </a:xfrm>
          <a:prstGeom prst="roundRect">
            <a:avLst>
              <a:gd name="adj" fmla="val 0"/>
            </a:avLst>
          </a:prstGeom>
          <a:solidFill>
            <a:srgbClr val="8F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4B2A"/>
                </a:solidFill>
                <a:latin typeface="Calibri"/>
              </a:rPr>
              <a:t>Aujourd'hui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A766C"/>
                </a:solidFill>
                <a:latin typeface="Calibri"/>
              </a:rPr>
              <a:t>3 objectifs faits</a:t>
            </a:r>
          </a:p>
        </p:txBody>
      </p:sp>
      <p:sp>
        <p:nvSpPr>
          <p:cNvPr id="12" name="Oval 11"/>
          <p:cNvSpPr/>
          <p:nvPr/>
        </p:nvSpPr>
        <p:spPr>
          <a:xfrm>
            <a:off x="4800600" y="4023360"/>
            <a:ext cx="365760" cy="365760"/>
          </a:xfrm>
          <a:prstGeom prst="ellipse">
            <a:avLst/>
          </a:prstGeom>
          <a:solidFill>
            <a:srgbClr val="C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57800" y="4169663"/>
            <a:ext cx="3108960" cy="73152"/>
          </a:xfrm>
          <a:prstGeom prst="roundRect">
            <a:avLst>
              <a:gd name="adj" fmla="val 0"/>
            </a:avLst>
          </a:prstGeom>
          <a:solidFill>
            <a:srgbClr val="8F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4526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4B2A"/>
                </a:solidFill>
                <a:latin typeface="Calibri"/>
              </a:rPr>
              <a:t>Mi-juillet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892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A766C"/>
                </a:solidFill>
                <a:latin typeface="Calibri"/>
              </a:rPr>
              <a:t>réception scripts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0" y="4023360"/>
            <a:ext cx="365760" cy="36576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526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4B2A"/>
                </a:solidFill>
                <a:latin typeface="Calibri"/>
              </a:rPr>
              <a:t>Avant 3 août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92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A766C"/>
                </a:solidFill>
                <a:latin typeface="Calibri"/>
              </a:rPr>
              <a:t>intégration WELL-E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48640" cy="54864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4B2A"/>
                </a:solidFill>
                <a:latin typeface="Cambria"/>
              </a:rPr>
              <a:t>Limites assumées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66C"/>
                </a:solidFill>
                <a:latin typeface="Calibri"/>
              </a:rPr>
              <a:t>Ce que les données permettent — et ne permettent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9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947672"/>
            <a:ext cx="457200" cy="457200"/>
          </a:xfrm>
          <a:prstGeom prst="ellipse">
            <a:avLst/>
          </a:prstGeom>
          <a:solidFill>
            <a:srgbClr val="C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74520"/>
            <a:ext cx="9692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24B2A"/>
                </a:solidFill>
                <a:latin typeface="Cambria"/>
              </a:rPr>
              <a:t>Fall 2021 incomplet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Fenêtre de 7 jours seulement ; téléchargements antérieurs introuvables (confirmé McGill). Non bloquant.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10881360" cy="1234440"/>
          </a:xfrm>
          <a:prstGeom prst="roundRect">
            <a:avLst>
              <a:gd name="adj" fmla="val 9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364992"/>
            <a:ext cx="457200" cy="457200"/>
          </a:xfrm>
          <a:prstGeom prst="ellipse">
            <a:avLst/>
          </a:prstGeom>
          <a:solidFill>
            <a:srgbClr val="C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649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91840"/>
            <a:ext cx="9692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24B2A"/>
                </a:solidFill>
                <a:latin typeface="Cambria"/>
              </a:rPr>
              <a:t>Boiterie légère indétectable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Le capteur d'activité ne capte pas l'asymétrie de démarche. Limite partagée par toute l'instrumentation d'activité.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9000"/>
            </a:avLst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82312"/>
            <a:ext cx="457200" cy="457200"/>
          </a:xfrm>
          <a:prstGeom prst="ellipse">
            <a:avLst/>
          </a:prstGeom>
          <a:solidFill>
            <a:srgbClr val="C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09160"/>
            <a:ext cx="9692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24B2A"/>
                </a:solidFill>
                <a:latin typeface="Cambria"/>
              </a:rPr>
              <a:t>Effectifs réduits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02A22"/>
                </a:solidFill>
                <a:latin typeface="Calibri"/>
              </a:rPr>
              <a:t>Peu de vaches et de jours de scan → résultats environnementaux présentés comme suggestifs.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66C"/>
                </a:solidFill>
                <a:latin typeface="Calibri"/>
              </a:rPr>
              <a:t>Documenter honnêtement les limites d'un jeu de données externe est de la bonne science.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224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Bilan et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822960"/>
          </a:xfrm>
          <a:prstGeom prst="roundRect">
            <a:avLst>
              <a:gd name="adj" fmla="val 10000"/>
            </a:avLst>
          </a:prstGeom>
          <a:solidFill>
            <a:srgbClr val="2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874520"/>
            <a:ext cx="457200" cy="457200"/>
          </a:xfrm>
          <a:prstGeom prst="ellipse">
            <a:avLst/>
          </a:prstGeom>
          <a:solidFill>
            <a:srgbClr val="8F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24B2A"/>
                </a:solidFill>
                <a:latin typeface="Cambri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19656"/>
            <a:ext cx="74980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Objectif 1 — </a:t>
            </a:r>
            <a:r>
              <a:rPr sz="1500" b="0">
                <a:solidFill>
                  <a:srgbClr val="CFE2BC"/>
                </a:solidFill>
                <a:latin typeface="Calibri"/>
              </a:rPr>
              <a:t>Pipeline + 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81965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FB36A"/>
                </a:solidFill>
                <a:latin typeface="Calibri"/>
              </a:rPr>
              <a:t>Fait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10515600" cy="822960"/>
          </a:xfrm>
          <a:prstGeom prst="roundRect">
            <a:avLst>
              <a:gd name="adj" fmla="val 10000"/>
            </a:avLst>
          </a:prstGeom>
          <a:solidFill>
            <a:srgbClr val="2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34640"/>
            <a:ext cx="457200" cy="457200"/>
          </a:xfrm>
          <a:prstGeom prst="ellipse">
            <a:avLst/>
          </a:prstGeom>
          <a:solidFill>
            <a:srgbClr val="8F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34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24B2A"/>
                </a:solidFill>
                <a:latin typeface="Cambr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779776"/>
            <a:ext cx="74980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Objectif 2 — </a:t>
            </a:r>
            <a:r>
              <a:rPr sz="1500" b="0">
                <a:solidFill>
                  <a:srgbClr val="CFE2BC"/>
                </a:solidFill>
                <a:latin typeface="Calibri"/>
              </a:rPr>
              <a:t>Environnement × comportement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77977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FB36A"/>
                </a:solidFill>
                <a:latin typeface="Calibri"/>
              </a:rPr>
              <a:t>Fait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11880"/>
            <a:ext cx="10515600" cy="822960"/>
          </a:xfrm>
          <a:prstGeom prst="roundRect">
            <a:avLst>
              <a:gd name="adj" fmla="val 10000"/>
            </a:avLst>
          </a:prstGeom>
          <a:solidFill>
            <a:srgbClr val="2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3794760"/>
            <a:ext cx="457200" cy="457200"/>
          </a:xfrm>
          <a:prstGeom prst="ellipse">
            <a:avLst/>
          </a:prstGeom>
          <a:solidFill>
            <a:srgbClr val="8F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94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24B2A"/>
                </a:solidFill>
                <a:latin typeface="Cambria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9896"/>
            <a:ext cx="74980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Objectif 3 — </a:t>
            </a:r>
            <a:r>
              <a:rPr sz="1500" b="0">
                <a:solidFill>
                  <a:srgbClr val="CFE2BC"/>
                </a:solidFill>
                <a:latin typeface="Calibri"/>
              </a:rPr>
              <a:t>Notebook démonstration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73989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FB36A"/>
                </a:solidFill>
                <a:latin typeface="Calibri"/>
              </a:rPr>
              <a:t>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72000"/>
            <a:ext cx="10515600" cy="822960"/>
          </a:xfrm>
          <a:prstGeom prst="roundRect">
            <a:avLst>
              <a:gd name="adj" fmla="val 10000"/>
            </a:avLst>
          </a:prstGeom>
          <a:solidFill>
            <a:srgbClr val="2C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4754880"/>
            <a:ext cx="457200" cy="457200"/>
          </a:xfrm>
          <a:prstGeom prst="ellipse">
            <a:avLst/>
          </a:prstGeom>
          <a:solidFill>
            <a:srgbClr val="C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754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700016"/>
            <a:ext cx="74980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Objectif 4 — </a:t>
            </a:r>
            <a:r>
              <a:rPr sz="1500" b="0">
                <a:solidFill>
                  <a:srgbClr val="CFE2BC"/>
                </a:solidFill>
                <a:latin typeface="Calibri"/>
              </a:rPr>
              <a:t>Support WELL-E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70001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7A2B"/>
                </a:solidFill>
                <a:latin typeface="Calibri"/>
              </a:rPr>
              <a:t>Mi-juillet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3 objectifs sur 4 livrés · le dernier ne dépend que des scripts WELL-E (mi-juillet).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224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754880" cy="4754880"/>
          </a:xfrm>
          <a:prstGeom prst="ellipse">
            <a:avLst/>
          </a:prstGeom>
          <a:solidFill>
            <a:srgbClr val="4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8FB36A"/>
                </a:solidFill>
                <a:latin typeface="Calibri"/>
              </a:rPr>
              <a:t>Questions et retours bienvenus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FA6"/>
                </a:solidFill>
                <a:latin typeface="Calibri"/>
              </a:rPr>
              <a:t>Aliou Barry — UQAM · Projet Well-E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