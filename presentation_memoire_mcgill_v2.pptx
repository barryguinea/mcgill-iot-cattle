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8" r:id="rId3"/>
    <p:sldId id="259" r:id="rId4"/>
    <p:sldId id="261" r:id="rId5"/>
    <p:sldId id="263" r:id="rId6"/>
    <p:sldId id="264" r:id="rId7"/>
    <p:sldId id="266" r:id="rId8"/>
    <p:sldId id="267" r:id="rId9"/>
    <p:sldId id="268" r:id="rId10"/>
    <p:sldId id="269" r:id="rId11"/>
    <p:sldId id="271" r:id="rId12"/>
    <p:sldId id="272" r:id="rId13"/>
    <p:sldId id="274" r:id="rId14"/>
    <p:sldId id="275" r:id="rId15"/>
    <p:sldId id="276" r:id="rId16"/>
    <p:sldId id="277" r:id="rId17"/>
    <p:sldId id="278" r:id="rId18"/>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1967"/>
  </p:normalViewPr>
  <p:slideViewPr>
    <p:cSldViewPr snapToGrid="0" snapToObjects="1">
      <p:cViewPr varScale="1">
        <p:scale>
          <a:sx n="154" d="100"/>
          <a:sy n="154" d="100"/>
        </p:scale>
        <p:origin x="3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7958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Bonjour, je m'appelle Aliou Barry, je fais une maîtrise en informatique à l'UQAM. Mon mémoire porte sur la détection de boiterie bovine probable à partir de données de capteurs IoT. Je vais vous montrer ce que j'ai fait, mes résultats, et comment ça peut s'appliquer à votre projet.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boiterie est la 2e cause de réforme en élevage laitier. La prévalence varie de 20 à 55% selon les études. La détection repose sur l'observation visuelle, qui est tardive et subjective. Les capteurs IoT offrent un suivi continu, mais sans labels cliniques. D'où mon approche : la détection d'anomalies non supervisée.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L'objectif est clair : un système reproductible, interprétable, et défendable. J'utilise une approche hybride : détection d'anomalies non supervisée, combinée à des règles métier explicites.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J'utilise des capteurs IceQube, similaires aux IceTag que vous connaissez. 37 839 lignes de données, 28 vaches, 41 jours. 5 variables comportementales mesurées toutes les 15 minutes. Les données sont vérifiées : corrélation parfaite avec la plateforme CowAlert.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système a deux couches. La première : Isolation Forest, un algorithme non supervisé qui identifie les comportements anormaux via des z-scores roulants sur les 5 variables. La deuxième : des règles métier explicites. Un épisode doit persister au moins 7 heures, plusieurs familles de signaux doivent être cohérentes, et un cooldown évite les alertes répétitives. IF détecte, les règles filtrent. Le résultat : des notifications actionnables.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pipeline est modulaire. Données brutes, nettoyage, feature engineering, Isolation Forest, règles métier, et en sortie des épisodes de boiterie probable avec un score de confiance de 0 à 100.</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J'injecte des perturbations synthétiques dans les données d'une vache. Les deux événements détectables sont récupérés, l'événement caché reste silencieux. Et surtout : seule la vache cible est affectée. Les 27 autres restent parfaitement stables. Ça montre la spécificité du système.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validation </a:t>
            </a:r>
            <a:r>
              <a:rPr dirty="0" err="1"/>
              <a:t>robuste</a:t>
            </a:r>
            <a:r>
              <a:rPr dirty="0"/>
              <a:t> : plus de 9 500 runs, 336 configurations, 8 seeds </a:t>
            </a:r>
            <a:r>
              <a:rPr dirty="0" err="1"/>
              <a:t>différentes</a:t>
            </a:r>
            <a:r>
              <a:rPr dirty="0"/>
              <a:t>. 100% de </a:t>
            </a:r>
            <a:r>
              <a:rPr dirty="0" err="1"/>
              <a:t>détection</a:t>
            </a:r>
            <a:r>
              <a:rPr dirty="0"/>
              <a:t> sur les </a:t>
            </a:r>
            <a:r>
              <a:rPr dirty="0" err="1"/>
              <a:t>cas</a:t>
            </a:r>
            <a:r>
              <a:rPr dirty="0"/>
              <a:t> forts, </a:t>
            </a:r>
            <a:r>
              <a:rPr dirty="0" err="1"/>
              <a:t>zéro</a:t>
            </a:r>
            <a:r>
              <a:rPr dirty="0"/>
              <a:t> </a:t>
            </a:r>
            <a:r>
              <a:rPr dirty="0" err="1"/>
              <a:t>fuite</a:t>
            </a:r>
            <a:r>
              <a:rPr dirty="0"/>
              <a:t> sur les </a:t>
            </a:r>
            <a:r>
              <a:rPr dirty="0" err="1"/>
              <a:t>cas</a:t>
            </a:r>
            <a:r>
              <a:rPr dirty="0"/>
              <a:t> non </a:t>
            </a:r>
            <a:r>
              <a:rPr dirty="0" err="1"/>
              <a:t>détectables</a:t>
            </a:r>
            <a:r>
              <a:rPr dirty="0"/>
              <a:t>. 0.105 </a:t>
            </a:r>
            <a:r>
              <a:rPr dirty="0" err="1"/>
              <a:t>fausses</a:t>
            </a:r>
            <a:r>
              <a:rPr dirty="0"/>
              <a:t> </a:t>
            </a:r>
            <a:r>
              <a:rPr dirty="0" err="1"/>
              <a:t>alertes</a:t>
            </a:r>
            <a:r>
              <a:rPr dirty="0"/>
              <a:t> par </a:t>
            </a:r>
            <a:r>
              <a:rPr dirty="0" err="1"/>
              <a:t>vache</a:t>
            </a:r>
            <a:r>
              <a:rPr dirty="0"/>
              <a:t> et par jour, et le tout </a:t>
            </a:r>
            <a:r>
              <a:rPr dirty="0" err="1"/>
              <a:t>en</a:t>
            </a:r>
            <a:r>
              <a:rPr dirty="0"/>
              <a:t> 0.6 </a:t>
            </a:r>
            <a:r>
              <a:rPr dirty="0" err="1"/>
              <a:t>seconde</a:t>
            </a:r>
            <a:r>
              <a:rPr dirty="0"/>
              <a:t> par </a:t>
            </a:r>
            <a:r>
              <a:rPr dirty="0" err="1"/>
              <a:t>vache</a:t>
            </a:r>
            <a:r>
              <a:rPr dirty="0"/>
              <a:t>. </a:t>
            </a:r>
            <a:r>
              <a:rPr dirty="0" err="1"/>
              <a:t>C'est</a:t>
            </a:r>
            <a:r>
              <a:rPr dirty="0"/>
              <a:t> scalable pour un </a:t>
            </a:r>
            <a:r>
              <a:rPr dirty="0" err="1"/>
              <a:t>troupeau</a:t>
            </a:r>
            <a:r>
              <a:rPr dirty="0"/>
              <a:t> </a:t>
            </a:r>
            <a:r>
              <a:rPr dirty="0" err="1"/>
              <a:t>réel</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L'étude</a:t>
            </a:r>
            <a:r>
              <a:rPr dirty="0"/>
              <a:t> </a:t>
            </a:r>
            <a:r>
              <a:rPr dirty="0" err="1"/>
              <a:t>d'ablation</a:t>
            </a:r>
            <a:r>
              <a:rPr dirty="0"/>
              <a:t> montre </a:t>
            </a:r>
            <a:r>
              <a:rPr dirty="0" err="1"/>
              <a:t>que</a:t>
            </a:r>
            <a:r>
              <a:rPr dirty="0"/>
              <a:t> </a:t>
            </a:r>
            <a:r>
              <a:rPr dirty="0" err="1"/>
              <a:t>chaque</a:t>
            </a:r>
            <a:r>
              <a:rPr dirty="0"/>
              <a:t> </a:t>
            </a:r>
            <a:r>
              <a:rPr dirty="0" err="1"/>
              <a:t>composante</a:t>
            </a:r>
            <a:r>
              <a:rPr dirty="0"/>
              <a:t> est </a:t>
            </a:r>
            <a:r>
              <a:rPr dirty="0" err="1"/>
              <a:t>nécessaire</a:t>
            </a:r>
            <a:r>
              <a:rPr dirty="0"/>
              <a:t>. IF seul </a:t>
            </a:r>
            <a:r>
              <a:rPr dirty="0" err="1"/>
              <a:t>détecte</a:t>
            </a:r>
            <a:r>
              <a:rPr dirty="0"/>
              <a:t> tout </a:t>
            </a:r>
            <a:r>
              <a:rPr dirty="0" err="1"/>
              <a:t>mais</a:t>
            </a:r>
            <a:r>
              <a:rPr dirty="0"/>
              <a:t> sans </a:t>
            </a:r>
            <a:r>
              <a:rPr dirty="0" err="1"/>
              <a:t>précision</a:t>
            </a:r>
            <a:r>
              <a:rPr dirty="0"/>
              <a:t>. </a:t>
            </a:r>
            <a:r>
              <a:rPr dirty="0" err="1"/>
              <a:t>Règles</a:t>
            </a:r>
            <a:r>
              <a:rPr dirty="0"/>
              <a:t> </a:t>
            </a:r>
            <a:r>
              <a:rPr dirty="0" err="1"/>
              <a:t>seules</a:t>
            </a:r>
            <a:r>
              <a:rPr dirty="0"/>
              <a:t> : 3x plus de faux </a:t>
            </a:r>
            <a:r>
              <a:rPr dirty="0" err="1"/>
              <a:t>positifs</a:t>
            </a:r>
            <a:r>
              <a:rPr dirty="0"/>
              <a:t>. Fait </a:t>
            </a:r>
            <a:r>
              <a:rPr dirty="0" err="1"/>
              <a:t>intéressant</a:t>
            </a:r>
            <a:r>
              <a:rPr dirty="0"/>
              <a:t> : LOF + </a:t>
            </a:r>
            <a:r>
              <a:rPr dirty="0" err="1"/>
              <a:t>règles</a:t>
            </a:r>
            <a:r>
              <a:rPr dirty="0"/>
              <a:t> est </a:t>
            </a:r>
            <a:r>
              <a:rPr dirty="0" err="1"/>
              <a:t>meilleur</a:t>
            </a:r>
            <a:r>
              <a:rPr dirty="0"/>
              <a:t> sur les faux </a:t>
            </a:r>
            <a:r>
              <a:rPr dirty="0" err="1"/>
              <a:t>positifs</a:t>
            </a:r>
            <a:r>
              <a:rPr dirty="0"/>
              <a:t>. Je montre les alternatives </a:t>
            </a:r>
            <a:r>
              <a:rPr dirty="0" err="1"/>
              <a:t>honnêtement</a:t>
            </a:r>
            <a:r>
              <a:rPr dirty="0"/>
              <a:t>, y </a:t>
            </a:r>
            <a:r>
              <a:rPr dirty="0" err="1"/>
              <a:t>compris</a:t>
            </a:r>
            <a:r>
              <a:rPr dirty="0"/>
              <a:t> </a:t>
            </a:r>
            <a:r>
              <a:rPr dirty="0" err="1"/>
              <a:t>celles</a:t>
            </a:r>
            <a:r>
              <a:rPr dirty="0"/>
              <a:t> qui </a:t>
            </a:r>
            <a:r>
              <a:rPr dirty="0" err="1"/>
              <a:t>battent</a:t>
            </a:r>
            <a:r>
              <a:rPr dirty="0"/>
              <a:t> </a:t>
            </a:r>
            <a:r>
              <a:rPr dirty="0" err="1"/>
              <a:t>mon</a:t>
            </a:r>
            <a:r>
              <a:rPr dirty="0"/>
              <a:t> </a:t>
            </a:r>
            <a:r>
              <a:rPr dirty="0" err="1"/>
              <a:t>système</a:t>
            </a:r>
            <a:r>
              <a:rPr dirty="0"/>
              <a:t> sur </a:t>
            </a:r>
            <a:r>
              <a:rPr dirty="0" err="1"/>
              <a:t>certains</a:t>
            </a:r>
            <a:r>
              <a:rPr dirty="0"/>
              <a:t> </a:t>
            </a:r>
            <a:r>
              <a:rPr dirty="0" err="1"/>
              <a:t>critères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J'ai développé une interface Streamlit pour rendre le système accessible. 4 onglets : analyse individuelle, classement du troupeau, carte de chaleur, export. Tous les paramètres sont ajustables en temps réel. Un point clé : l'interface est séparée de la logique scientifique. Les résultats sont identiques que vous utilisiez l'interface ou la ligne de commande.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contributions : un pipeline complet, une validation rigoureuse, une ablation honnête, une traçabilité expérimentale complète, et le code est open source.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limites sont assumées. Pas de validation clinique au sens strict — je travaille avec des injections synthétiques. Un seul corpus, une seule ferme. Les seuils sont calibrés sur un seul jeu de données. Ce sont des limites partagées par la majorité de la littérature dans le domaine. Et c'est justement là que votre projet est intéressant.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 mémoire et votre projet ont un socle commun : les données capteurs bovines, les capteurs accéléromètres, les pipelines reproductibles. La question est différente — moi la boiterie, vous l'effet de l'environnement — mais les compétences sont directement transférables.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Concrètement</a:t>
            </a:r>
            <a:r>
              <a:rPr dirty="0"/>
              <a:t> : </a:t>
            </a:r>
            <a:r>
              <a:rPr dirty="0" err="1"/>
              <a:t>j'ai</a:t>
            </a:r>
            <a:r>
              <a:rPr dirty="0"/>
              <a:t> déjà </a:t>
            </a:r>
            <a:r>
              <a:rPr dirty="0" err="1"/>
              <a:t>construit</a:t>
            </a:r>
            <a:r>
              <a:rPr dirty="0"/>
              <a:t> un pipeline </a:t>
            </a:r>
            <a:r>
              <a:rPr dirty="0" err="1"/>
              <a:t>complet</a:t>
            </a:r>
            <a:r>
              <a:rPr dirty="0"/>
              <a:t> sur des données </a:t>
            </a:r>
            <a:r>
              <a:rPr dirty="0" err="1"/>
              <a:t>capteurs</a:t>
            </a:r>
            <a:r>
              <a:rPr dirty="0"/>
              <a:t> bovines. Les </a:t>
            </a:r>
            <a:r>
              <a:rPr dirty="0" err="1"/>
              <a:t>capteurs</a:t>
            </a:r>
            <a:r>
              <a:rPr dirty="0"/>
              <a:t> </a:t>
            </a:r>
            <a:r>
              <a:rPr dirty="0" err="1"/>
              <a:t>sont</a:t>
            </a:r>
            <a:r>
              <a:rPr dirty="0"/>
              <a:t> </a:t>
            </a:r>
            <a:r>
              <a:rPr dirty="0" err="1"/>
              <a:t>similaires</a:t>
            </a:r>
            <a:r>
              <a:rPr dirty="0"/>
              <a:t>. Mon </a:t>
            </a:r>
            <a:r>
              <a:rPr dirty="0" err="1"/>
              <a:t>expérience</a:t>
            </a:r>
            <a:r>
              <a:rPr dirty="0"/>
              <a:t> </a:t>
            </a:r>
            <a:r>
              <a:rPr dirty="0" err="1"/>
              <a:t>en</a:t>
            </a:r>
            <a:r>
              <a:rPr dirty="0"/>
              <a:t> </a:t>
            </a:r>
            <a:r>
              <a:rPr dirty="0" err="1"/>
              <a:t>nettoyage</a:t>
            </a:r>
            <a:r>
              <a:rPr dirty="0"/>
              <a:t>, feature engineering et </a:t>
            </a:r>
            <a:r>
              <a:rPr dirty="0" err="1"/>
              <a:t>visualisation</a:t>
            </a:r>
            <a:r>
              <a:rPr dirty="0"/>
              <a:t> est </a:t>
            </a:r>
            <a:r>
              <a:rPr dirty="0" err="1"/>
              <a:t>directement</a:t>
            </a:r>
            <a:r>
              <a:rPr dirty="0"/>
              <a:t> </a:t>
            </a:r>
            <a:r>
              <a:rPr dirty="0" err="1"/>
              <a:t>transférable</a:t>
            </a:r>
            <a:r>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progression est en 5 phases. Phase 1, l'audit, est en cours. Phase 2, reproduire les résultats de l'article de Marjorie. Phase 3, intégrer l'environnement — ça dépend de vos données. Phase 4, aller plus loin analytiquement si les signaux bruts existent. Phase 5, le livrable : un notebook autonome pour votre équipe.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Voici les questions clés. Les plus critiques : est-ce que les signaux IceTag bruts existent ? Les données environnementales, à quelle fréquence ? Les observations comportementales, sous quel format ? Et surtout : l'objectif est-il explicatif, prédictif, ou les deux ? Vos réponses conditionnent directement les phases 3 et 4.</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Merci pour votre attention. Je suis ouvert à toutes vos questions et suggestions. N'hésitez pas à me dire vos priorités pour que j'adapte la suite du travail.</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bg.jpg"/>
          <p:cNvPicPr>
            <a:picLocks noChangeAspect="1"/>
          </p:cNvPicPr>
          <p:nvPr/>
        </p:nvPicPr>
        <p:blipFill>
          <a:blip r:embed="rId3"/>
          <a:stretch>
            <a:fillRect/>
          </a:stretch>
        </p:blipFill>
        <p:spPr>
          <a:xfrm>
            <a:off x="0" y="274320"/>
            <a:ext cx="9144000" cy="5143500"/>
          </a:xfrm>
          <a:prstGeom prst="rect">
            <a:avLst/>
          </a:prstGeom>
        </p:spPr>
      </p:pic>
      <p:sp>
        <p:nvSpPr>
          <p:cNvPr id="3" name="TextBox 2"/>
          <p:cNvSpPr txBox="1"/>
          <p:nvPr/>
        </p:nvSpPr>
        <p:spPr>
          <a:xfrm>
            <a:off x="1463040" y="2297430"/>
            <a:ext cx="7680960" cy="548640"/>
          </a:xfrm>
          <a:prstGeom prst="rect">
            <a:avLst/>
          </a:prstGeom>
          <a:noFill/>
        </p:spPr>
        <p:txBody>
          <a:bodyPr wrap="square">
            <a:spAutoFit/>
          </a:bodyPr>
          <a:lstStyle/>
          <a:p>
            <a:pPr algn="ctr">
              <a:defRPr sz="2000" b="1">
                <a:solidFill>
                  <a:srgbClr val="2D2D2D"/>
                </a:solidFill>
                <a:latin typeface="Comfortaa"/>
              </a:defRPr>
            </a:pPr>
            <a:r>
              <a:rPr dirty="0" err="1"/>
              <a:t>Détection</a:t>
            </a:r>
            <a:r>
              <a:rPr dirty="0"/>
              <a:t> de </a:t>
            </a:r>
            <a:r>
              <a:rPr dirty="0" err="1"/>
              <a:t>boiterie</a:t>
            </a:r>
            <a:r>
              <a:rPr dirty="0"/>
              <a:t> bovine probable</a:t>
            </a:r>
          </a:p>
        </p:txBody>
      </p:sp>
      <p:sp>
        <p:nvSpPr>
          <p:cNvPr id="4" name="TextBox 3"/>
          <p:cNvSpPr txBox="1"/>
          <p:nvPr/>
        </p:nvSpPr>
        <p:spPr>
          <a:xfrm>
            <a:off x="1463040" y="2948940"/>
            <a:ext cx="7680960" cy="365760"/>
          </a:xfrm>
          <a:prstGeom prst="rect">
            <a:avLst/>
          </a:prstGeom>
          <a:noFill/>
        </p:spPr>
        <p:txBody>
          <a:bodyPr wrap="square">
            <a:spAutoFit/>
          </a:bodyPr>
          <a:lstStyle/>
          <a:p>
            <a:pPr algn="ctr">
              <a:defRPr sz="1600" b="0">
                <a:solidFill>
                  <a:srgbClr val="777777"/>
                </a:solidFill>
                <a:latin typeface="Comfortaa"/>
              </a:defRPr>
            </a:pPr>
            <a:r>
              <a:rPr dirty="0"/>
              <a:t>à </a:t>
            </a:r>
            <a:r>
              <a:rPr dirty="0" err="1"/>
              <a:t>partir</a:t>
            </a:r>
            <a:r>
              <a:rPr dirty="0"/>
              <a:t> de données </a:t>
            </a:r>
            <a:r>
              <a:rPr dirty="0" err="1"/>
              <a:t>capteurs</a:t>
            </a:r>
            <a:r>
              <a:rPr dirty="0"/>
              <a:t> IoT</a:t>
            </a:r>
          </a:p>
        </p:txBody>
      </p:sp>
      <p:sp>
        <p:nvSpPr>
          <p:cNvPr id="5" name="TextBox 4"/>
          <p:cNvSpPr txBox="1"/>
          <p:nvPr/>
        </p:nvSpPr>
        <p:spPr>
          <a:xfrm>
            <a:off x="1463040" y="3558068"/>
            <a:ext cx="7680960" cy="274320"/>
          </a:xfrm>
          <a:prstGeom prst="rect">
            <a:avLst/>
          </a:prstGeom>
          <a:noFill/>
        </p:spPr>
        <p:txBody>
          <a:bodyPr wrap="square">
            <a:spAutoFit/>
          </a:bodyPr>
          <a:lstStyle/>
          <a:p>
            <a:pPr algn="ctr">
              <a:defRPr sz="1000" b="0">
                <a:solidFill>
                  <a:srgbClr val="777777"/>
                </a:solidFill>
                <a:latin typeface="Comfortaa"/>
              </a:defRPr>
            </a:pPr>
            <a:r>
              <a:rPr dirty="0"/>
              <a:t>Aliou Barry  —  </a:t>
            </a:r>
            <a:r>
              <a:rPr dirty="0" err="1"/>
              <a:t>Maîtrise</a:t>
            </a:r>
            <a:r>
              <a:rPr dirty="0"/>
              <a:t> </a:t>
            </a:r>
            <a:r>
              <a:rPr dirty="0" err="1"/>
              <a:t>en</a:t>
            </a:r>
            <a:r>
              <a:rPr dirty="0"/>
              <a:t> </a:t>
            </a:r>
            <a:r>
              <a:rPr dirty="0" err="1"/>
              <a:t>informatique</a:t>
            </a:r>
            <a:r>
              <a:rPr dirty="0"/>
              <a:t>, UQAM  —  Avril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La boiterie en élevage laitier</a:t>
            </a:r>
          </a:p>
        </p:txBody>
      </p:sp>
      <p:sp>
        <p:nvSpPr>
          <p:cNvPr id="4" name="TextBox 3"/>
          <p:cNvSpPr txBox="1"/>
          <p:nvPr/>
        </p:nvSpPr>
        <p:spPr>
          <a:xfrm>
            <a:off x="1097280" y="1828800"/>
            <a:ext cx="6858000" cy="2743200"/>
          </a:xfrm>
          <a:prstGeom prst="rect">
            <a:avLst/>
          </a:prstGeom>
          <a:noFill/>
        </p:spPr>
        <p:txBody>
          <a:bodyPr wrap="square">
            <a:spAutoFit/>
          </a:bodyPr>
          <a:lstStyle/>
          <a:p>
            <a:pPr algn="l">
              <a:spcAft>
                <a:spcPts val="500"/>
              </a:spcAft>
              <a:defRPr sz="1400" b="1">
                <a:solidFill>
                  <a:srgbClr val="2D2D2D"/>
                </a:solidFill>
                <a:latin typeface="Comfortaa"/>
              </a:defRPr>
            </a:pPr>
            <a:r>
              <a:rPr dirty="0"/>
              <a:t>2e cause de </a:t>
            </a:r>
            <a:r>
              <a:rPr dirty="0" err="1"/>
              <a:t>réforme</a:t>
            </a:r>
            <a:r>
              <a:rPr dirty="0"/>
              <a:t> </a:t>
            </a:r>
            <a:r>
              <a:rPr dirty="0" err="1"/>
              <a:t>involontaire</a:t>
            </a:r>
            <a:endParaRPr dirty="0"/>
          </a:p>
          <a:p>
            <a:pPr algn="l">
              <a:spcAft>
                <a:spcPts val="200"/>
              </a:spcAft>
              <a:defRPr sz="600" b="0">
                <a:solidFill>
                  <a:srgbClr val="2D2D2D"/>
                </a:solidFill>
                <a:latin typeface="Comfortaa"/>
              </a:defRPr>
            </a:pPr>
            <a:endParaRPr dirty="0"/>
          </a:p>
          <a:p>
            <a:pPr algn="l">
              <a:spcAft>
                <a:spcPts val="500"/>
              </a:spcAft>
              <a:defRPr sz="1300" b="0">
                <a:solidFill>
                  <a:srgbClr val="2D2D2D"/>
                </a:solidFill>
                <a:latin typeface="Comfortaa"/>
              </a:defRPr>
            </a:pPr>
            <a:r>
              <a:rPr dirty="0"/>
              <a:t>20 à 55 % de </a:t>
            </a:r>
            <a:r>
              <a:rPr dirty="0" err="1"/>
              <a:t>prévalence</a:t>
            </a:r>
            <a:r>
              <a:rPr dirty="0"/>
              <a:t> </a:t>
            </a:r>
            <a:r>
              <a:rPr dirty="0" err="1"/>
              <a:t>selon</a:t>
            </a:r>
            <a:r>
              <a:rPr dirty="0"/>
              <a:t> les études</a:t>
            </a:r>
          </a:p>
          <a:p>
            <a:pPr algn="l">
              <a:spcAft>
                <a:spcPts val="200"/>
              </a:spcAft>
              <a:defRPr sz="600" b="0">
                <a:solidFill>
                  <a:srgbClr val="2D2D2D"/>
                </a:solidFill>
                <a:latin typeface="Comfortaa"/>
              </a:defRPr>
            </a:pPr>
            <a:endParaRPr dirty="0"/>
          </a:p>
          <a:p>
            <a:pPr algn="l">
              <a:spcAft>
                <a:spcPts val="500"/>
              </a:spcAft>
              <a:defRPr sz="1300" b="0">
                <a:solidFill>
                  <a:srgbClr val="2D2D2D"/>
                </a:solidFill>
                <a:latin typeface="Comfortaa"/>
              </a:defRPr>
            </a:pPr>
            <a:r>
              <a:rPr dirty="0" err="1"/>
              <a:t>Détection</a:t>
            </a:r>
            <a:r>
              <a:rPr dirty="0"/>
              <a:t> </a:t>
            </a:r>
            <a:r>
              <a:rPr dirty="0" err="1"/>
              <a:t>visuelle</a:t>
            </a:r>
            <a:r>
              <a:rPr dirty="0"/>
              <a:t> : tardive, subjective, </a:t>
            </a:r>
            <a:r>
              <a:rPr dirty="0" err="1"/>
              <a:t>chronophage</a:t>
            </a:r>
            <a:endParaRPr dirty="0"/>
          </a:p>
          <a:p>
            <a:pPr algn="l">
              <a:spcAft>
                <a:spcPts val="400"/>
              </a:spcAft>
              <a:defRPr sz="1000" b="0">
                <a:solidFill>
                  <a:srgbClr val="2D2D2D"/>
                </a:solidFill>
                <a:latin typeface="Comfortaa"/>
              </a:defRPr>
            </a:pPr>
            <a:endParaRPr dirty="0"/>
          </a:p>
          <a:p>
            <a:pPr algn="l">
              <a:spcAft>
                <a:spcPts val="500"/>
              </a:spcAft>
              <a:defRPr sz="1300" b="0">
                <a:solidFill>
                  <a:srgbClr val="0070C0"/>
                </a:solidFill>
                <a:latin typeface="Comfortaa"/>
              </a:defRPr>
            </a:pPr>
            <a:r>
              <a:rPr dirty="0"/>
              <a:t>Les </a:t>
            </a:r>
            <a:r>
              <a:rPr dirty="0" err="1"/>
              <a:t>capteurs</a:t>
            </a:r>
            <a:r>
              <a:rPr dirty="0"/>
              <a:t> IoT </a:t>
            </a:r>
            <a:r>
              <a:rPr dirty="0" err="1"/>
              <a:t>offrent</a:t>
            </a:r>
            <a:r>
              <a:rPr dirty="0"/>
              <a:t> un </a:t>
            </a:r>
            <a:r>
              <a:rPr dirty="0" err="1"/>
              <a:t>suivi</a:t>
            </a:r>
            <a:r>
              <a:rPr dirty="0"/>
              <a:t> </a:t>
            </a:r>
            <a:r>
              <a:rPr dirty="0" err="1"/>
              <a:t>continu</a:t>
            </a:r>
            <a:r>
              <a:rPr dirty="0"/>
              <a:t> et </a:t>
            </a:r>
            <a:r>
              <a:rPr dirty="0" err="1"/>
              <a:t>objectif</a:t>
            </a:r>
            <a:endParaRPr dirty="0"/>
          </a:p>
          <a:p>
            <a:pPr algn="l">
              <a:spcAft>
                <a:spcPts val="400"/>
              </a:spcAft>
              <a:defRPr sz="1200" b="0">
                <a:solidFill>
                  <a:srgbClr val="777777"/>
                </a:solidFill>
                <a:latin typeface="Comfortaa"/>
              </a:defRPr>
            </a:pPr>
            <a:r>
              <a:rPr dirty="0" err="1"/>
              <a:t>mais</a:t>
            </a:r>
            <a:r>
              <a:rPr dirty="0"/>
              <a:t> il </a:t>
            </a:r>
            <a:r>
              <a:rPr dirty="0" err="1"/>
              <a:t>n'y</a:t>
            </a:r>
            <a:r>
              <a:rPr dirty="0"/>
              <a:t> a pas de labels </a:t>
            </a:r>
            <a:r>
              <a:rPr dirty="0" err="1"/>
              <a:t>cliniques</a:t>
            </a:r>
            <a:r>
              <a:rPr dirty="0"/>
              <a:t> </a:t>
            </a:r>
            <a:r>
              <a:rPr dirty="0" err="1"/>
              <a:t>disponibles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1371600" y="1371600"/>
            <a:ext cx="6400800" cy="457200"/>
          </a:xfrm>
          <a:prstGeom prst="rect">
            <a:avLst/>
          </a:prstGeom>
          <a:noFill/>
        </p:spPr>
        <p:txBody>
          <a:bodyPr wrap="square">
            <a:spAutoFit/>
          </a:bodyPr>
          <a:lstStyle/>
          <a:p>
            <a:pPr algn="l">
              <a:defRPr sz="1600" b="1">
                <a:solidFill>
                  <a:srgbClr val="0070C0"/>
                </a:solidFill>
                <a:latin typeface="Comfortaa"/>
              </a:defRPr>
            </a:pPr>
            <a:r>
              <a:t>Objectif</a:t>
            </a:r>
          </a:p>
        </p:txBody>
      </p:sp>
      <p:sp>
        <p:nvSpPr>
          <p:cNvPr id="4" name="TextBox 3"/>
          <p:cNvSpPr txBox="1"/>
          <p:nvPr/>
        </p:nvSpPr>
        <p:spPr>
          <a:xfrm>
            <a:off x="1371600" y="2011680"/>
            <a:ext cx="6400800" cy="1097280"/>
          </a:xfrm>
          <a:prstGeom prst="rect">
            <a:avLst/>
          </a:prstGeom>
          <a:noFill/>
        </p:spPr>
        <p:txBody>
          <a:bodyPr wrap="square">
            <a:spAutoFit/>
          </a:bodyPr>
          <a:lstStyle/>
          <a:p>
            <a:pPr algn="ctr">
              <a:defRPr sz="1800" b="1">
                <a:solidFill>
                  <a:srgbClr val="2D2D2D"/>
                </a:solidFill>
                <a:latin typeface="Comfortaa"/>
              </a:defRPr>
            </a:pPr>
            <a:r>
              <a:t>Concevoir un système reproductible</a:t>
            </a:r>
            <a:br/>
            <a:r>
              <a:t>de détection de boiterie probable,</a:t>
            </a:r>
            <a:br/>
            <a:r>
              <a:t>interprétable et scientifiquement défendable</a:t>
            </a:r>
          </a:p>
        </p:txBody>
      </p:sp>
      <p:sp>
        <p:nvSpPr>
          <p:cNvPr id="5" name="TextBox 4"/>
          <p:cNvSpPr txBox="1"/>
          <p:nvPr/>
        </p:nvSpPr>
        <p:spPr>
          <a:xfrm>
            <a:off x="1371600" y="3474720"/>
            <a:ext cx="6400800" cy="365760"/>
          </a:xfrm>
          <a:prstGeom prst="rect">
            <a:avLst/>
          </a:prstGeom>
          <a:noFill/>
        </p:spPr>
        <p:txBody>
          <a:bodyPr wrap="square">
            <a:spAutoFit/>
          </a:bodyPr>
          <a:lstStyle/>
          <a:p>
            <a:pPr algn="ctr">
              <a:defRPr sz="1300" b="0">
                <a:solidFill>
                  <a:srgbClr val="777777"/>
                </a:solidFill>
                <a:latin typeface="Comfortaa"/>
              </a:defRPr>
            </a:pPr>
            <a:r>
              <a:t>Approche non supervisée  +  règles métier explicites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1800" b="1">
                <a:solidFill>
                  <a:srgbClr val="C1272D"/>
                </a:solidFill>
                <a:latin typeface="Comfortaa"/>
              </a:defRPr>
            </a:pPr>
            <a:r>
              <a:t>Capteur IceQube — accéléromètre tri-axial</a:t>
            </a:r>
          </a:p>
        </p:txBody>
      </p:sp>
      <p:sp>
        <p:nvSpPr>
          <p:cNvPr id="4" name="TextBox 3"/>
          <p:cNvSpPr txBox="1"/>
          <p:nvPr/>
        </p:nvSpPr>
        <p:spPr>
          <a:xfrm>
            <a:off x="914400" y="2011680"/>
            <a:ext cx="2560320" cy="731520"/>
          </a:xfrm>
          <a:prstGeom prst="rect">
            <a:avLst/>
          </a:prstGeom>
          <a:noFill/>
        </p:spPr>
        <p:txBody>
          <a:bodyPr wrap="square">
            <a:spAutoFit/>
          </a:bodyPr>
          <a:lstStyle/>
          <a:p>
            <a:pPr algn="ctr">
              <a:defRPr sz="3200" b="1">
                <a:solidFill>
                  <a:srgbClr val="0070C0"/>
                </a:solidFill>
                <a:latin typeface="Comfortaa"/>
              </a:defRPr>
            </a:pPr>
            <a:r>
              <a:t>37 839</a:t>
            </a:r>
          </a:p>
        </p:txBody>
      </p:sp>
      <p:sp>
        <p:nvSpPr>
          <p:cNvPr id="5" name="TextBox 4"/>
          <p:cNvSpPr txBox="1"/>
          <p:nvPr/>
        </p:nvSpPr>
        <p:spPr>
          <a:xfrm>
            <a:off x="914400" y="2743200"/>
            <a:ext cx="2560320" cy="365760"/>
          </a:xfrm>
          <a:prstGeom prst="rect">
            <a:avLst/>
          </a:prstGeom>
          <a:noFill/>
        </p:spPr>
        <p:txBody>
          <a:bodyPr wrap="square">
            <a:spAutoFit/>
          </a:bodyPr>
          <a:lstStyle/>
          <a:p>
            <a:pPr algn="ctr">
              <a:defRPr sz="1100" b="0">
                <a:solidFill>
                  <a:srgbClr val="777777"/>
                </a:solidFill>
                <a:latin typeface="Comfortaa"/>
              </a:defRPr>
            </a:pPr>
            <a:r>
              <a:t>lignes de données</a:t>
            </a:r>
          </a:p>
        </p:txBody>
      </p:sp>
      <p:sp>
        <p:nvSpPr>
          <p:cNvPr id="6" name="TextBox 5"/>
          <p:cNvSpPr txBox="1"/>
          <p:nvPr/>
        </p:nvSpPr>
        <p:spPr>
          <a:xfrm>
            <a:off x="3291840" y="2011680"/>
            <a:ext cx="2560320" cy="731520"/>
          </a:xfrm>
          <a:prstGeom prst="rect">
            <a:avLst/>
          </a:prstGeom>
          <a:noFill/>
        </p:spPr>
        <p:txBody>
          <a:bodyPr wrap="square">
            <a:spAutoFit/>
          </a:bodyPr>
          <a:lstStyle/>
          <a:p>
            <a:pPr algn="ctr">
              <a:defRPr sz="3200" b="1">
                <a:solidFill>
                  <a:srgbClr val="0070C0"/>
                </a:solidFill>
                <a:latin typeface="Comfortaa"/>
              </a:defRPr>
            </a:pPr>
            <a:r>
              <a:t>28</a:t>
            </a:r>
          </a:p>
        </p:txBody>
      </p:sp>
      <p:sp>
        <p:nvSpPr>
          <p:cNvPr id="7" name="TextBox 6"/>
          <p:cNvSpPr txBox="1"/>
          <p:nvPr/>
        </p:nvSpPr>
        <p:spPr>
          <a:xfrm>
            <a:off x="3291840" y="2743200"/>
            <a:ext cx="2560320" cy="365760"/>
          </a:xfrm>
          <a:prstGeom prst="rect">
            <a:avLst/>
          </a:prstGeom>
          <a:noFill/>
        </p:spPr>
        <p:txBody>
          <a:bodyPr wrap="square">
            <a:spAutoFit/>
          </a:bodyPr>
          <a:lstStyle/>
          <a:p>
            <a:pPr algn="ctr">
              <a:defRPr sz="1100" b="0">
                <a:solidFill>
                  <a:srgbClr val="777777"/>
                </a:solidFill>
                <a:latin typeface="Comfortaa"/>
              </a:defRPr>
            </a:pPr>
            <a:r>
              <a:t>vaches suivies</a:t>
            </a:r>
          </a:p>
        </p:txBody>
      </p:sp>
      <p:sp>
        <p:nvSpPr>
          <p:cNvPr id="8" name="TextBox 7"/>
          <p:cNvSpPr txBox="1"/>
          <p:nvPr/>
        </p:nvSpPr>
        <p:spPr>
          <a:xfrm>
            <a:off x="5669280" y="2011680"/>
            <a:ext cx="2560320" cy="731520"/>
          </a:xfrm>
          <a:prstGeom prst="rect">
            <a:avLst/>
          </a:prstGeom>
          <a:noFill/>
        </p:spPr>
        <p:txBody>
          <a:bodyPr wrap="square">
            <a:spAutoFit/>
          </a:bodyPr>
          <a:lstStyle/>
          <a:p>
            <a:pPr algn="ctr">
              <a:defRPr sz="3200" b="1">
                <a:solidFill>
                  <a:srgbClr val="0070C0"/>
                </a:solidFill>
                <a:latin typeface="Comfortaa"/>
              </a:defRPr>
            </a:pPr>
            <a:r>
              <a:t>41</a:t>
            </a:r>
          </a:p>
        </p:txBody>
      </p:sp>
      <p:sp>
        <p:nvSpPr>
          <p:cNvPr id="9" name="TextBox 8"/>
          <p:cNvSpPr txBox="1"/>
          <p:nvPr/>
        </p:nvSpPr>
        <p:spPr>
          <a:xfrm>
            <a:off x="5669280" y="2743200"/>
            <a:ext cx="2560320" cy="365760"/>
          </a:xfrm>
          <a:prstGeom prst="rect">
            <a:avLst/>
          </a:prstGeom>
          <a:noFill/>
        </p:spPr>
        <p:txBody>
          <a:bodyPr wrap="square">
            <a:spAutoFit/>
          </a:bodyPr>
          <a:lstStyle/>
          <a:p>
            <a:pPr algn="ctr">
              <a:defRPr sz="1100" b="0">
                <a:solidFill>
                  <a:srgbClr val="777777"/>
                </a:solidFill>
                <a:latin typeface="Comfortaa"/>
              </a:defRPr>
            </a:pPr>
            <a:r>
              <a:t>jours (oct.–nov. 2023)</a:t>
            </a:r>
          </a:p>
        </p:txBody>
      </p:sp>
      <p:sp>
        <p:nvSpPr>
          <p:cNvPr id="10" name="TextBox 9"/>
          <p:cNvSpPr txBox="1"/>
          <p:nvPr/>
        </p:nvSpPr>
        <p:spPr>
          <a:xfrm>
            <a:off x="1097280" y="3474720"/>
            <a:ext cx="6858000" cy="1371600"/>
          </a:xfrm>
          <a:prstGeom prst="rect">
            <a:avLst/>
          </a:prstGeom>
          <a:noFill/>
        </p:spPr>
        <p:txBody>
          <a:bodyPr wrap="square">
            <a:spAutoFit/>
          </a:bodyPr>
          <a:lstStyle/>
          <a:p>
            <a:pPr algn="l">
              <a:spcAft>
                <a:spcPts val="400"/>
              </a:spcAft>
              <a:defRPr sz="1200" b="0">
                <a:solidFill>
                  <a:srgbClr val="2D2D2D"/>
                </a:solidFill>
                <a:latin typeface="Comfortaa"/>
              </a:defRPr>
            </a:pPr>
            <a:r>
              <a:t>5 variables : Motion Index, pas, temps couché, temps debout, transitions</a:t>
            </a:r>
          </a:p>
          <a:p>
            <a:pPr algn="l">
              <a:spcAft>
                <a:spcPts val="400"/>
              </a:spcAft>
              <a:defRPr sz="1200" b="0">
                <a:solidFill>
                  <a:srgbClr val="777777"/>
                </a:solidFill>
                <a:latin typeface="Comfortaa"/>
              </a:defRPr>
            </a:pPr>
            <a:r>
              <a:t>Agrégation par tranches de 15 minutes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Architecture hybride</a:t>
            </a:r>
          </a:p>
        </p:txBody>
      </p:sp>
      <p:sp>
        <p:nvSpPr>
          <p:cNvPr id="4" name="TextBox 3"/>
          <p:cNvSpPr txBox="1"/>
          <p:nvPr/>
        </p:nvSpPr>
        <p:spPr>
          <a:xfrm>
            <a:off x="1097280" y="1828800"/>
            <a:ext cx="3200400" cy="365760"/>
          </a:xfrm>
          <a:prstGeom prst="rect">
            <a:avLst/>
          </a:prstGeom>
          <a:noFill/>
        </p:spPr>
        <p:txBody>
          <a:bodyPr wrap="square">
            <a:spAutoFit/>
          </a:bodyPr>
          <a:lstStyle/>
          <a:p>
            <a:pPr algn="l">
              <a:defRPr sz="1400" b="1">
                <a:solidFill>
                  <a:srgbClr val="0070C0"/>
                </a:solidFill>
                <a:latin typeface="Comfortaa"/>
              </a:defRPr>
            </a:pPr>
            <a:r>
              <a:t>Couche 1</a:t>
            </a:r>
          </a:p>
        </p:txBody>
      </p:sp>
      <p:sp>
        <p:nvSpPr>
          <p:cNvPr id="5" name="TextBox 4"/>
          <p:cNvSpPr txBox="1"/>
          <p:nvPr/>
        </p:nvSpPr>
        <p:spPr>
          <a:xfrm>
            <a:off x="1097280" y="2286000"/>
            <a:ext cx="3200400" cy="1371600"/>
          </a:xfrm>
          <a:prstGeom prst="rect">
            <a:avLst/>
          </a:prstGeom>
          <a:noFill/>
        </p:spPr>
        <p:txBody>
          <a:bodyPr wrap="square">
            <a:spAutoFit/>
          </a:bodyPr>
          <a:lstStyle/>
          <a:p>
            <a:pPr algn="l">
              <a:spcAft>
                <a:spcPts val="500"/>
              </a:spcAft>
              <a:defRPr sz="1400" b="1">
                <a:solidFill>
                  <a:srgbClr val="2D2D2D"/>
                </a:solidFill>
                <a:latin typeface="Comfortaa"/>
              </a:defRPr>
            </a:pPr>
            <a:r>
              <a:t>Isolation Forest</a:t>
            </a:r>
          </a:p>
          <a:p>
            <a:pPr algn="l">
              <a:spcAft>
                <a:spcPts val="400"/>
              </a:spcAft>
              <a:defRPr sz="1100" b="0">
                <a:solidFill>
                  <a:srgbClr val="777777"/>
                </a:solidFill>
                <a:latin typeface="Comfortaa"/>
              </a:defRPr>
            </a:pPr>
            <a:r>
              <a:t>Détecte les anomalies dans les</a:t>
            </a:r>
          </a:p>
          <a:p>
            <a:pPr algn="l">
              <a:spcAft>
                <a:spcPts val="400"/>
              </a:spcAft>
              <a:defRPr sz="1100" b="0">
                <a:solidFill>
                  <a:srgbClr val="777777"/>
                </a:solidFill>
                <a:latin typeface="Comfortaa"/>
              </a:defRPr>
            </a:pPr>
            <a:r>
              <a:t>comportements (z-scores roulants)</a:t>
            </a:r>
          </a:p>
        </p:txBody>
      </p:sp>
      <p:sp>
        <p:nvSpPr>
          <p:cNvPr id="6" name="TextBox 5"/>
          <p:cNvSpPr txBox="1"/>
          <p:nvPr/>
        </p:nvSpPr>
        <p:spPr>
          <a:xfrm>
            <a:off x="5029200" y="1828800"/>
            <a:ext cx="3200400" cy="365760"/>
          </a:xfrm>
          <a:prstGeom prst="rect">
            <a:avLst/>
          </a:prstGeom>
          <a:noFill/>
        </p:spPr>
        <p:txBody>
          <a:bodyPr wrap="square">
            <a:spAutoFit/>
          </a:bodyPr>
          <a:lstStyle/>
          <a:p>
            <a:pPr algn="l">
              <a:defRPr sz="1400" b="1">
                <a:solidFill>
                  <a:srgbClr val="0070C0"/>
                </a:solidFill>
                <a:latin typeface="Comfortaa"/>
              </a:defRPr>
            </a:pPr>
            <a:r>
              <a:t>Couche 2</a:t>
            </a:r>
          </a:p>
        </p:txBody>
      </p:sp>
      <p:sp>
        <p:nvSpPr>
          <p:cNvPr id="7" name="TextBox 6"/>
          <p:cNvSpPr txBox="1"/>
          <p:nvPr/>
        </p:nvSpPr>
        <p:spPr>
          <a:xfrm>
            <a:off x="5029200" y="2286000"/>
            <a:ext cx="3200400" cy="1371600"/>
          </a:xfrm>
          <a:prstGeom prst="rect">
            <a:avLst/>
          </a:prstGeom>
          <a:noFill/>
        </p:spPr>
        <p:txBody>
          <a:bodyPr wrap="square">
            <a:spAutoFit/>
          </a:bodyPr>
          <a:lstStyle/>
          <a:p>
            <a:pPr algn="l">
              <a:spcAft>
                <a:spcPts val="500"/>
              </a:spcAft>
              <a:defRPr sz="1400" b="1">
                <a:solidFill>
                  <a:srgbClr val="2D2D2D"/>
                </a:solidFill>
                <a:latin typeface="Comfortaa"/>
              </a:defRPr>
            </a:pPr>
            <a:r>
              <a:t>Règles métier</a:t>
            </a:r>
          </a:p>
          <a:p>
            <a:pPr algn="l">
              <a:spcAft>
                <a:spcPts val="400"/>
              </a:spcAft>
              <a:defRPr sz="1100" b="0">
                <a:solidFill>
                  <a:srgbClr val="777777"/>
                </a:solidFill>
                <a:latin typeface="Comfortaa"/>
              </a:defRPr>
            </a:pPr>
            <a:r>
              <a:t>Persistance 7h, cohérence</a:t>
            </a:r>
          </a:p>
          <a:p>
            <a:pPr algn="l">
              <a:spcAft>
                <a:spcPts val="400"/>
              </a:spcAft>
              <a:defRPr sz="1100" b="0">
                <a:solidFill>
                  <a:srgbClr val="777777"/>
                </a:solidFill>
                <a:latin typeface="Comfortaa"/>
              </a:defRPr>
            </a:pPr>
            <a:r>
              <a:t>multi-signaux, cooldown</a:t>
            </a:r>
          </a:p>
        </p:txBody>
      </p:sp>
      <p:sp>
        <p:nvSpPr>
          <p:cNvPr id="8" name="TextBox 7"/>
          <p:cNvSpPr txBox="1"/>
          <p:nvPr/>
        </p:nvSpPr>
        <p:spPr>
          <a:xfrm>
            <a:off x="1097280" y="3840480"/>
            <a:ext cx="6858000" cy="457200"/>
          </a:xfrm>
          <a:prstGeom prst="rect">
            <a:avLst/>
          </a:prstGeom>
          <a:noFill/>
        </p:spPr>
        <p:txBody>
          <a:bodyPr wrap="square">
            <a:spAutoFit/>
          </a:bodyPr>
          <a:lstStyle/>
          <a:p>
            <a:pPr algn="ctr">
              <a:defRPr sz="1300" b="1">
                <a:solidFill>
                  <a:srgbClr val="2D2D2D"/>
                </a:solidFill>
                <a:latin typeface="Comfortaa"/>
              </a:defRPr>
            </a:pPr>
            <a:r>
              <a:t>Signaux bruts  →  anomalies IF  →  filtrage métier  →  notifications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Pipeline de bout en bout</a:t>
            </a:r>
          </a:p>
        </p:txBody>
      </p:sp>
      <p:sp>
        <p:nvSpPr>
          <p:cNvPr id="4" name="TextBox 3"/>
          <p:cNvSpPr txBox="1"/>
          <p:nvPr/>
        </p:nvSpPr>
        <p:spPr>
          <a:xfrm>
            <a:off x="1828800" y="1828800"/>
            <a:ext cx="5486400" cy="274320"/>
          </a:xfrm>
          <a:prstGeom prst="rect">
            <a:avLst/>
          </a:prstGeom>
          <a:noFill/>
        </p:spPr>
        <p:txBody>
          <a:bodyPr wrap="square">
            <a:spAutoFit/>
          </a:bodyPr>
          <a:lstStyle/>
          <a:p>
            <a:pPr algn="l">
              <a:defRPr sz="1300" b="0">
                <a:solidFill>
                  <a:srgbClr val="2D2D2D"/>
                </a:solidFill>
                <a:latin typeface="Comfortaa"/>
              </a:defRPr>
            </a:pPr>
            <a:r>
              <a:t>CSV brut du capteur</a:t>
            </a:r>
          </a:p>
        </p:txBody>
      </p:sp>
      <p:sp>
        <p:nvSpPr>
          <p:cNvPr id="5" name="TextBox 4"/>
          <p:cNvSpPr txBox="1"/>
          <p:nvPr/>
        </p:nvSpPr>
        <p:spPr>
          <a:xfrm>
            <a:off x="1828800" y="2212848"/>
            <a:ext cx="5486400" cy="274320"/>
          </a:xfrm>
          <a:prstGeom prst="rect">
            <a:avLst/>
          </a:prstGeom>
          <a:noFill/>
        </p:spPr>
        <p:txBody>
          <a:bodyPr wrap="square">
            <a:spAutoFit/>
          </a:bodyPr>
          <a:lstStyle/>
          <a:p>
            <a:pPr algn="l">
              <a:defRPr sz="1300" b="0">
                <a:solidFill>
                  <a:srgbClr val="2D2D2D"/>
                </a:solidFill>
                <a:latin typeface="Comfortaa"/>
              </a:defRPr>
            </a:pPr>
            <a:r>
              <a:t>Nettoyage et rééchantillonnage</a:t>
            </a:r>
          </a:p>
        </p:txBody>
      </p:sp>
      <p:sp>
        <p:nvSpPr>
          <p:cNvPr id="6" name="TextBox 5"/>
          <p:cNvSpPr txBox="1"/>
          <p:nvPr/>
        </p:nvSpPr>
        <p:spPr>
          <a:xfrm>
            <a:off x="1828800" y="2596896"/>
            <a:ext cx="5486400" cy="274320"/>
          </a:xfrm>
          <a:prstGeom prst="rect">
            <a:avLst/>
          </a:prstGeom>
          <a:noFill/>
        </p:spPr>
        <p:txBody>
          <a:bodyPr wrap="square">
            <a:spAutoFit/>
          </a:bodyPr>
          <a:lstStyle/>
          <a:p>
            <a:pPr algn="l">
              <a:defRPr sz="1300" b="0">
                <a:solidFill>
                  <a:srgbClr val="2D2D2D"/>
                </a:solidFill>
                <a:latin typeface="Comfortaa"/>
              </a:defRPr>
            </a:pPr>
            <a:r>
              <a:t>Feature engineering (z-scores roulants)</a:t>
            </a:r>
          </a:p>
        </p:txBody>
      </p:sp>
      <p:sp>
        <p:nvSpPr>
          <p:cNvPr id="7" name="TextBox 6"/>
          <p:cNvSpPr txBox="1"/>
          <p:nvPr/>
        </p:nvSpPr>
        <p:spPr>
          <a:xfrm>
            <a:off x="1828800" y="2980944"/>
            <a:ext cx="5486400" cy="274320"/>
          </a:xfrm>
          <a:prstGeom prst="rect">
            <a:avLst/>
          </a:prstGeom>
          <a:noFill/>
        </p:spPr>
        <p:txBody>
          <a:bodyPr wrap="square">
            <a:spAutoFit/>
          </a:bodyPr>
          <a:lstStyle/>
          <a:p>
            <a:pPr algn="l">
              <a:defRPr sz="1300" b="0">
                <a:solidFill>
                  <a:srgbClr val="0070C0"/>
                </a:solidFill>
                <a:latin typeface="Comfortaa"/>
              </a:defRPr>
            </a:pPr>
            <a:r>
              <a:t>Isolation Forest → score d'anomalie</a:t>
            </a:r>
          </a:p>
        </p:txBody>
      </p:sp>
      <p:sp>
        <p:nvSpPr>
          <p:cNvPr id="8" name="TextBox 7"/>
          <p:cNvSpPr txBox="1"/>
          <p:nvPr/>
        </p:nvSpPr>
        <p:spPr>
          <a:xfrm>
            <a:off x="1828800" y="3364991"/>
            <a:ext cx="5486400" cy="274320"/>
          </a:xfrm>
          <a:prstGeom prst="rect">
            <a:avLst/>
          </a:prstGeom>
          <a:noFill/>
        </p:spPr>
        <p:txBody>
          <a:bodyPr wrap="square">
            <a:spAutoFit/>
          </a:bodyPr>
          <a:lstStyle/>
          <a:p>
            <a:pPr algn="l">
              <a:defRPr sz="1300" b="0">
                <a:solidFill>
                  <a:srgbClr val="0070C0"/>
                </a:solidFill>
                <a:latin typeface="Comfortaa"/>
              </a:defRPr>
            </a:pPr>
            <a:r>
              <a:t>Persistance + cohérence MIX + cooldown</a:t>
            </a:r>
          </a:p>
        </p:txBody>
      </p:sp>
      <p:sp>
        <p:nvSpPr>
          <p:cNvPr id="9" name="TextBox 8"/>
          <p:cNvSpPr txBox="1"/>
          <p:nvPr/>
        </p:nvSpPr>
        <p:spPr>
          <a:xfrm>
            <a:off x="1828800" y="3749039"/>
            <a:ext cx="5486400" cy="274320"/>
          </a:xfrm>
          <a:prstGeom prst="rect">
            <a:avLst/>
          </a:prstGeom>
          <a:noFill/>
        </p:spPr>
        <p:txBody>
          <a:bodyPr wrap="square">
            <a:spAutoFit/>
          </a:bodyPr>
          <a:lstStyle/>
          <a:p>
            <a:pPr algn="l">
              <a:defRPr sz="1300" b="1">
                <a:solidFill>
                  <a:srgbClr val="C1272D"/>
                </a:solidFill>
                <a:latin typeface="Comfortaa"/>
              </a:defRPr>
            </a:pPr>
            <a:r>
              <a:t>Épisodes de boiterie probable</a:t>
            </a:r>
          </a:p>
        </p:txBody>
      </p:sp>
      <p:sp>
        <p:nvSpPr>
          <p:cNvPr id="10" name="TextBox 9"/>
          <p:cNvSpPr txBox="1"/>
          <p:nvPr/>
        </p:nvSpPr>
        <p:spPr>
          <a:xfrm>
            <a:off x="1828800" y="4133087"/>
            <a:ext cx="5486400" cy="274320"/>
          </a:xfrm>
          <a:prstGeom prst="rect">
            <a:avLst/>
          </a:prstGeom>
          <a:noFill/>
        </p:spPr>
        <p:txBody>
          <a:bodyPr wrap="square">
            <a:spAutoFit/>
          </a:bodyPr>
          <a:lstStyle/>
          <a:p>
            <a:pPr algn="l">
              <a:defRPr sz="1300" b="1">
                <a:solidFill>
                  <a:srgbClr val="C1272D"/>
                </a:solidFill>
                <a:latin typeface="Comfortaa"/>
              </a:defRPr>
            </a:pPr>
            <a:r>
              <a:t>Notifications avec score de confiance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Validation manuelle</a:t>
            </a:r>
          </a:p>
        </p:txBody>
      </p:sp>
      <p:sp>
        <p:nvSpPr>
          <p:cNvPr id="4" name="TextBox 3"/>
          <p:cNvSpPr txBox="1"/>
          <p:nvPr/>
        </p:nvSpPr>
        <p:spPr>
          <a:xfrm>
            <a:off x="1097280" y="1828800"/>
            <a:ext cx="6858000" cy="914400"/>
          </a:xfrm>
          <a:prstGeom prst="rect">
            <a:avLst/>
          </a:prstGeom>
          <a:noFill/>
        </p:spPr>
        <p:txBody>
          <a:bodyPr wrap="square">
            <a:spAutoFit/>
          </a:bodyPr>
          <a:lstStyle/>
          <a:p>
            <a:pPr algn="l">
              <a:spcAft>
                <a:spcPts val="500"/>
              </a:spcAft>
              <a:defRPr sz="1300" b="0">
                <a:solidFill>
                  <a:srgbClr val="2D2D2D"/>
                </a:solidFill>
                <a:latin typeface="Comfortaa"/>
              </a:defRPr>
            </a:pPr>
            <a:r>
              <a:t>Injection de perturbations synthétiques dans les données d'une vache</a:t>
            </a:r>
          </a:p>
          <a:p>
            <a:pPr algn="l">
              <a:spcAft>
                <a:spcPts val="500"/>
              </a:spcAft>
              <a:defRPr sz="1300" b="0">
                <a:solidFill>
                  <a:srgbClr val="777777"/>
                </a:solidFill>
                <a:latin typeface="Comfortaa"/>
              </a:defRPr>
            </a:pPr>
            <a:r>
              <a:t>3 événements testés : 2 détectables, 1 volontairement caché</a:t>
            </a:r>
          </a:p>
        </p:txBody>
      </p:sp>
      <p:graphicFrame>
        <p:nvGraphicFramePr>
          <p:cNvPr id="5" name="Table 4"/>
          <p:cNvGraphicFramePr>
            <a:graphicFrameLocks noGrp="1"/>
          </p:cNvGraphicFramePr>
          <p:nvPr>
            <p:extLst>
              <p:ext uri="{D42A27DB-BD31-4B8C-83A1-F6EECF244321}">
                <p14:modId xmlns:p14="http://schemas.microsoft.com/office/powerpoint/2010/main" val="3781149842"/>
              </p:ext>
            </p:extLst>
          </p:nvPr>
        </p:nvGraphicFramePr>
        <p:xfrm>
          <a:off x="1097280" y="2651760"/>
          <a:ext cx="6858000" cy="1036320"/>
        </p:xfrm>
        <a:graphic>
          <a:graphicData uri="http://schemas.openxmlformats.org/drawingml/2006/table">
            <a:tbl>
              <a:tblPr firstRow="1" bandRow="1">
                <a:tableStyleId>{5C22544A-7EE6-4342-B048-85BDC9FD1C3A}</a:tableStyleId>
              </a:tblPr>
              <a:tblGrid>
                <a:gridCol w="1714500">
                  <a:extLst>
                    <a:ext uri="{9D8B030D-6E8A-4147-A177-3AD203B41FA5}">
                      <a16:colId xmlns:a16="http://schemas.microsoft.com/office/drawing/2014/main" val="20000"/>
                    </a:ext>
                  </a:extLst>
                </a:gridCol>
                <a:gridCol w="17145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714500">
                  <a:extLst>
                    <a:ext uri="{9D8B030D-6E8A-4147-A177-3AD203B41FA5}">
                      <a16:colId xmlns:a16="http://schemas.microsoft.com/office/drawing/2014/main" val="20003"/>
                    </a:ext>
                  </a:extLst>
                </a:gridCol>
              </a:tblGrid>
              <a:tr h="251460">
                <a:tc>
                  <a:txBody>
                    <a:bodyPr/>
                    <a:lstStyle/>
                    <a:p>
                      <a:pPr>
                        <a:defRPr sz="1100" b="1">
                          <a:solidFill>
                            <a:srgbClr val="FFFFFF"/>
                          </a:solidFill>
                          <a:latin typeface="Comfortaa"/>
                        </a:defRPr>
                      </a:pPr>
                      <a:r>
                        <a:t>Événement</a:t>
                      </a:r>
                    </a:p>
                  </a:txBody>
                  <a:tcPr>
                    <a:solidFill>
                      <a:srgbClr val="C1272D"/>
                    </a:solidFill>
                  </a:tcPr>
                </a:tc>
                <a:tc>
                  <a:txBody>
                    <a:bodyPr/>
                    <a:lstStyle/>
                    <a:p>
                      <a:pPr>
                        <a:defRPr sz="1100" b="1">
                          <a:solidFill>
                            <a:srgbClr val="FFFFFF"/>
                          </a:solidFill>
                          <a:latin typeface="Comfortaa"/>
                        </a:defRPr>
                      </a:pPr>
                      <a:r>
                        <a:t>Profil</a:t>
                      </a:r>
                    </a:p>
                  </a:txBody>
                  <a:tcPr>
                    <a:solidFill>
                      <a:srgbClr val="C1272D"/>
                    </a:solidFill>
                  </a:tcPr>
                </a:tc>
                <a:tc>
                  <a:txBody>
                    <a:bodyPr/>
                    <a:lstStyle/>
                    <a:p>
                      <a:pPr>
                        <a:defRPr sz="1100" b="1">
                          <a:solidFill>
                            <a:srgbClr val="FFFFFF"/>
                          </a:solidFill>
                          <a:latin typeface="Comfortaa"/>
                        </a:defRPr>
                      </a:pPr>
                      <a:r>
                        <a:t>IoU</a:t>
                      </a:r>
                    </a:p>
                  </a:txBody>
                  <a:tcPr>
                    <a:solidFill>
                      <a:srgbClr val="C1272D"/>
                    </a:solidFill>
                  </a:tcPr>
                </a:tc>
                <a:tc>
                  <a:txBody>
                    <a:bodyPr/>
                    <a:lstStyle/>
                    <a:p>
                      <a:pPr>
                        <a:defRPr sz="1100" b="1">
                          <a:solidFill>
                            <a:srgbClr val="FFFFFF"/>
                          </a:solidFill>
                          <a:latin typeface="Comfortaa"/>
                        </a:defRPr>
                      </a:pPr>
                      <a:r>
                        <a:t>Statut</a:t>
                      </a:r>
                    </a:p>
                  </a:txBody>
                  <a:tcPr>
                    <a:solidFill>
                      <a:srgbClr val="C1272D"/>
                    </a:solidFill>
                  </a:tcPr>
                </a:tc>
                <a:extLst>
                  <a:ext uri="{0D108BD9-81ED-4DB2-BD59-A6C34878D82A}">
                    <a16:rowId xmlns:a16="http://schemas.microsoft.com/office/drawing/2014/main" val="10000"/>
                  </a:ext>
                </a:extLst>
              </a:tr>
              <a:tr h="251460">
                <a:tc>
                  <a:txBody>
                    <a:bodyPr/>
                    <a:lstStyle/>
                    <a:p>
                      <a:pPr>
                        <a:defRPr sz="1100">
                          <a:solidFill>
                            <a:srgbClr val="2D2D2D"/>
                          </a:solidFill>
                          <a:latin typeface="Comfortaa"/>
                        </a:defRPr>
                      </a:pPr>
                      <a:r>
                        <a:t>Injection 1</a:t>
                      </a:r>
                    </a:p>
                  </a:txBody>
                  <a:tcPr/>
                </a:tc>
                <a:tc>
                  <a:txBody>
                    <a:bodyPr/>
                    <a:lstStyle/>
                    <a:p>
                      <a:pPr>
                        <a:defRPr sz="1100">
                          <a:solidFill>
                            <a:srgbClr val="2D2D2D"/>
                          </a:solidFill>
                          <a:latin typeface="Comfortaa"/>
                        </a:defRPr>
                      </a:pPr>
                      <a:r>
                        <a:t>détectable</a:t>
                      </a:r>
                    </a:p>
                  </a:txBody>
                  <a:tcPr/>
                </a:tc>
                <a:tc>
                  <a:txBody>
                    <a:bodyPr/>
                    <a:lstStyle/>
                    <a:p>
                      <a:pPr>
                        <a:defRPr sz="1100">
                          <a:solidFill>
                            <a:srgbClr val="2D2D2D"/>
                          </a:solidFill>
                          <a:latin typeface="Comfortaa"/>
                        </a:defRPr>
                      </a:pPr>
                      <a:r>
                        <a:t>0.404</a:t>
                      </a:r>
                    </a:p>
                  </a:txBody>
                  <a:tcPr/>
                </a:tc>
                <a:tc>
                  <a:txBody>
                    <a:bodyPr/>
                    <a:lstStyle/>
                    <a:p>
                      <a:pPr>
                        <a:defRPr sz="1100">
                          <a:solidFill>
                            <a:srgbClr val="2D2D2D"/>
                          </a:solidFill>
                          <a:latin typeface="Comfortaa"/>
                        </a:defRPr>
                      </a:pPr>
                      <a:r>
                        <a:t>Détecté</a:t>
                      </a:r>
                    </a:p>
                  </a:txBody>
                  <a:tcPr/>
                </a:tc>
                <a:extLst>
                  <a:ext uri="{0D108BD9-81ED-4DB2-BD59-A6C34878D82A}">
                    <a16:rowId xmlns:a16="http://schemas.microsoft.com/office/drawing/2014/main" val="10001"/>
                  </a:ext>
                </a:extLst>
              </a:tr>
              <a:tr h="251460">
                <a:tc>
                  <a:txBody>
                    <a:bodyPr/>
                    <a:lstStyle/>
                    <a:p>
                      <a:pPr>
                        <a:defRPr sz="1100">
                          <a:solidFill>
                            <a:srgbClr val="2D2D2D"/>
                          </a:solidFill>
                          <a:latin typeface="Comfortaa"/>
                        </a:defRPr>
                      </a:pPr>
                      <a:r>
                        <a:t>Injection 2</a:t>
                      </a:r>
                    </a:p>
                  </a:txBody>
                  <a:tcPr/>
                </a:tc>
                <a:tc>
                  <a:txBody>
                    <a:bodyPr/>
                    <a:lstStyle/>
                    <a:p>
                      <a:pPr>
                        <a:defRPr sz="1100">
                          <a:solidFill>
                            <a:srgbClr val="2D2D2D"/>
                          </a:solidFill>
                          <a:latin typeface="Comfortaa"/>
                        </a:defRPr>
                      </a:pPr>
                      <a:r>
                        <a:t>détectable</a:t>
                      </a:r>
                    </a:p>
                  </a:txBody>
                  <a:tcPr/>
                </a:tc>
                <a:tc>
                  <a:txBody>
                    <a:bodyPr/>
                    <a:lstStyle/>
                    <a:p>
                      <a:pPr>
                        <a:defRPr sz="1100">
                          <a:solidFill>
                            <a:srgbClr val="2D2D2D"/>
                          </a:solidFill>
                          <a:latin typeface="Comfortaa"/>
                        </a:defRPr>
                      </a:pPr>
                      <a:r>
                        <a:t>0.351</a:t>
                      </a:r>
                    </a:p>
                  </a:txBody>
                  <a:tcPr/>
                </a:tc>
                <a:tc>
                  <a:txBody>
                    <a:bodyPr/>
                    <a:lstStyle/>
                    <a:p>
                      <a:pPr>
                        <a:defRPr sz="1100">
                          <a:solidFill>
                            <a:srgbClr val="2D2D2D"/>
                          </a:solidFill>
                          <a:latin typeface="Comfortaa"/>
                        </a:defRPr>
                      </a:pPr>
                      <a:r>
                        <a:t>Détecté</a:t>
                      </a:r>
                    </a:p>
                  </a:txBody>
                  <a:tcPr/>
                </a:tc>
                <a:extLst>
                  <a:ext uri="{0D108BD9-81ED-4DB2-BD59-A6C34878D82A}">
                    <a16:rowId xmlns:a16="http://schemas.microsoft.com/office/drawing/2014/main" val="10002"/>
                  </a:ext>
                </a:extLst>
              </a:tr>
              <a:tr h="251460">
                <a:tc>
                  <a:txBody>
                    <a:bodyPr/>
                    <a:lstStyle/>
                    <a:p>
                      <a:pPr>
                        <a:defRPr sz="1100">
                          <a:solidFill>
                            <a:srgbClr val="2D2D2D"/>
                          </a:solidFill>
                          <a:latin typeface="Comfortaa"/>
                        </a:defRPr>
                      </a:pPr>
                      <a:r>
                        <a:t>Injection cachée</a:t>
                      </a:r>
                    </a:p>
                  </a:txBody>
                  <a:tcPr/>
                </a:tc>
                <a:tc>
                  <a:txBody>
                    <a:bodyPr/>
                    <a:lstStyle/>
                    <a:p>
                      <a:pPr>
                        <a:defRPr sz="1100">
                          <a:solidFill>
                            <a:srgbClr val="2D2D2D"/>
                          </a:solidFill>
                          <a:latin typeface="Comfortaa"/>
                        </a:defRPr>
                      </a:pPr>
                      <a:r>
                        <a:t>non-détectable</a:t>
                      </a:r>
                    </a:p>
                  </a:txBody>
                  <a:tcPr/>
                </a:tc>
                <a:tc>
                  <a:txBody>
                    <a:bodyPr/>
                    <a:lstStyle/>
                    <a:p>
                      <a:pPr>
                        <a:defRPr sz="1100">
                          <a:solidFill>
                            <a:srgbClr val="2D2D2D"/>
                          </a:solidFill>
                          <a:latin typeface="Comfortaa"/>
                        </a:defRPr>
                      </a:pPr>
                      <a:r>
                        <a:t>0.000</a:t>
                      </a:r>
                    </a:p>
                  </a:txBody>
                  <a:tcPr/>
                </a:tc>
                <a:tc>
                  <a:txBody>
                    <a:bodyPr/>
                    <a:lstStyle/>
                    <a:p>
                      <a:pPr>
                        <a:defRPr sz="1100">
                          <a:solidFill>
                            <a:srgbClr val="2D2D2D"/>
                          </a:solidFill>
                          <a:latin typeface="Comfortaa"/>
                        </a:defRPr>
                      </a:pPr>
                      <a:r>
                        <a:rPr dirty="0"/>
                        <a:t>Silencieux</a:t>
                      </a:r>
                    </a:p>
                  </a:txBody>
                  <a:tcPr/>
                </a:tc>
                <a:extLst>
                  <a:ext uri="{0D108BD9-81ED-4DB2-BD59-A6C34878D82A}">
                    <a16:rowId xmlns:a16="http://schemas.microsoft.com/office/drawing/2014/main" val="10003"/>
                  </a:ext>
                </a:extLst>
              </a:tr>
            </a:tbl>
          </a:graphicData>
        </a:graphic>
      </p:graphicFrame>
      <p:sp>
        <p:nvSpPr>
          <p:cNvPr id="6" name="TextBox 5"/>
          <p:cNvSpPr txBox="1"/>
          <p:nvPr/>
        </p:nvSpPr>
        <p:spPr>
          <a:xfrm>
            <a:off x="1097280" y="3793067"/>
            <a:ext cx="6858000" cy="365760"/>
          </a:xfrm>
          <a:prstGeom prst="rect">
            <a:avLst/>
          </a:prstGeom>
          <a:noFill/>
        </p:spPr>
        <p:txBody>
          <a:bodyPr wrap="square">
            <a:spAutoFit/>
          </a:bodyPr>
          <a:lstStyle/>
          <a:p>
            <a:pPr algn="l">
              <a:defRPr sz="1200" b="1">
                <a:solidFill>
                  <a:srgbClr val="2E7D32"/>
                </a:solidFill>
                <a:latin typeface="Comfortaa"/>
              </a:defRPr>
            </a:pPr>
            <a:r>
              <a:rPr dirty="0" err="1"/>
              <a:t>Seule</a:t>
            </a:r>
            <a:r>
              <a:rPr dirty="0"/>
              <a:t> la </a:t>
            </a:r>
            <a:r>
              <a:rPr dirty="0" err="1"/>
              <a:t>vache</a:t>
            </a:r>
            <a:r>
              <a:rPr dirty="0"/>
              <a:t> </a:t>
            </a:r>
            <a:r>
              <a:rPr dirty="0" err="1"/>
              <a:t>cible</a:t>
            </a:r>
            <a:r>
              <a:rPr dirty="0"/>
              <a:t> est </a:t>
            </a:r>
            <a:r>
              <a:rPr dirty="0" err="1"/>
              <a:t>affectée</a:t>
            </a:r>
            <a:r>
              <a:rPr dirty="0"/>
              <a:t> — les 27 </a:t>
            </a:r>
            <a:r>
              <a:rPr dirty="0" err="1"/>
              <a:t>autres</a:t>
            </a:r>
            <a:r>
              <a:rPr dirty="0"/>
              <a:t> </a:t>
            </a:r>
            <a:r>
              <a:rPr dirty="0" err="1"/>
              <a:t>restent</a:t>
            </a:r>
            <a:r>
              <a:rPr dirty="0"/>
              <a:t> stables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914400"/>
            <a:ext cx="7315200" cy="457200"/>
          </a:xfrm>
          <a:prstGeom prst="rect">
            <a:avLst/>
          </a:prstGeom>
          <a:noFill/>
        </p:spPr>
        <p:txBody>
          <a:bodyPr wrap="square">
            <a:spAutoFit/>
          </a:bodyPr>
          <a:lstStyle/>
          <a:p>
            <a:pPr algn="l">
              <a:defRPr sz="2000" b="1">
                <a:solidFill>
                  <a:srgbClr val="C1272D"/>
                </a:solidFill>
                <a:latin typeface="Comfortaa"/>
              </a:defRPr>
            </a:pPr>
            <a:r>
              <a:t>Validation robuste</a:t>
            </a:r>
          </a:p>
        </p:txBody>
      </p:sp>
      <p:sp>
        <p:nvSpPr>
          <p:cNvPr id="4" name="TextBox 3"/>
          <p:cNvSpPr txBox="1"/>
          <p:nvPr/>
        </p:nvSpPr>
        <p:spPr>
          <a:xfrm>
            <a:off x="457200" y="1554480"/>
            <a:ext cx="2743200" cy="822960"/>
          </a:xfrm>
          <a:prstGeom prst="rect">
            <a:avLst/>
          </a:prstGeom>
          <a:noFill/>
        </p:spPr>
        <p:txBody>
          <a:bodyPr wrap="square">
            <a:spAutoFit/>
          </a:bodyPr>
          <a:lstStyle/>
          <a:p>
            <a:pPr algn="ctr">
              <a:defRPr sz="3600" b="1">
                <a:solidFill>
                  <a:srgbClr val="0070C0"/>
                </a:solidFill>
                <a:latin typeface="Comfortaa"/>
              </a:defRPr>
            </a:pPr>
            <a:r>
              <a:t>9 500+</a:t>
            </a:r>
          </a:p>
        </p:txBody>
      </p:sp>
      <p:sp>
        <p:nvSpPr>
          <p:cNvPr id="5" name="TextBox 4"/>
          <p:cNvSpPr txBox="1"/>
          <p:nvPr/>
        </p:nvSpPr>
        <p:spPr>
          <a:xfrm>
            <a:off x="457200" y="2286000"/>
            <a:ext cx="2743200" cy="274320"/>
          </a:xfrm>
          <a:prstGeom prst="rect">
            <a:avLst/>
          </a:prstGeom>
          <a:noFill/>
        </p:spPr>
        <p:txBody>
          <a:bodyPr wrap="square">
            <a:spAutoFit/>
          </a:bodyPr>
          <a:lstStyle/>
          <a:p>
            <a:pPr algn="ctr">
              <a:defRPr sz="1100" b="0">
                <a:solidFill>
                  <a:srgbClr val="777777"/>
                </a:solidFill>
                <a:latin typeface="Comfortaa"/>
              </a:defRPr>
            </a:pPr>
            <a:r>
              <a:t>runs de validation</a:t>
            </a:r>
          </a:p>
        </p:txBody>
      </p:sp>
      <p:sp>
        <p:nvSpPr>
          <p:cNvPr id="6" name="TextBox 5"/>
          <p:cNvSpPr txBox="1"/>
          <p:nvPr/>
        </p:nvSpPr>
        <p:spPr>
          <a:xfrm>
            <a:off x="3200400" y="1554480"/>
            <a:ext cx="2743200" cy="822960"/>
          </a:xfrm>
          <a:prstGeom prst="rect">
            <a:avLst/>
          </a:prstGeom>
          <a:noFill/>
        </p:spPr>
        <p:txBody>
          <a:bodyPr wrap="square">
            <a:spAutoFit/>
          </a:bodyPr>
          <a:lstStyle/>
          <a:p>
            <a:pPr algn="ctr">
              <a:defRPr sz="3600" b="1">
                <a:solidFill>
                  <a:srgbClr val="0070C0"/>
                </a:solidFill>
                <a:latin typeface="Comfortaa"/>
              </a:defRPr>
            </a:pPr>
            <a:r>
              <a:t>336</a:t>
            </a:r>
          </a:p>
        </p:txBody>
      </p:sp>
      <p:sp>
        <p:nvSpPr>
          <p:cNvPr id="7" name="TextBox 6"/>
          <p:cNvSpPr txBox="1"/>
          <p:nvPr/>
        </p:nvSpPr>
        <p:spPr>
          <a:xfrm>
            <a:off x="3200400" y="2286000"/>
            <a:ext cx="2743200" cy="274320"/>
          </a:xfrm>
          <a:prstGeom prst="rect">
            <a:avLst/>
          </a:prstGeom>
          <a:noFill/>
        </p:spPr>
        <p:txBody>
          <a:bodyPr wrap="square">
            <a:spAutoFit/>
          </a:bodyPr>
          <a:lstStyle/>
          <a:p>
            <a:pPr algn="ctr">
              <a:defRPr sz="1100" b="0">
                <a:solidFill>
                  <a:srgbClr val="777777"/>
                </a:solidFill>
                <a:latin typeface="Comfortaa"/>
              </a:defRPr>
            </a:pPr>
            <a:r>
              <a:t>configurations testées</a:t>
            </a:r>
          </a:p>
        </p:txBody>
      </p:sp>
      <p:sp>
        <p:nvSpPr>
          <p:cNvPr id="8" name="TextBox 7"/>
          <p:cNvSpPr txBox="1"/>
          <p:nvPr/>
        </p:nvSpPr>
        <p:spPr>
          <a:xfrm>
            <a:off x="5943600" y="1554480"/>
            <a:ext cx="2743200" cy="822960"/>
          </a:xfrm>
          <a:prstGeom prst="rect">
            <a:avLst/>
          </a:prstGeom>
          <a:noFill/>
        </p:spPr>
        <p:txBody>
          <a:bodyPr wrap="square">
            <a:spAutoFit/>
          </a:bodyPr>
          <a:lstStyle/>
          <a:p>
            <a:pPr algn="ctr">
              <a:defRPr sz="3600" b="1">
                <a:solidFill>
                  <a:srgbClr val="0070C0"/>
                </a:solidFill>
                <a:latin typeface="Comfortaa"/>
              </a:defRPr>
            </a:pPr>
            <a:r>
              <a:t>8</a:t>
            </a:r>
          </a:p>
        </p:txBody>
      </p:sp>
      <p:sp>
        <p:nvSpPr>
          <p:cNvPr id="9" name="TextBox 8"/>
          <p:cNvSpPr txBox="1"/>
          <p:nvPr/>
        </p:nvSpPr>
        <p:spPr>
          <a:xfrm>
            <a:off x="5943600" y="2286000"/>
            <a:ext cx="2743200" cy="274320"/>
          </a:xfrm>
          <a:prstGeom prst="rect">
            <a:avLst/>
          </a:prstGeom>
          <a:noFill/>
        </p:spPr>
        <p:txBody>
          <a:bodyPr wrap="square">
            <a:spAutoFit/>
          </a:bodyPr>
          <a:lstStyle/>
          <a:p>
            <a:pPr algn="ctr">
              <a:defRPr sz="1100" b="0">
                <a:solidFill>
                  <a:srgbClr val="777777"/>
                </a:solidFill>
                <a:latin typeface="Comfortaa"/>
              </a:defRPr>
            </a:pPr>
            <a:r>
              <a:t>seeds aléatoires</a:t>
            </a:r>
          </a:p>
        </p:txBody>
      </p:sp>
      <p:sp>
        <p:nvSpPr>
          <p:cNvPr id="10" name="TextBox 9"/>
          <p:cNvSpPr txBox="1"/>
          <p:nvPr/>
        </p:nvSpPr>
        <p:spPr>
          <a:xfrm>
            <a:off x="457200" y="2926080"/>
            <a:ext cx="4114800" cy="640080"/>
          </a:xfrm>
          <a:prstGeom prst="rect">
            <a:avLst/>
          </a:prstGeom>
          <a:noFill/>
        </p:spPr>
        <p:txBody>
          <a:bodyPr wrap="square">
            <a:spAutoFit/>
          </a:bodyPr>
          <a:lstStyle/>
          <a:p>
            <a:pPr algn="ctr">
              <a:defRPr sz="3400" b="1">
                <a:solidFill>
                  <a:srgbClr val="2E7D32"/>
                </a:solidFill>
                <a:latin typeface="Comfortaa"/>
              </a:defRPr>
            </a:pPr>
            <a:r>
              <a:t>100 %</a:t>
            </a:r>
          </a:p>
        </p:txBody>
      </p:sp>
      <p:sp>
        <p:nvSpPr>
          <p:cNvPr id="11" name="TextBox 10"/>
          <p:cNvSpPr txBox="1"/>
          <p:nvPr/>
        </p:nvSpPr>
        <p:spPr>
          <a:xfrm>
            <a:off x="457200" y="3474720"/>
            <a:ext cx="4114800" cy="274320"/>
          </a:xfrm>
          <a:prstGeom prst="rect">
            <a:avLst/>
          </a:prstGeom>
          <a:noFill/>
        </p:spPr>
        <p:txBody>
          <a:bodyPr wrap="square">
            <a:spAutoFit/>
          </a:bodyPr>
          <a:lstStyle/>
          <a:p>
            <a:pPr algn="ctr">
              <a:defRPr sz="1200" b="0">
                <a:solidFill>
                  <a:srgbClr val="2D2D2D"/>
                </a:solidFill>
                <a:latin typeface="Comfortaa"/>
              </a:defRPr>
            </a:pPr>
            <a:r>
              <a:t>détection des cas forts</a:t>
            </a:r>
          </a:p>
        </p:txBody>
      </p:sp>
      <p:sp>
        <p:nvSpPr>
          <p:cNvPr id="12" name="TextBox 11"/>
          <p:cNvSpPr txBox="1"/>
          <p:nvPr/>
        </p:nvSpPr>
        <p:spPr>
          <a:xfrm>
            <a:off x="4572000" y="2926080"/>
            <a:ext cx="4114800" cy="640080"/>
          </a:xfrm>
          <a:prstGeom prst="rect">
            <a:avLst/>
          </a:prstGeom>
          <a:noFill/>
        </p:spPr>
        <p:txBody>
          <a:bodyPr wrap="square">
            <a:spAutoFit/>
          </a:bodyPr>
          <a:lstStyle/>
          <a:p>
            <a:pPr algn="ctr">
              <a:defRPr sz="3400" b="1">
                <a:solidFill>
                  <a:srgbClr val="2E7D32"/>
                </a:solidFill>
                <a:latin typeface="Comfortaa"/>
              </a:defRPr>
            </a:pPr>
            <a:r>
              <a:t>0</a:t>
            </a:r>
          </a:p>
        </p:txBody>
      </p:sp>
      <p:sp>
        <p:nvSpPr>
          <p:cNvPr id="13" name="TextBox 12"/>
          <p:cNvSpPr txBox="1"/>
          <p:nvPr/>
        </p:nvSpPr>
        <p:spPr>
          <a:xfrm>
            <a:off x="4572000" y="3474720"/>
            <a:ext cx="4114800" cy="274320"/>
          </a:xfrm>
          <a:prstGeom prst="rect">
            <a:avLst/>
          </a:prstGeom>
          <a:noFill/>
        </p:spPr>
        <p:txBody>
          <a:bodyPr wrap="square">
            <a:spAutoFit/>
          </a:bodyPr>
          <a:lstStyle/>
          <a:p>
            <a:pPr algn="ctr">
              <a:defRPr sz="1200" b="0">
                <a:solidFill>
                  <a:srgbClr val="2D2D2D"/>
                </a:solidFill>
                <a:latin typeface="Comfortaa"/>
              </a:defRPr>
            </a:pPr>
            <a:r>
              <a:t>fuite sur cas non-détectables</a:t>
            </a:r>
          </a:p>
        </p:txBody>
      </p:sp>
      <p:sp>
        <p:nvSpPr>
          <p:cNvPr id="14" name="TextBox 13"/>
          <p:cNvSpPr txBox="1"/>
          <p:nvPr/>
        </p:nvSpPr>
        <p:spPr>
          <a:xfrm>
            <a:off x="2286000" y="3931920"/>
            <a:ext cx="4572000" cy="365760"/>
          </a:xfrm>
          <a:prstGeom prst="rect">
            <a:avLst/>
          </a:prstGeom>
          <a:noFill/>
        </p:spPr>
        <p:txBody>
          <a:bodyPr wrap="square">
            <a:spAutoFit/>
          </a:bodyPr>
          <a:lstStyle/>
          <a:p>
            <a:pPr algn="ctr">
              <a:defRPr sz="1200" b="0">
                <a:solidFill>
                  <a:srgbClr val="777777"/>
                </a:solidFill>
                <a:latin typeface="Comfortaa"/>
              </a:defRPr>
            </a:pPr>
            <a:r>
              <a:t>0.105 faux / vache / jour   ·   0.6 sec / vache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Chaque composante compte</a:t>
            </a:r>
          </a:p>
        </p:txBody>
      </p:sp>
      <p:graphicFrame>
        <p:nvGraphicFramePr>
          <p:cNvPr id="4" name="Table 3"/>
          <p:cNvGraphicFramePr>
            <a:graphicFrameLocks noGrp="1"/>
          </p:cNvGraphicFramePr>
          <p:nvPr/>
        </p:nvGraphicFramePr>
        <p:xfrm>
          <a:off x="914400" y="1828800"/>
          <a:ext cx="7315200" cy="1743456"/>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29184">
                <a:tc>
                  <a:txBody>
                    <a:bodyPr/>
                    <a:lstStyle/>
                    <a:p>
                      <a:pPr>
                        <a:defRPr sz="1100" b="1">
                          <a:solidFill>
                            <a:srgbClr val="FFFFFF"/>
                          </a:solidFill>
                          <a:latin typeface="Comfortaa"/>
                        </a:defRPr>
                      </a:pPr>
                      <a:r>
                        <a:t>Variante</a:t>
                      </a:r>
                    </a:p>
                  </a:txBody>
                  <a:tcPr>
                    <a:solidFill>
                      <a:srgbClr val="C1272D"/>
                    </a:solidFill>
                  </a:tcPr>
                </a:tc>
                <a:tc>
                  <a:txBody>
                    <a:bodyPr/>
                    <a:lstStyle/>
                    <a:p>
                      <a:pPr>
                        <a:defRPr sz="1100" b="1">
                          <a:solidFill>
                            <a:srgbClr val="FFFFFF"/>
                          </a:solidFill>
                          <a:latin typeface="Comfortaa"/>
                        </a:defRPr>
                      </a:pPr>
                      <a:r>
                        <a:t>Détection</a:t>
                      </a:r>
                    </a:p>
                  </a:txBody>
                  <a:tcPr>
                    <a:solidFill>
                      <a:srgbClr val="C1272D"/>
                    </a:solidFill>
                  </a:tcPr>
                </a:tc>
                <a:tc>
                  <a:txBody>
                    <a:bodyPr/>
                    <a:lstStyle/>
                    <a:p>
                      <a:pPr>
                        <a:defRPr sz="1100" b="1">
                          <a:solidFill>
                            <a:srgbClr val="FFFFFF"/>
                          </a:solidFill>
                          <a:latin typeface="Comfortaa"/>
                        </a:defRPr>
                      </a:pPr>
                      <a:r>
                        <a:t>Faux / jour</a:t>
                      </a:r>
                    </a:p>
                  </a:txBody>
                  <a:tcPr>
                    <a:solidFill>
                      <a:srgbClr val="C1272D"/>
                    </a:solidFill>
                  </a:tcPr>
                </a:tc>
                <a:tc>
                  <a:txBody>
                    <a:bodyPr/>
                    <a:lstStyle/>
                    <a:p>
                      <a:pPr>
                        <a:defRPr sz="1100" b="1">
                          <a:solidFill>
                            <a:srgbClr val="FFFFFF"/>
                          </a:solidFill>
                          <a:latin typeface="Comfortaa"/>
                        </a:defRPr>
                      </a:pPr>
                      <a:endParaRPr/>
                    </a:p>
                  </a:txBody>
                  <a:tcPr>
                    <a:solidFill>
                      <a:srgbClr val="C1272D"/>
                    </a:solidFill>
                  </a:tcPr>
                </a:tc>
                <a:extLst>
                  <a:ext uri="{0D108BD9-81ED-4DB2-BD59-A6C34878D82A}">
                    <a16:rowId xmlns:a16="http://schemas.microsoft.com/office/drawing/2014/main" val="10000"/>
                  </a:ext>
                </a:extLst>
              </a:tr>
              <a:tr h="329184">
                <a:tc>
                  <a:txBody>
                    <a:bodyPr/>
                    <a:lstStyle/>
                    <a:p>
                      <a:pPr>
                        <a:defRPr sz="1100">
                          <a:solidFill>
                            <a:srgbClr val="2D2D2D"/>
                          </a:solidFill>
                          <a:latin typeface="Comfortaa"/>
                        </a:defRPr>
                      </a:pPr>
                      <a:r>
                        <a:t>IF + règles (système complet)</a:t>
                      </a:r>
                    </a:p>
                  </a:txBody>
                  <a:tcPr/>
                </a:tc>
                <a:tc>
                  <a:txBody>
                    <a:bodyPr/>
                    <a:lstStyle/>
                    <a:p>
                      <a:pPr>
                        <a:defRPr sz="1100">
                          <a:solidFill>
                            <a:srgbClr val="2D2D2D"/>
                          </a:solidFill>
                          <a:latin typeface="Comfortaa"/>
                        </a:defRPr>
                      </a:pPr>
                      <a:r>
                        <a:t>48 %</a:t>
                      </a:r>
                    </a:p>
                  </a:txBody>
                  <a:tcPr/>
                </a:tc>
                <a:tc>
                  <a:txBody>
                    <a:bodyPr/>
                    <a:lstStyle/>
                    <a:p>
                      <a:pPr>
                        <a:defRPr sz="1100">
                          <a:solidFill>
                            <a:srgbClr val="2D2D2D"/>
                          </a:solidFill>
                          <a:latin typeface="Comfortaa"/>
                        </a:defRPr>
                      </a:pPr>
                      <a:r>
                        <a:t>0.088</a:t>
                      </a:r>
                    </a:p>
                  </a:txBody>
                  <a:tcPr/>
                </a:tc>
                <a:tc>
                  <a:txBody>
                    <a:bodyPr/>
                    <a:lstStyle/>
                    <a:p>
                      <a:pPr>
                        <a:defRPr sz="1100">
                          <a:solidFill>
                            <a:srgbClr val="2D2D2D"/>
                          </a:solidFill>
                          <a:latin typeface="Comfortaa"/>
                        </a:defRPr>
                      </a:pPr>
                      <a:r>
                        <a:t>Équilibré</a:t>
                      </a:r>
                    </a:p>
                  </a:txBody>
                  <a:tcPr/>
                </a:tc>
                <a:extLst>
                  <a:ext uri="{0D108BD9-81ED-4DB2-BD59-A6C34878D82A}">
                    <a16:rowId xmlns:a16="http://schemas.microsoft.com/office/drawing/2014/main" val="10001"/>
                  </a:ext>
                </a:extLst>
              </a:tr>
              <a:tr h="329184">
                <a:tc>
                  <a:txBody>
                    <a:bodyPr/>
                    <a:lstStyle/>
                    <a:p>
                      <a:pPr>
                        <a:defRPr sz="1100">
                          <a:solidFill>
                            <a:srgbClr val="2D2D2D"/>
                          </a:solidFill>
                          <a:latin typeface="Comfortaa"/>
                        </a:defRPr>
                      </a:pPr>
                      <a:r>
                        <a:t>Règles seules (sans IF)</a:t>
                      </a:r>
                    </a:p>
                  </a:txBody>
                  <a:tcPr/>
                </a:tc>
                <a:tc>
                  <a:txBody>
                    <a:bodyPr/>
                    <a:lstStyle/>
                    <a:p>
                      <a:pPr>
                        <a:defRPr sz="1100">
                          <a:solidFill>
                            <a:srgbClr val="2D2D2D"/>
                          </a:solidFill>
                          <a:latin typeface="Comfortaa"/>
                        </a:defRPr>
                      </a:pPr>
                      <a:r>
                        <a:t>69 %</a:t>
                      </a:r>
                    </a:p>
                  </a:txBody>
                  <a:tcPr/>
                </a:tc>
                <a:tc>
                  <a:txBody>
                    <a:bodyPr/>
                    <a:lstStyle/>
                    <a:p>
                      <a:pPr>
                        <a:defRPr sz="1100">
                          <a:solidFill>
                            <a:srgbClr val="2D2D2D"/>
                          </a:solidFill>
                          <a:latin typeface="Comfortaa"/>
                        </a:defRPr>
                      </a:pPr>
                      <a:r>
                        <a:t>0.281</a:t>
                      </a:r>
                    </a:p>
                  </a:txBody>
                  <a:tcPr/>
                </a:tc>
                <a:tc>
                  <a:txBody>
                    <a:bodyPr/>
                    <a:lstStyle/>
                    <a:p>
                      <a:pPr>
                        <a:defRPr sz="1100">
                          <a:solidFill>
                            <a:srgbClr val="2D2D2D"/>
                          </a:solidFill>
                          <a:latin typeface="Comfortaa"/>
                        </a:defRPr>
                      </a:pPr>
                      <a:r>
                        <a:t>3.2x plus de faux</a:t>
                      </a:r>
                    </a:p>
                  </a:txBody>
                  <a:tcPr/>
                </a:tc>
                <a:extLst>
                  <a:ext uri="{0D108BD9-81ED-4DB2-BD59-A6C34878D82A}">
                    <a16:rowId xmlns:a16="http://schemas.microsoft.com/office/drawing/2014/main" val="10002"/>
                  </a:ext>
                </a:extLst>
              </a:tr>
              <a:tr h="329184">
                <a:tc>
                  <a:txBody>
                    <a:bodyPr/>
                    <a:lstStyle/>
                    <a:p>
                      <a:pPr>
                        <a:defRPr sz="1100">
                          <a:solidFill>
                            <a:srgbClr val="2D2D2D"/>
                          </a:solidFill>
                          <a:latin typeface="Comfortaa"/>
                        </a:defRPr>
                      </a:pPr>
                      <a:r>
                        <a:t>IF seul (sans règles)</a:t>
                      </a:r>
                    </a:p>
                  </a:txBody>
                  <a:tcPr/>
                </a:tc>
                <a:tc>
                  <a:txBody>
                    <a:bodyPr/>
                    <a:lstStyle/>
                    <a:p>
                      <a:pPr>
                        <a:defRPr sz="1100">
                          <a:solidFill>
                            <a:srgbClr val="2D2D2D"/>
                          </a:solidFill>
                          <a:latin typeface="Comfortaa"/>
                        </a:defRPr>
                      </a:pPr>
                      <a:r>
                        <a:t>100 %</a:t>
                      </a:r>
                    </a:p>
                  </a:txBody>
                  <a:tcPr/>
                </a:tc>
                <a:tc>
                  <a:txBody>
                    <a:bodyPr/>
                    <a:lstStyle/>
                    <a:p>
                      <a:pPr>
                        <a:defRPr sz="1100">
                          <a:solidFill>
                            <a:srgbClr val="2D2D2D"/>
                          </a:solidFill>
                          <a:latin typeface="Comfortaa"/>
                        </a:defRPr>
                      </a:pPr>
                      <a:r>
                        <a:t>N/A</a:t>
                      </a:r>
                    </a:p>
                  </a:txBody>
                  <a:tcPr/>
                </a:tc>
                <a:tc>
                  <a:txBody>
                    <a:bodyPr/>
                    <a:lstStyle/>
                    <a:p>
                      <a:pPr>
                        <a:defRPr sz="1100">
                          <a:solidFill>
                            <a:srgbClr val="2D2D2D"/>
                          </a:solidFill>
                          <a:latin typeface="Comfortaa"/>
                        </a:defRPr>
                      </a:pPr>
                      <a:r>
                        <a:t>Aucune précision</a:t>
                      </a:r>
                    </a:p>
                  </a:txBody>
                  <a:tcPr/>
                </a:tc>
                <a:extLst>
                  <a:ext uri="{0D108BD9-81ED-4DB2-BD59-A6C34878D82A}">
                    <a16:rowId xmlns:a16="http://schemas.microsoft.com/office/drawing/2014/main" val="10003"/>
                  </a:ext>
                </a:extLst>
              </a:tr>
              <a:tr h="329184">
                <a:tc>
                  <a:txBody>
                    <a:bodyPr/>
                    <a:lstStyle/>
                    <a:p>
                      <a:pPr>
                        <a:defRPr sz="1100">
                          <a:solidFill>
                            <a:srgbClr val="2D2D2D"/>
                          </a:solidFill>
                          <a:latin typeface="Comfortaa"/>
                        </a:defRPr>
                      </a:pPr>
                      <a:r>
                        <a:t>LOF + règles</a:t>
                      </a:r>
                    </a:p>
                  </a:txBody>
                  <a:tcPr/>
                </a:tc>
                <a:tc>
                  <a:txBody>
                    <a:bodyPr/>
                    <a:lstStyle/>
                    <a:p>
                      <a:pPr>
                        <a:defRPr sz="1100">
                          <a:solidFill>
                            <a:srgbClr val="2D2D2D"/>
                          </a:solidFill>
                          <a:latin typeface="Comfortaa"/>
                        </a:defRPr>
                      </a:pPr>
                      <a:r>
                        <a:t>67 %</a:t>
                      </a:r>
                    </a:p>
                  </a:txBody>
                  <a:tcPr/>
                </a:tc>
                <a:tc>
                  <a:txBody>
                    <a:bodyPr/>
                    <a:lstStyle/>
                    <a:p>
                      <a:pPr>
                        <a:defRPr sz="1100">
                          <a:solidFill>
                            <a:srgbClr val="2D2D2D"/>
                          </a:solidFill>
                          <a:latin typeface="Comfortaa"/>
                        </a:defRPr>
                      </a:pPr>
                      <a:r>
                        <a:t>0.037</a:t>
                      </a:r>
                    </a:p>
                  </a:txBody>
                  <a:tcPr/>
                </a:tc>
                <a:tc>
                  <a:txBody>
                    <a:bodyPr/>
                    <a:lstStyle/>
                    <a:p>
                      <a:pPr>
                        <a:defRPr sz="1100">
                          <a:solidFill>
                            <a:srgbClr val="2D2D2D"/>
                          </a:solidFill>
                          <a:latin typeface="Comfortaa"/>
                        </a:defRPr>
                      </a:pPr>
                      <a:r>
                        <a:t>Piste crédible</a:t>
                      </a:r>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1097280" y="3840480"/>
            <a:ext cx="6858000" cy="365760"/>
          </a:xfrm>
          <a:prstGeom prst="rect">
            <a:avLst/>
          </a:prstGeom>
          <a:noFill/>
        </p:spPr>
        <p:txBody>
          <a:bodyPr wrap="square">
            <a:spAutoFit/>
          </a:bodyPr>
          <a:lstStyle/>
          <a:p>
            <a:pPr algn="l">
              <a:defRPr sz="1200" b="0">
                <a:solidFill>
                  <a:srgbClr val="777777"/>
                </a:solidFill>
                <a:latin typeface="Comfortaa"/>
              </a:defRPr>
            </a:pPr>
            <a:r>
              <a:t>L'ablation est honnête : elle montre les alternatives crédibles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245533"/>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Interface Streamlit</a:t>
            </a:r>
          </a:p>
        </p:txBody>
      </p:sp>
      <p:sp>
        <p:nvSpPr>
          <p:cNvPr id="4" name="TextBox 3"/>
          <p:cNvSpPr txBox="1"/>
          <p:nvPr/>
        </p:nvSpPr>
        <p:spPr>
          <a:xfrm>
            <a:off x="1054947" y="1761067"/>
            <a:ext cx="6858000" cy="2743200"/>
          </a:xfrm>
          <a:prstGeom prst="rect">
            <a:avLst/>
          </a:prstGeom>
          <a:noFill/>
        </p:spPr>
        <p:txBody>
          <a:bodyPr wrap="square">
            <a:spAutoFit/>
          </a:bodyPr>
          <a:lstStyle/>
          <a:p>
            <a:pPr algn="l">
              <a:spcAft>
                <a:spcPts val="500"/>
              </a:spcAft>
              <a:defRPr sz="1300" b="1">
                <a:solidFill>
                  <a:srgbClr val="2D2D2D"/>
                </a:solidFill>
                <a:latin typeface="Comfortaa"/>
              </a:defRPr>
            </a:pPr>
            <a:r>
              <a:rPr dirty="0"/>
              <a:t>Application web pour </a:t>
            </a:r>
            <a:r>
              <a:rPr dirty="0" err="1"/>
              <a:t>utilisateurs</a:t>
            </a:r>
            <a:r>
              <a:rPr dirty="0"/>
              <a:t> non techniques</a:t>
            </a:r>
          </a:p>
          <a:p>
            <a:pPr algn="l">
              <a:spcAft>
                <a:spcPts val="300"/>
              </a:spcAft>
              <a:defRPr sz="800" b="0">
                <a:solidFill>
                  <a:srgbClr val="2D2D2D"/>
                </a:solidFill>
                <a:latin typeface="Comfortaa"/>
              </a:defRPr>
            </a:pPr>
            <a:endParaRPr dirty="0"/>
          </a:p>
          <a:p>
            <a:pPr algn="l">
              <a:spcAft>
                <a:spcPts val="400"/>
              </a:spcAft>
              <a:defRPr sz="1200" b="0">
                <a:solidFill>
                  <a:srgbClr val="2D2D2D"/>
                </a:solidFill>
                <a:latin typeface="Comfortaa"/>
              </a:defRPr>
            </a:pPr>
            <a:r>
              <a:rPr dirty="0" err="1"/>
              <a:t>Analyse</a:t>
            </a:r>
            <a:r>
              <a:rPr dirty="0"/>
              <a:t> </a:t>
            </a:r>
            <a:r>
              <a:rPr dirty="0" err="1"/>
              <a:t>individuelle</a:t>
            </a:r>
            <a:r>
              <a:rPr dirty="0"/>
              <a:t> — </a:t>
            </a:r>
            <a:r>
              <a:rPr dirty="0" err="1"/>
              <a:t>graphiques</a:t>
            </a:r>
            <a:r>
              <a:rPr dirty="0"/>
              <a:t> multi-variables par </a:t>
            </a:r>
            <a:r>
              <a:rPr dirty="0" err="1"/>
              <a:t>vache</a:t>
            </a:r>
            <a:endParaRPr dirty="0"/>
          </a:p>
          <a:p>
            <a:pPr algn="l">
              <a:spcAft>
                <a:spcPts val="100"/>
              </a:spcAft>
              <a:defRPr sz="400" b="0">
                <a:solidFill>
                  <a:srgbClr val="2D2D2D"/>
                </a:solidFill>
                <a:latin typeface="Comfortaa"/>
              </a:defRPr>
            </a:pPr>
            <a:endParaRPr dirty="0"/>
          </a:p>
          <a:p>
            <a:pPr algn="l">
              <a:spcAft>
                <a:spcPts val="400"/>
              </a:spcAft>
              <a:defRPr sz="1200" b="0">
                <a:solidFill>
                  <a:srgbClr val="2D2D2D"/>
                </a:solidFill>
                <a:latin typeface="Comfortaa"/>
              </a:defRPr>
            </a:pPr>
            <a:r>
              <a:rPr dirty="0" err="1"/>
              <a:t>Classement</a:t>
            </a:r>
            <a:r>
              <a:rPr dirty="0"/>
              <a:t> </a:t>
            </a:r>
            <a:r>
              <a:rPr dirty="0" err="1"/>
              <a:t>troupeau</a:t>
            </a:r>
            <a:r>
              <a:rPr dirty="0"/>
              <a:t> — </a:t>
            </a:r>
            <a:r>
              <a:rPr dirty="0" err="1"/>
              <a:t>vue</a:t>
            </a:r>
            <a:r>
              <a:rPr dirty="0"/>
              <a:t> </a:t>
            </a:r>
            <a:r>
              <a:rPr dirty="0" err="1"/>
              <a:t>d'ensemble</a:t>
            </a:r>
            <a:r>
              <a:rPr dirty="0"/>
              <a:t> </a:t>
            </a:r>
            <a:r>
              <a:rPr dirty="0" err="1"/>
              <a:t>triée</a:t>
            </a:r>
            <a:r>
              <a:rPr dirty="0"/>
              <a:t> par </a:t>
            </a:r>
            <a:r>
              <a:rPr dirty="0" err="1"/>
              <a:t>risque</a:t>
            </a:r>
            <a:endParaRPr dirty="0"/>
          </a:p>
          <a:p>
            <a:pPr algn="l">
              <a:spcAft>
                <a:spcPts val="100"/>
              </a:spcAft>
              <a:defRPr sz="400" b="0">
                <a:solidFill>
                  <a:srgbClr val="2D2D2D"/>
                </a:solidFill>
                <a:latin typeface="Comfortaa"/>
              </a:defRPr>
            </a:pPr>
            <a:endParaRPr dirty="0"/>
          </a:p>
          <a:p>
            <a:pPr algn="l">
              <a:spcAft>
                <a:spcPts val="400"/>
              </a:spcAft>
              <a:defRPr sz="1200" b="0">
                <a:solidFill>
                  <a:srgbClr val="2D2D2D"/>
                </a:solidFill>
                <a:latin typeface="Comfortaa"/>
              </a:defRPr>
            </a:pPr>
            <a:r>
              <a:rPr dirty="0"/>
              <a:t>Carte de </a:t>
            </a:r>
            <a:r>
              <a:rPr dirty="0" err="1"/>
              <a:t>chaleur</a:t>
            </a:r>
            <a:r>
              <a:rPr dirty="0"/>
              <a:t> — </a:t>
            </a:r>
            <a:r>
              <a:rPr dirty="0" err="1"/>
              <a:t>alertes</a:t>
            </a:r>
            <a:r>
              <a:rPr dirty="0"/>
              <a:t> </a:t>
            </a:r>
            <a:r>
              <a:rPr dirty="0" err="1"/>
              <a:t>journalières</a:t>
            </a:r>
            <a:r>
              <a:rPr dirty="0"/>
              <a:t> du </a:t>
            </a:r>
            <a:r>
              <a:rPr dirty="0" err="1"/>
              <a:t>troupeau</a:t>
            </a:r>
            <a:r>
              <a:rPr dirty="0"/>
              <a:t> </a:t>
            </a:r>
            <a:r>
              <a:rPr dirty="0" err="1"/>
              <a:t>entier</a:t>
            </a:r>
            <a:endParaRPr dirty="0"/>
          </a:p>
          <a:p>
            <a:pPr algn="l">
              <a:spcAft>
                <a:spcPts val="100"/>
              </a:spcAft>
              <a:defRPr sz="400" b="0">
                <a:solidFill>
                  <a:srgbClr val="2D2D2D"/>
                </a:solidFill>
                <a:latin typeface="Comfortaa"/>
              </a:defRPr>
            </a:pPr>
            <a:endParaRPr dirty="0"/>
          </a:p>
          <a:p>
            <a:pPr algn="l">
              <a:spcAft>
                <a:spcPts val="400"/>
              </a:spcAft>
              <a:defRPr sz="1200" b="0">
                <a:solidFill>
                  <a:srgbClr val="2D2D2D"/>
                </a:solidFill>
                <a:latin typeface="Comfortaa"/>
              </a:defRPr>
            </a:pPr>
            <a:r>
              <a:rPr dirty="0"/>
              <a:t>Export CSV — </a:t>
            </a:r>
            <a:r>
              <a:rPr dirty="0" err="1"/>
              <a:t>intégration</a:t>
            </a:r>
            <a:r>
              <a:rPr dirty="0"/>
              <a:t> dans </a:t>
            </a:r>
            <a:r>
              <a:rPr dirty="0" err="1"/>
              <a:t>logiciel</a:t>
            </a:r>
            <a:r>
              <a:rPr dirty="0"/>
              <a:t> de gestion</a:t>
            </a:r>
          </a:p>
          <a:p>
            <a:pPr algn="l">
              <a:spcAft>
                <a:spcPts val="300"/>
              </a:spcAft>
              <a:defRPr sz="800" b="0">
                <a:solidFill>
                  <a:srgbClr val="2D2D2D"/>
                </a:solidFill>
                <a:latin typeface="Comfortaa"/>
              </a:defRPr>
            </a:pPr>
            <a:endParaRPr dirty="0"/>
          </a:p>
          <a:p>
            <a:pPr algn="l">
              <a:spcAft>
                <a:spcPts val="400"/>
              </a:spcAft>
              <a:defRPr sz="1200" b="0">
                <a:solidFill>
                  <a:srgbClr val="0070C0"/>
                </a:solidFill>
                <a:latin typeface="Comfortaa"/>
              </a:defRPr>
            </a:pPr>
            <a:r>
              <a:rPr dirty="0"/>
              <a:t>Tous les </a:t>
            </a:r>
            <a:r>
              <a:rPr dirty="0" err="1"/>
              <a:t>paramètres</a:t>
            </a:r>
            <a:r>
              <a:rPr dirty="0"/>
              <a:t> </a:t>
            </a:r>
            <a:r>
              <a:rPr dirty="0" err="1"/>
              <a:t>ajustables</a:t>
            </a:r>
            <a:r>
              <a:rPr dirty="0"/>
              <a:t> </a:t>
            </a:r>
            <a:r>
              <a:rPr dirty="0" err="1"/>
              <a:t>en</a:t>
            </a:r>
            <a:r>
              <a:rPr dirty="0"/>
              <a:t> temps </a:t>
            </a:r>
            <a:r>
              <a:rPr dirty="0" err="1"/>
              <a:t>réel</a:t>
            </a:r>
            <a:endParaRPr dirty="0"/>
          </a:p>
          <a:p>
            <a:pPr algn="l">
              <a:spcAft>
                <a:spcPts val="400"/>
              </a:spcAft>
              <a:defRPr sz="1100" b="0">
                <a:solidFill>
                  <a:srgbClr val="777777"/>
                </a:solidFill>
                <a:latin typeface="Comfortaa"/>
              </a:defRPr>
            </a:pPr>
            <a:r>
              <a:rPr dirty="0" err="1"/>
              <a:t>Résultats</a:t>
            </a:r>
            <a:r>
              <a:rPr dirty="0"/>
              <a:t> </a:t>
            </a:r>
            <a:r>
              <a:rPr dirty="0" err="1"/>
              <a:t>identiques</a:t>
            </a:r>
            <a:r>
              <a:rPr dirty="0"/>
              <a:t> </a:t>
            </a:r>
            <a:r>
              <a:rPr dirty="0" err="1"/>
              <a:t>en</a:t>
            </a:r>
            <a:r>
              <a:rPr dirty="0"/>
              <a:t> CLI et dans </a:t>
            </a:r>
            <a:r>
              <a:rPr dirty="0" err="1"/>
              <a:t>l'interface</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Ce que le mémoire apporte</a:t>
            </a:r>
          </a:p>
        </p:txBody>
      </p:sp>
      <p:sp>
        <p:nvSpPr>
          <p:cNvPr id="4" name="TextBox 3"/>
          <p:cNvSpPr txBox="1"/>
          <p:nvPr/>
        </p:nvSpPr>
        <p:spPr>
          <a:xfrm>
            <a:off x="1097280" y="1828800"/>
            <a:ext cx="6858000" cy="2743200"/>
          </a:xfrm>
          <a:prstGeom prst="rect">
            <a:avLst/>
          </a:prstGeom>
          <a:noFill/>
        </p:spPr>
        <p:txBody>
          <a:bodyPr wrap="square">
            <a:spAutoFit/>
          </a:bodyPr>
          <a:lstStyle/>
          <a:p>
            <a:pPr algn="l">
              <a:spcAft>
                <a:spcPts val="500"/>
              </a:spcAft>
              <a:defRPr sz="1300" b="0">
                <a:solidFill>
                  <a:srgbClr val="2D2D2D"/>
                </a:solidFill>
                <a:latin typeface="Comfortaa"/>
              </a:defRPr>
            </a:pPr>
            <a:r>
              <a:t>Pipeline complet et modulaire (ingestion → notifications)</a:t>
            </a:r>
          </a:p>
          <a:p>
            <a:pPr algn="l">
              <a:spcAft>
                <a:spcPts val="200"/>
              </a:spcAft>
              <a:defRPr sz="600" b="0">
                <a:solidFill>
                  <a:srgbClr val="2D2D2D"/>
                </a:solidFill>
                <a:latin typeface="Comfortaa"/>
              </a:defRPr>
            </a:pPr>
            <a:endParaRPr/>
          </a:p>
          <a:p>
            <a:pPr algn="l">
              <a:spcAft>
                <a:spcPts val="500"/>
              </a:spcAft>
              <a:defRPr sz="1300" b="0">
                <a:solidFill>
                  <a:srgbClr val="2D2D2D"/>
                </a:solidFill>
                <a:latin typeface="Comfortaa"/>
              </a:defRPr>
            </a:pPr>
            <a:r>
              <a:t>Validation à deux niveaux (manuelle + 9 500 runs)</a:t>
            </a:r>
          </a:p>
          <a:p>
            <a:pPr algn="l">
              <a:spcAft>
                <a:spcPts val="200"/>
              </a:spcAft>
              <a:defRPr sz="600" b="0">
                <a:solidFill>
                  <a:srgbClr val="2D2D2D"/>
                </a:solidFill>
                <a:latin typeface="Comfortaa"/>
              </a:defRPr>
            </a:pPr>
            <a:endParaRPr/>
          </a:p>
          <a:p>
            <a:pPr algn="l">
              <a:spcAft>
                <a:spcPts val="500"/>
              </a:spcAft>
              <a:defRPr sz="1300" b="0">
                <a:solidFill>
                  <a:srgbClr val="2D2D2D"/>
                </a:solidFill>
                <a:latin typeface="Comfortaa"/>
              </a:defRPr>
            </a:pPr>
            <a:r>
              <a:t>Ablation honnête avec alternatives documentées</a:t>
            </a:r>
          </a:p>
          <a:p>
            <a:pPr algn="l">
              <a:spcAft>
                <a:spcPts val="200"/>
              </a:spcAft>
              <a:defRPr sz="600" b="0">
                <a:solidFill>
                  <a:srgbClr val="2D2D2D"/>
                </a:solidFill>
                <a:latin typeface="Comfortaa"/>
              </a:defRPr>
            </a:pPr>
            <a:endParaRPr/>
          </a:p>
          <a:p>
            <a:pPr algn="l">
              <a:spcAft>
                <a:spcPts val="500"/>
              </a:spcAft>
              <a:defRPr sz="1300" b="0">
                <a:solidFill>
                  <a:srgbClr val="2D2D2D"/>
                </a:solidFill>
                <a:latin typeface="Comfortaa"/>
              </a:defRPr>
            </a:pPr>
            <a:r>
              <a:t>Traçabilité complète (SHA-256, seeds fixées, paramètres gelés)</a:t>
            </a:r>
          </a:p>
          <a:p>
            <a:pPr algn="l">
              <a:spcAft>
                <a:spcPts val="200"/>
              </a:spcAft>
              <a:defRPr sz="600" b="0">
                <a:solidFill>
                  <a:srgbClr val="2D2D2D"/>
                </a:solidFill>
                <a:latin typeface="Comfortaa"/>
              </a:defRPr>
            </a:pPr>
            <a:endParaRPr/>
          </a:p>
          <a:p>
            <a:pPr algn="l">
              <a:spcAft>
                <a:spcPts val="500"/>
              </a:spcAft>
              <a:defRPr sz="1300" b="0">
                <a:solidFill>
                  <a:srgbClr val="0070C0"/>
                </a:solidFill>
                <a:latin typeface="Comfortaa"/>
              </a:defRPr>
            </a:pPr>
            <a:r>
              <a:t>Code open source : github.com/Barryguinea/uqamemoire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Limites</a:t>
            </a:r>
          </a:p>
        </p:txBody>
      </p:sp>
      <p:sp>
        <p:nvSpPr>
          <p:cNvPr id="4" name="TextBox 3"/>
          <p:cNvSpPr txBox="1"/>
          <p:nvPr/>
        </p:nvSpPr>
        <p:spPr>
          <a:xfrm>
            <a:off x="1097280" y="1828800"/>
            <a:ext cx="6858000" cy="2743200"/>
          </a:xfrm>
          <a:prstGeom prst="rect">
            <a:avLst/>
          </a:prstGeom>
          <a:noFill/>
        </p:spPr>
        <p:txBody>
          <a:bodyPr wrap="square">
            <a:spAutoFit/>
          </a:bodyPr>
          <a:lstStyle/>
          <a:p>
            <a:pPr algn="l">
              <a:spcAft>
                <a:spcPts val="500"/>
              </a:spcAft>
              <a:defRPr sz="1400" b="1">
                <a:solidFill>
                  <a:srgbClr val="2D2D2D"/>
                </a:solidFill>
                <a:latin typeface="Comfortaa"/>
              </a:defRPr>
            </a:pPr>
            <a:r>
              <a:t>Pas de validation clinique</a:t>
            </a:r>
          </a:p>
          <a:p>
            <a:pPr algn="l">
              <a:spcAft>
                <a:spcPts val="400"/>
              </a:spcAft>
              <a:defRPr sz="1200" b="0">
                <a:solidFill>
                  <a:srgbClr val="777777"/>
                </a:solidFill>
                <a:latin typeface="Comfortaa"/>
              </a:defRPr>
            </a:pPr>
            <a:r>
              <a:t>Injections synthétiques, pas de diagnostic vétérinaire</a:t>
            </a:r>
          </a:p>
          <a:p>
            <a:pPr algn="l">
              <a:spcAft>
                <a:spcPts val="300"/>
              </a:spcAft>
              <a:defRPr sz="800" b="0">
                <a:solidFill>
                  <a:srgbClr val="2D2D2D"/>
                </a:solidFill>
                <a:latin typeface="Comfortaa"/>
              </a:defRPr>
            </a:pPr>
            <a:endParaRPr/>
          </a:p>
          <a:p>
            <a:pPr algn="l">
              <a:spcAft>
                <a:spcPts val="500"/>
              </a:spcAft>
              <a:defRPr sz="1400" b="1">
                <a:solidFill>
                  <a:srgbClr val="2D2D2D"/>
                </a:solidFill>
                <a:latin typeface="Comfortaa"/>
              </a:defRPr>
            </a:pPr>
            <a:r>
              <a:t>Un seul corpus, une seule ferme</a:t>
            </a:r>
          </a:p>
          <a:p>
            <a:pPr algn="l">
              <a:spcAft>
                <a:spcPts val="400"/>
              </a:spcAft>
              <a:defRPr sz="1200" b="0">
                <a:solidFill>
                  <a:srgbClr val="777777"/>
                </a:solidFill>
                <a:latin typeface="Comfortaa"/>
              </a:defRPr>
            </a:pPr>
            <a:r>
              <a:t>Généralisation non testée</a:t>
            </a:r>
          </a:p>
          <a:p>
            <a:pPr algn="l">
              <a:spcAft>
                <a:spcPts val="300"/>
              </a:spcAft>
              <a:defRPr sz="800" b="0">
                <a:solidFill>
                  <a:srgbClr val="2D2D2D"/>
                </a:solidFill>
                <a:latin typeface="Comfortaa"/>
              </a:defRPr>
            </a:pPr>
            <a:endParaRPr/>
          </a:p>
          <a:p>
            <a:pPr algn="l">
              <a:spcAft>
                <a:spcPts val="500"/>
              </a:spcAft>
              <a:defRPr sz="1400" b="1">
                <a:solidFill>
                  <a:srgbClr val="2D2D2D"/>
                </a:solidFill>
                <a:latin typeface="Comfortaa"/>
              </a:defRPr>
            </a:pPr>
            <a:r>
              <a:t>Seuils calibrés sur un seul jeu de données</a:t>
            </a:r>
          </a:p>
          <a:p>
            <a:pPr algn="l">
              <a:spcAft>
                <a:spcPts val="400"/>
              </a:spcAft>
              <a:defRPr sz="1200" b="0">
                <a:solidFill>
                  <a:srgbClr val="777777"/>
                </a:solidFill>
                <a:latin typeface="Comfortaa"/>
              </a:defRPr>
            </a:pPr>
            <a:r>
              <a:t>Fragilité sur les cas borderline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3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914400"/>
            <a:ext cx="7315200" cy="457200"/>
          </a:xfrm>
          <a:prstGeom prst="rect">
            <a:avLst/>
          </a:prstGeom>
          <a:noFill/>
        </p:spPr>
        <p:txBody>
          <a:bodyPr wrap="square">
            <a:spAutoFit/>
          </a:bodyPr>
          <a:lstStyle/>
          <a:p>
            <a:pPr algn="l">
              <a:defRPr sz="2000" b="1">
                <a:solidFill>
                  <a:srgbClr val="C1272D"/>
                </a:solidFill>
                <a:latin typeface="Comfortaa"/>
              </a:defRPr>
            </a:pPr>
            <a:r>
              <a:t>Deux projets, un socle commun</a:t>
            </a:r>
          </a:p>
        </p:txBody>
      </p:sp>
      <p:sp>
        <p:nvSpPr>
          <p:cNvPr id="4" name="TextBox 3"/>
          <p:cNvSpPr txBox="1"/>
          <p:nvPr/>
        </p:nvSpPr>
        <p:spPr>
          <a:xfrm>
            <a:off x="731520" y="1645920"/>
            <a:ext cx="3657600" cy="365760"/>
          </a:xfrm>
          <a:prstGeom prst="rect">
            <a:avLst/>
          </a:prstGeom>
          <a:noFill/>
        </p:spPr>
        <p:txBody>
          <a:bodyPr wrap="square">
            <a:spAutoFit/>
          </a:bodyPr>
          <a:lstStyle/>
          <a:p>
            <a:pPr algn="ctr">
              <a:defRPr sz="1400" b="1">
                <a:solidFill>
                  <a:srgbClr val="0070C0"/>
                </a:solidFill>
                <a:latin typeface="Comfortaa"/>
              </a:defRPr>
            </a:pPr>
            <a:r>
              <a:t>Mon mémoire</a:t>
            </a:r>
          </a:p>
        </p:txBody>
      </p:sp>
      <p:sp>
        <p:nvSpPr>
          <p:cNvPr id="5" name="TextBox 4"/>
          <p:cNvSpPr txBox="1"/>
          <p:nvPr/>
        </p:nvSpPr>
        <p:spPr>
          <a:xfrm>
            <a:off x="731520" y="2103120"/>
            <a:ext cx="3657600" cy="1828800"/>
          </a:xfrm>
          <a:prstGeom prst="rect">
            <a:avLst/>
          </a:prstGeom>
          <a:noFill/>
        </p:spPr>
        <p:txBody>
          <a:bodyPr wrap="square">
            <a:spAutoFit/>
          </a:bodyPr>
          <a:lstStyle/>
          <a:p>
            <a:pPr algn="ctr">
              <a:spcAft>
                <a:spcPts val="400"/>
              </a:spcAft>
              <a:defRPr sz="1200" b="0">
                <a:solidFill>
                  <a:srgbClr val="2D2D2D"/>
                </a:solidFill>
                <a:latin typeface="Comfortaa"/>
              </a:defRPr>
            </a:pPr>
            <a:r>
              <a:t>Détecter la boiterie probable</a:t>
            </a:r>
          </a:p>
          <a:p>
            <a:pPr algn="ctr">
              <a:spcAft>
                <a:spcPts val="400"/>
              </a:spcAft>
              <a:defRPr sz="1100" b="0">
                <a:solidFill>
                  <a:srgbClr val="777777"/>
                </a:solidFill>
                <a:latin typeface="Comfortaa"/>
              </a:defRPr>
            </a:pPr>
            <a:r>
              <a:t>IF + règles métier</a:t>
            </a:r>
          </a:p>
          <a:p>
            <a:pPr algn="ctr">
              <a:spcAft>
                <a:spcPts val="400"/>
              </a:spcAft>
              <a:defRPr sz="1100" b="0">
                <a:solidFill>
                  <a:srgbClr val="777777"/>
                </a:solidFill>
                <a:latin typeface="Comfortaa"/>
              </a:defRPr>
            </a:pPr>
            <a:r>
              <a:t>1 ferme, 28 vaches, IceQube</a:t>
            </a:r>
          </a:p>
          <a:p>
            <a:pPr algn="ctr">
              <a:spcAft>
                <a:spcPts val="400"/>
              </a:spcAft>
              <a:defRPr sz="1100" b="0">
                <a:solidFill>
                  <a:srgbClr val="777777"/>
                </a:solidFill>
                <a:latin typeface="Comfortaa"/>
              </a:defRPr>
            </a:pPr>
            <a:r>
              <a:t>Alertes actionnables</a:t>
            </a:r>
          </a:p>
        </p:txBody>
      </p:sp>
      <p:sp>
        <p:nvSpPr>
          <p:cNvPr id="6" name="TextBox 5"/>
          <p:cNvSpPr txBox="1"/>
          <p:nvPr/>
        </p:nvSpPr>
        <p:spPr>
          <a:xfrm>
            <a:off x="4754880" y="1645920"/>
            <a:ext cx="3657600" cy="365760"/>
          </a:xfrm>
          <a:prstGeom prst="rect">
            <a:avLst/>
          </a:prstGeom>
          <a:noFill/>
        </p:spPr>
        <p:txBody>
          <a:bodyPr wrap="square">
            <a:spAutoFit/>
          </a:bodyPr>
          <a:lstStyle/>
          <a:p>
            <a:pPr algn="ctr">
              <a:defRPr sz="1400" b="1">
                <a:solidFill>
                  <a:srgbClr val="2E7D32"/>
                </a:solidFill>
                <a:latin typeface="Comfortaa"/>
              </a:defRPr>
            </a:pPr>
            <a:r>
              <a:t>Votre projet</a:t>
            </a:r>
          </a:p>
        </p:txBody>
      </p:sp>
      <p:sp>
        <p:nvSpPr>
          <p:cNvPr id="7" name="TextBox 6"/>
          <p:cNvSpPr txBox="1"/>
          <p:nvPr/>
        </p:nvSpPr>
        <p:spPr>
          <a:xfrm>
            <a:off x="4754880" y="2103120"/>
            <a:ext cx="3657600" cy="1828800"/>
          </a:xfrm>
          <a:prstGeom prst="rect">
            <a:avLst/>
          </a:prstGeom>
          <a:noFill/>
        </p:spPr>
        <p:txBody>
          <a:bodyPr wrap="square">
            <a:spAutoFit/>
          </a:bodyPr>
          <a:lstStyle/>
          <a:p>
            <a:pPr algn="ctr">
              <a:spcAft>
                <a:spcPts val="400"/>
              </a:spcAft>
              <a:defRPr sz="1200" b="0">
                <a:solidFill>
                  <a:srgbClr val="2D2D2D"/>
                </a:solidFill>
                <a:latin typeface="Comfortaa"/>
              </a:defRPr>
            </a:pPr>
            <a:r>
              <a:t>Effet environnement sur</a:t>
            </a:r>
          </a:p>
          <a:p>
            <a:pPr algn="ctr">
              <a:spcAft>
                <a:spcPts val="400"/>
              </a:spcAft>
              <a:defRPr sz="1200" b="0">
                <a:solidFill>
                  <a:srgbClr val="2D2D2D"/>
                </a:solidFill>
                <a:latin typeface="Comfortaa"/>
              </a:defRPr>
            </a:pPr>
            <a:r>
              <a:t>le comportement locomoteur</a:t>
            </a:r>
          </a:p>
          <a:p>
            <a:pPr algn="ctr">
              <a:spcAft>
                <a:spcPts val="400"/>
              </a:spcAft>
              <a:defRPr sz="1100" b="0">
                <a:solidFill>
                  <a:srgbClr val="777777"/>
                </a:solidFill>
                <a:latin typeface="Comfortaa"/>
              </a:defRPr>
            </a:pPr>
            <a:r>
              <a:t>6 essais, 90 vaches, IceTag</a:t>
            </a:r>
          </a:p>
          <a:p>
            <a:pPr algn="ctr">
              <a:spcAft>
                <a:spcPts val="400"/>
              </a:spcAft>
              <a:defRPr sz="1100" b="0">
                <a:solidFill>
                  <a:srgbClr val="777777"/>
                </a:solidFill>
                <a:latin typeface="Comfortaa"/>
              </a:defRPr>
            </a:pPr>
            <a:r>
              <a:t>Notebook reproductible</a:t>
            </a:r>
          </a:p>
        </p:txBody>
      </p:sp>
      <p:sp>
        <p:nvSpPr>
          <p:cNvPr id="8" name="TextBox 7"/>
          <p:cNvSpPr txBox="1"/>
          <p:nvPr/>
        </p:nvSpPr>
        <p:spPr>
          <a:xfrm>
            <a:off x="1371600" y="3657600"/>
            <a:ext cx="6400800" cy="365760"/>
          </a:xfrm>
          <a:prstGeom prst="rect">
            <a:avLst/>
          </a:prstGeom>
          <a:noFill/>
        </p:spPr>
        <p:txBody>
          <a:bodyPr wrap="square">
            <a:spAutoFit/>
          </a:bodyPr>
          <a:lstStyle/>
          <a:p>
            <a:pPr algn="ctr">
              <a:defRPr sz="1300" b="1">
                <a:solidFill>
                  <a:srgbClr val="2D2D2D"/>
                </a:solidFill>
                <a:latin typeface="Comfortaa"/>
              </a:defRPr>
            </a:pPr>
            <a:r>
              <a:t>Socle commun : données capteurs bovines, pipeline reproductible, IoT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Ce que j'apporte au projet McGill</a:t>
            </a:r>
          </a:p>
        </p:txBody>
      </p:sp>
      <p:sp>
        <p:nvSpPr>
          <p:cNvPr id="4" name="TextBox 3"/>
          <p:cNvSpPr txBox="1"/>
          <p:nvPr/>
        </p:nvSpPr>
        <p:spPr>
          <a:xfrm>
            <a:off x="1097280" y="1828800"/>
            <a:ext cx="6858000" cy="2008242"/>
          </a:xfrm>
          <a:prstGeom prst="rect">
            <a:avLst/>
          </a:prstGeom>
          <a:noFill/>
        </p:spPr>
        <p:txBody>
          <a:bodyPr wrap="square">
            <a:spAutoFit/>
          </a:bodyPr>
          <a:lstStyle/>
          <a:p>
            <a:pPr algn="l">
              <a:spcAft>
                <a:spcPts val="500"/>
              </a:spcAft>
              <a:defRPr sz="1300" b="0">
                <a:solidFill>
                  <a:srgbClr val="2D2D2D"/>
                </a:solidFill>
                <a:latin typeface="Comfortaa"/>
              </a:defRPr>
            </a:pPr>
            <a:r>
              <a:rPr dirty="0"/>
              <a:t>Structuration de données </a:t>
            </a:r>
            <a:r>
              <a:rPr dirty="0" err="1"/>
              <a:t>capteurs</a:t>
            </a:r>
            <a:r>
              <a:rPr dirty="0"/>
              <a:t> bovines (</a:t>
            </a:r>
            <a:r>
              <a:rPr dirty="0" err="1"/>
              <a:t>IceQube</a:t>
            </a:r>
            <a:r>
              <a:rPr dirty="0"/>
              <a:t> / </a:t>
            </a:r>
            <a:r>
              <a:rPr dirty="0" err="1"/>
              <a:t>IceTag</a:t>
            </a:r>
            <a:r>
              <a:rPr dirty="0"/>
              <a:t>)</a:t>
            </a:r>
          </a:p>
          <a:p>
            <a:pPr algn="l">
              <a:spcAft>
                <a:spcPts val="200"/>
              </a:spcAft>
              <a:defRPr sz="600" b="0">
                <a:solidFill>
                  <a:srgbClr val="2D2D2D"/>
                </a:solidFill>
                <a:latin typeface="Comfortaa"/>
              </a:defRPr>
            </a:pPr>
            <a:endParaRPr dirty="0"/>
          </a:p>
          <a:p>
            <a:pPr algn="l">
              <a:spcAft>
                <a:spcPts val="500"/>
              </a:spcAft>
              <a:defRPr sz="1300" b="0">
                <a:solidFill>
                  <a:srgbClr val="2D2D2D"/>
                </a:solidFill>
                <a:latin typeface="Comfortaa"/>
              </a:defRPr>
            </a:pPr>
            <a:r>
              <a:rPr dirty="0" err="1"/>
              <a:t>Nettoyage</a:t>
            </a:r>
            <a:r>
              <a:rPr dirty="0"/>
              <a:t>, </a:t>
            </a:r>
            <a:r>
              <a:rPr dirty="0" err="1"/>
              <a:t>harmonisation</a:t>
            </a:r>
            <a:r>
              <a:rPr dirty="0"/>
              <a:t>, </a:t>
            </a:r>
            <a:r>
              <a:rPr dirty="0" err="1"/>
              <a:t>contrôle</a:t>
            </a:r>
            <a:r>
              <a:rPr dirty="0"/>
              <a:t> </a:t>
            </a:r>
            <a:r>
              <a:rPr dirty="0" err="1"/>
              <a:t>qualité</a:t>
            </a:r>
            <a:r>
              <a:rPr dirty="0"/>
              <a:t> </a:t>
            </a:r>
            <a:r>
              <a:rPr dirty="0" err="1"/>
              <a:t>rigoureux</a:t>
            </a:r>
            <a:endParaRPr dirty="0"/>
          </a:p>
          <a:p>
            <a:pPr algn="l">
              <a:spcAft>
                <a:spcPts val="200"/>
              </a:spcAft>
              <a:defRPr sz="600" b="0">
                <a:solidFill>
                  <a:srgbClr val="2D2D2D"/>
                </a:solidFill>
                <a:latin typeface="Comfortaa"/>
              </a:defRPr>
            </a:pPr>
            <a:endParaRPr dirty="0"/>
          </a:p>
          <a:p>
            <a:pPr algn="l">
              <a:spcAft>
                <a:spcPts val="500"/>
              </a:spcAft>
              <a:defRPr sz="1300" b="0">
                <a:solidFill>
                  <a:srgbClr val="2D2D2D"/>
                </a:solidFill>
                <a:latin typeface="Comfortaa"/>
              </a:defRPr>
            </a:pPr>
            <a:r>
              <a:rPr dirty="0"/>
              <a:t>Feature engineering sur variables </a:t>
            </a:r>
            <a:r>
              <a:rPr dirty="0" err="1"/>
              <a:t>comportementales</a:t>
            </a:r>
            <a:endParaRPr dirty="0"/>
          </a:p>
          <a:p>
            <a:pPr algn="l">
              <a:spcAft>
                <a:spcPts val="200"/>
              </a:spcAft>
              <a:defRPr sz="600" b="0">
                <a:solidFill>
                  <a:srgbClr val="2D2D2D"/>
                </a:solidFill>
                <a:latin typeface="Comfortaa"/>
              </a:defRPr>
            </a:pPr>
            <a:endParaRPr dirty="0"/>
          </a:p>
          <a:p>
            <a:pPr algn="l">
              <a:spcAft>
                <a:spcPts val="500"/>
              </a:spcAft>
              <a:defRPr sz="1300" b="0">
                <a:solidFill>
                  <a:srgbClr val="2D2D2D"/>
                </a:solidFill>
                <a:latin typeface="Comfortaa"/>
              </a:defRPr>
            </a:pPr>
            <a:r>
              <a:rPr dirty="0"/>
              <a:t>Pipeline reproductible et </a:t>
            </a:r>
            <a:r>
              <a:rPr dirty="0" err="1"/>
              <a:t>traçable</a:t>
            </a:r>
            <a:endParaRPr dirty="0"/>
          </a:p>
          <a:p>
            <a:pPr algn="l">
              <a:spcAft>
                <a:spcPts val="200"/>
              </a:spcAft>
              <a:defRPr sz="600" b="0">
                <a:solidFill>
                  <a:srgbClr val="2D2D2D"/>
                </a:solidFill>
                <a:latin typeface="Comfortaa"/>
              </a:defRPr>
            </a:pPr>
            <a:endParaRPr dirty="0"/>
          </a:p>
          <a:p>
            <a:pPr algn="l">
              <a:spcAft>
                <a:spcPts val="500"/>
              </a:spcAft>
              <a:defRPr sz="1300" b="0">
                <a:solidFill>
                  <a:srgbClr val="2D2D2D"/>
                </a:solidFill>
                <a:latin typeface="Comfortaa"/>
              </a:defRPr>
            </a:pPr>
            <a:r>
              <a:rPr dirty="0"/>
              <a:t>Interface de </a:t>
            </a:r>
            <a:r>
              <a:rPr dirty="0" err="1"/>
              <a:t>visualisation</a:t>
            </a:r>
            <a:r>
              <a:rPr dirty="0"/>
              <a:t> pour non-</a:t>
            </a:r>
            <a:r>
              <a:rPr dirty="0" err="1"/>
              <a:t>informaticiens</a:t>
            </a:r>
            <a:endParaRPr dirty="0"/>
          </a:p>
          <a:p>
            <a:pPr algn="l">
              <a:spcAft>
                <a:spcPts val="300"/>
              </a:spcAft>
              <a:defRPr sz="800" b="0">
                <a:solidFill>
                  <a:srgbClr val="2D2D2D"/>
                </a:solidFill>
                <a:latin typeface="Comfortaa"/>
              </a:defRPr>
            </a:pP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Progression proposée</a:t>
            </a:r>
          </a:p>
        </p:txBody>
      </p:sp>
      <p:sp>
        <p:nvSpPr>
          <p:cNvPr id="4" name="TextBox 3"/>
          <p:cNvSpPr txBox="1"/>
          <p:nvPr/>
        </p:nvSpPr>
        <p:spPr>
          <a:xfrm>
            <a:off x="1097280" y="1828800"/>
            <a:ext cx="365760" cy="320040"/>
          </a:xfrm>
          <a:prstGeom prst="rect">
            <a:avLst/>
          </a:prstGeom>
          <a:noFill/>
        </p:spPr>
        <p:txBody>
          <a:bodyPr wrap="square">
            <a:spAutoFit/>
          </a:bodyPr>
          <a:lstStyle/>
          <a:p>
            <a:pPr algn="ctr">
              <a:defRPr sz="1400" b="1">
                <a:solidFill>
                  <a:srgbClr val="C1272D"/>
                </a:solidFill>
                <a:latin typeface="Comfortaa"/>
              </a:defRPr>
            </a:pPr>
            <a:r>
              <a:t>1</a:t>
            </a:r>
          </a:p>
        </p:txBody>
      </p:sp>
      <p:sp>
        <p:nvSpPr>
          <p:cNvPr id="5" name="TextBox 4"/>
          <p:cNvSpPr txBox="1"/>
          <p:nvPr/>
        </p:nvSpPr>
        <p:spPr>
          <a:xfrm>
            <a:off x="1645920" y="1828800"/>
            <a:ext cx="4572000" cy="320040"/>
          </a:xfrm>
          <a:prstGeom prst="rect">
            <a:avLst/>
          </a:prstGeom>
          <a:noFill/>
        </p:spPr>
        <p:txBody>
          <a:bodyPr wrap="square">
            <a:spAutoFit/>
          </a:bodyPr>
          <a:lstStyle/>
          <a:p>
            <a:pPr algn="l">
              <a:defRPr sz="1300" b="0">
                <a:solidFill>
                  <a:srgbClr val="2D2D2D"/>
                </a:solidFill>
                <a:latin typeface="Comfortaa"/>
              </a:defRPr>
            </a:pPr>
            <a:r>
              <a:t>Audit et harmonisation des données</a:t>
            </a:r>
          </a:p>
        </p:txBody>
      </p:sp>
      <p:sp>
        <p:nvSpPr>
          <p:cNvPr id="6" name="TextBox 5"/>
          <p:cNvSpPr txBox="1"/>
          <p:nvPr/>
        </p:nvSpPr>
        <p:spPr>
          <a:xfrm>
            <a:off x="6400800" y="1828800"/>
            <a:ext cx="2286000" cy="320040"/>
          </a:xfrm>
          <a:prstGeom prst="rect">
            <a:avLst/>
          </a:prstGeom>
          <a:noFill/>
        </p:spPr>
        <p:txBody>
          <a:bodyPr wrap="square">
            <a:spAutoFit/>
          </a:bodyPr>
          <a:lstStyle/>
          <a:p>
            <a:pPr algn="r">
              <a:defRPr sz="1000" b="1">
                <a:solidFill>
                  <a:srgbClr val="2E7D32"/>
                </a:solidFill>
                <a:latin typeface="Comfortaa"/>
              </a:defRPr>
            </a:pPr>
            <a:r>
              <a:t>En cours</a:t>
            </a:r>
          </a:p>
        </p:txBody>
      </p:sp>
      <p:sp>
        <p:nvSpPr>
          <p:cNvPr id="7" name="TextBox 6"/>
          <p:cNvSpPr txBox="1"/>
          <p:nvPr/>
        </p:nvSpPr>
        <p:spPr>
          <a:xfrm>
            <a:off x="1097280" y="2331720"/>
            <a:ext cx="365760" cy="320040"/>
          </a:xfrm>
          <a:prstGeom prst="rect">
            <a:avLst/>
          </a:prstGeom>
          <a:noFill/>
        </p:spPr>
        <p:txBody>
          <a:bodyPr wrap="square">
            <a:spAutoFit/>
          </a:bodyPr>
          <a:lstStyle/>
          <a:p>
            <a:pPr algn="ctr">
              <a:defRPr sz="1400" b="1">
                <a:solidFill>
                  <a:srgbClr val="C1272D"/>
                </a:solidFill>
                <a:latin typeface="Comfortaa"/>
              </a:defRPr>
            </a:pPr>
            <a:r>
              <a:t>2</a:t>
            </a:r>
          </a:p>
        </p:txBody>
      </p:sp>
      <p:sp>
        <p:nvSpPr>
          <p:cNvPr id="8" name="TextBox 7"/>
          <p:cNvSpPr txBox="1"/>
          <p:nvPr/>
        </p:nvSpPr>
        <p:spPr>
          <a:xfrm>
            <a:off x="1645920" y="2331720"/>
            <a:ext cx="4572000" cy="320040"/>
          </a:xfrm>
          <a:prstGeom prst="rect">
            <a:avLst/>
          </a:prstGeom>
          <a:noFill/>
        </p:spPr>
        <p:txBody>
          <a:bodyPr wrap="square">
            <a:spAutoFit/>
          </a:bodyPr>
          <a:lstStyle/>
          <a:p>
            <a:pPr algn="l">
              <a:defRPr sz="1300" b="0">
                <a:solidFill>
                  <a:srgbClr val="2D2D2D"/>
                </a:solidFill>
                <a:latin typeface="Comfortaa"/>
              </a:defRPr>
            </a:pPr>
            <a:r>
              <a:t>Reproduction des résultats de Cellier et al.</a:t>
            </a:r>
          </a:p>
        </p:txBody>
      </p:sp>
      <p:sp>
        <p:nvSpPr>
          <p:cNvPr id="9" name="TextBox 8"/>
          <p:cNvSpPr txBox="1"/>
          <p:nvPr/>
        </p:nvSpPr>
        <p:spPr>
          <a:xfrm>
            <a:off x="6400800" y="2331720"/>
            <a:ext cx="2286000" cy="320040"/>
          </a:xfrm>
          <a:prstGeom prst="rect">
            <a:avLst/>
          </a:prstGeom>
          <a:noFill/>
        </p:spPr>
        <p:txBody>
          <a:bodyPr wrap="square">
            <a:spAutoFit/>
          </a:bodyPr>
          <a:lstStyle/>
          <a:p>
            <a:pPr algn="r">
              <a:defRPr sz="1000" b="1">
                <a:solidFill>
                  <a:srgbClr val="0070C0"/>
                </a:solidFill>
                <a:latin typeface="Comfortaa"/>
              </a:defRPr>
            </a:pPr>
            <a:r>
              <a:t>Prochaine étape</a:t>
            </a:r>
          </a:p>
        </p:txBody>
      </p:sp>
      <p:sp>
        <p:nvSpPr>
          <p:cNvPr id="10" name="TextBox 9"/>
          <p:cNvSpPr txBox="1"/>
          <p:nvPr/>
        </p:nvSpPr>
        <p:spPr>
          <a:xfrm>
            <a:off x="1097280" y="2834639"/>
            <a:ext cx="365760" cy="320040"/>
          </a:xfrm>
          <a:prstGeom prst="rect">
            <a:avLst/>
          </a:prstGeom>
          <a:noFill/>
        </p:spPr>
        <p:txBody>
          <a:bodyPr wrap="square">
            <a:spAutoFit/>
          </a:bodyPr>
          <a:lstStyle/>
          <a:p>
            <a:pPr algn="ctr">
              <a:defRPr sz="1400" b="1">
                <a:solidFill>
                  <a:srgbClr val="C1272D"/>
                </a:solidFill>
                <a:latin typeface="Comfortaa"/>
              </a:defRPr>
            </a:pPr>
            <a:r>
              <a:t>3</a:t>
            </a:r>
          </a:p>
        </p:txBody>
      </p:sp>
      <p:sp>
        <p:nvSpPr>
          <p:cNvPr id="11" name="TextBox 10"/>
          <p:cNvSpPr txBox="1"/>
          <p:nvPr/>
        </p:nvSpPr>
        <p:spPr>
          <a:xfrm>
            <a:off x="1645920" y="2834639"/>
            <a:ext cx="4572000" cy="320040"/>
          </a:xfrm>
          <a:prstGeom prst="rect">
            <a:avLst/>
          </a:prstGeom>
          <a:noFill/>
        </p:spPr>
        <p:txBody>
          <a:bodyPr wrap="square">
            <a:spAutoFit/>
          </a:bodyPr>
          <a:lstStyle/>
          <a:p>
            <a:pPr algn="l">
              <a:defRPr sz="1300" b="0">
                <a:solidFill>
                  <a:srgbClr val="2D2D2D"/>
                </a:solidFill>
                <a:latin typeface="Comfortaa"/>
              </a:defRPr>
            </a:pPr>
            <a:r>
              <a:t>Intégration environnement + observations</a:t>
            </a:r>
          </a:p>
        </p:txBody>
      </p:sp>
      <p:sp>
        <p:nvSpPr>
          <p:cNvPr id="12" name="TextBox 11"/>
          <p:cNvSpPr txBox="1"/>
          <p:nvPr/>
        </p:nvSpPr>
        <p:spPr>
          <a:xfrm>
            <a:off x="6400800" y="2834639"/>
            <a:ext cx="2286000" cy="320040"/>
          </a:xfrm>
          <a:prstGeom prst="rect">
            <a:avLst/>
          </a:prstGeom>
          <a:noFill/>
        </p:spPr>
        <p:txBody>
          <a:bodyPr wrap="square">
            <a:spAutoFit/>
          </a:bodyPr>
          <a:lstStyle/>
          <a:p>
            <a:pPr algn="r">
              <a:defRPr sz="1000" b="1">
                <a:solidFill>
                  <a:srgbClr val="777777"/>
                </a:solidFill>
                <a:latin typeface="Comfortaa"/>
              </a:defRPr>
            </a:pPr>
            <a:r>
              <a:t>Dépend de vos données</a:t>
            </a:r>
          </a:p>
        </p:txBody>
      </p:sp>
      <p:sp>
        <p:nvSpPr>
          <p:cNvPr id="13" name="TextBox 12"/>
          <p:cNvSpPr txBox="1"/>
          <p:nvPr/>
        </p:nvSpPr>
        <p:spPr>
          <a:xfrm>
            <a:off x="1097280" y="3337559"/>
            <a:ext cx="365760" cy="320040"/>
          </a:xfrm>
          <a:prstGeom prst="rect">
            <a:avLst/>
          </a:prstGeom>
          <a:noFill/>
        </p:spPr>
        <p:txBody>
          <a:bodyPr wrap="square">
            <a:spAutoFit/>
          </a:bodyPr>
          <a:lstStyle/>
          <a:p>
            <a:pPr algn="ctr">
              <a:defRPr sz="1400" b="1">
                <a:solidFill>
                  <a:srgbClr val="C1272D"/>
                </a:solidFill>
                <a:latin typeface="Comfortaa"/>
              </a:defRPr>
            </a:pPr>
            <a:r>
              <a:t>4</a:t>
            </a:r>
          </a:p>
        </p:txBody>
      </p:sp>
      <p:sp>
        <p:nvSpPr>
          <p:cNvPr id="14" name="TextBox 13"/>
          <p:cNvSpPr txBox="1"/>
          <p:nvPr/>
        </p:nvSpPr>
        <p:spPr>
          <a:xfrm>
            <a:off x="1645920" y="3337559"/>
            <a:ext cx="4572000" cy="320040"/>
          </a:xfrm>
          <a:prstGeom prst="rect">
            <a:avLst/>
          </a:prstGeom>
          <a:noFill/>
        </p:spPr>
        <p:txBody>
          <a:bodyPr wrap="square">
            <a:spAutoFit/>
          </a:bodyPr>
          <a:lstStyle/>
          <a:p>
            <a:pPr algn="l">
              <a:defRPr sz="1300" b="0">
                <a:solidFill>
                  <a:srgbClr val="2D2D2D"/>
                </a:solidFill>
                <a:latin typeface="Comfortaa"/>
              </a:defRPr>
            </a:pPr>
            <a:r>
              <a:t>Enrichissement analytique (si signaux bruts)</a:t>
            </a:r>
          </a:p>
        </p:txBody>
      </p:sp>
      <p:sp>
        <p:nvSpPr>
          <p:cNvPr id="15" name="TextBox 14"/>
          <p:cNvSpPr txBox="1"/>
          <p:nvPr/>
        </p:nvSpPr>
        <p:spPr>
          <a:xfrm>
            <a:off x="6400800" y="3337559"/>
            <a:ext cx="2286000" cy="320040"/>
          </a:xfrm>
          <a:prstGeom prst="rect">
            <a:avLst/>
          </a:prstGeom>
          <a:noFill/>
        </p:spPr>
        <p:txBody>
          <a:bodyPr wrap="square">
            <a:spAutoFit/>
          </a:bodyPr>
          <a:lstStyle/>
          <a:p>
            <a:pPr algn="r">
              <a:defRPr sz="1000" b="1">
                <a:solidFill>
                  <a:srgbClr val="777777"/>
                </a:solidFill>
                <a:latin typeface="Comfortaa"/>
              </a:defRPr>
            </a:pPr>
            <a:r>
              <a:t>Conditionnel</a:t>
            </a:r>
          </a:p>
        </p:txBody>
      </p:sp>
      <p:sp>
        <p:nvSpPr>
          <p:cNvPr id="16" name="TextBox 15"/>
          <p:cNvSpPr txBox="1"/>
          <p:nvPr/>
        </p:nvSpPr>
        <p:spPr>
          <a:xfrm>
            <a:off x="1097280" y="3840479"/>
            <a:ext cx="365760" cy="320040"/>
          </a:xfrm>
          <a:prstGeom prst="rect">
            <a:avLst/>
          </a:prstGeom>
          <a:noFill/>
        </p:spPr>
        <p:txBody>
          <a:bodyPr wrap="square">
            <a:spAutoFit/>
          </a:bodyPr>
          <a:lstStyle/>
          <a:p>
            <a:pPr algn="ctr">
              <a:defRPr sz="1400" b="1">
                <a:solidFill>
                  <a:srgbClr val="C1272D"/>
                </a:solidFill>
                <a:latin typeface="Comfortaa"/>
              </a:defRPr>
            </a:pPr>
            <a:r>
              <a:t>5</a:t>
            </a:r>
          </a:p>
        </p:txBody>
      </p:sp>
      <p:sp>
        <p:nvSpPr>
          <p:cNvPr id="17" name="TextBox 16"/>
          <p:cNvSpPr txBox="1"/>
          <p:nvPr/>
        </p:nvSpPr>
        <p:spPr>
          <a:xfrm>
            <a:off x="1645920" y="3840479"/>
            <a:ext cx="4572000" cy="320040"/>
          </a:xfrm>
          <a:prstGeom prst="rect">
            <a:avLst/>
          </a:prstGeom>
          <a:noFill/>
        </p:spPr>
        <p:txBody>
          <a:bodyPr wrap="square">
            <a:spAutoFit/>
          </a:bodyPr>
          <a:lstStyle/>
          <a:p>
            <a:pPr algn="l">
              <a:defRPr sz="1300" b="0">
                <a:solidFill>
                  <a:srgbClr val="2D2D2D"/>
                </a:solidFill>
                <a:latin typeface="Comfortaa"/>
              </a:defRPr>
            </a:pPr>
            <a:r>
              <a:t>Notebook final reproductible et transférable</a:t>
            </a:r>
          </a:p>
        </p:txBody>
      </p:sp>
      <p:sp>
        <p:nvSpPr>
          <p:cNvPr id="18" name="TextBox 17"/>
          <p:cNvSpPr txBox="1"/>
          <p:nvPr/>
        </p:nvSpPr>
        <p:spPr>
          <a:xfrm>
            <a:off x="6400800" y="3840479"/>
            <a:ext cx="2286000" cy="320040"/>
          </a:xfrm>
          <a:prstGeom prst="rect">
            <a:avLst/>
          </a:prstGeom>
          <a:noFill/>
        </p:spPr>
        <p:txBody>
          <a:bodyPr wrap="square">
            <a:spAutoFit/>
          </a:bodyPr>
          <a:lstStyle/>
          <a:p>
            <a:pPr algn="r">
              <a:defRPr sz="1000" b="1">
                <a:solidFill>
                  <a:srgbClr val="C1272D"/>
                </a:solidFill>
                <a:latin typeface="Comfortaa"/>
              </a:defRPr>
            </a:pPr>
            <a:r>
              <a:t>Livrable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6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914400" y="1097280"/>
            <a:ext cx="7315200" cy="457200"/>
          </a:xfrm>
          <a:prstGeom prst="rect">
            <a:avLst/>
          </a:prstGeom>
          <a:noFill/>
        </p:spPr>
        <p:txBody>
          <a:bodyPr wrap="square">
            <a:spAutoFit/>
          </a:bodyPr>
          <a:lstStyle/>
          <a:p>
            <a:pPr algn="l">
              <a:defRPr sz="2000" b="1">
                <a:solidFill>
                  <a:srgbClr val="C1272D"/>
                </a:solidFill>
                <a:latin typeface="Comfortaa"/>
              </a:defRPr>
            </a:pPr>
            <a:r>
              <a:t>Questions pour avancer</a:t>
            </a:r>
          </a:p>
        </p:txBody>
      </p:sp>
      <p:sp>
        <p:nvSpPr>
          <p:cNvPr id="4" name="TextBox 3"/>
          <p:cNvSpPr txBox="1"/>
          <p:nvPr/>
        </p:nvSpPr>
        <p:spPr>
          <a:xfrm>
            <a:off x="1097280" y="1828800"/>
            <a:ext cx="3474720" cy="1959511"/>
          </a:xfrm>
          <a:prstGeom prst="rect">
            <a:avLst/>
          </a:prstGeom>
          <a:noFill/>
        </p:spPr>
        <p:txBody>
          <a:bodyPr wrap="square">
            <a:spAutoFit/>
          </a:bodyPr>
          <a:lstStyle/>
          <a:p>
            <a:pPr algn="l">
              <a:spcAft>
                <a:spcPts val="500"/>
              </a:spcAft>
              <a:defRPr sz="1400" b="1">
                <a:solidFill>
                  <a:srgbClr val="0070C0"/>
                </a:solidFill>
                <a:latin typeface="Comfortaa"/>
              </a:defRPr>
            </a:pPr>
            <a:r>
              <a:rPr dirty="0"/>
              <a:t>Sur les données</a:t>
            </a:r>
          </a:p>
          <a:p>
            <a:pPr algn="l">
              <a:spcAft>
                <a:spcPts val="100"/>
              </a:spcAft>
              <a:defRPr sz="400" b="0">
                <a:solidFill>
                  <a:srgbClr val="2D2D2D"/>
                </a:solidFill>
                <a:latin typeface="Comfortaa"/>
              </a:defRPr>
            </a:pPr>
            <a:endParaRPr dirty="0"/>
          </a:p>
          <a:p>
            <a:pPr algn="l">
              <a:spcAft>
                <a:spcPts val="400"/>
              </a:spcAft>
              <a:defRPr sz="1200" b="0">
                <a:solidFill>
                  <a:srgbClr val="2D2D2D"/>
                </a:solidFill>
                <a:latin typeface="Comfortaa"/>
              </a:defRPr>
            </a:pPr>
            <a:r>
              <a:rPr dirty="0" err="1"/>
              <a:t>Signaux</a:t>
            </a:r>
            <a:r>
              <a:rPr dirty="0"/>
              <a:t> </a:t>
            </a:r>
            <a:r>
              <a:rPr dirty="0" err="1"/>
              <a:t>IceTag</a:t>
            </a:r>
            <a:r>
              <a:rPr dirty="0"/>
              <a:t> </a:t>
            </a:r>
            <a:r>
              <a:rPr dirty="0" err="1"/>
              <a:t>bruts</a:t>
            </a:r>
            <a:r>
              <a:rPr dirty="0"/>
              <a:t> (1-min)</a:t>
            </a:r>
          </a:p>
          <a:p>
            <a:pPr algn="l">
              <a:spcAft>
                <a:spcPts val="400"/>
              </a:spcAft>
              <a:defRPr sz="1200" b="0">
                <a:solidFill>
                  <a:srgbClr val="2D2D2D"/>
                </a:solidFill>
                <a:latin typeface="Comfortaa"/>
              </a:defRPr>
            </a:pPr>
            <a:r>
              <a:rPr dirty="0" err="1"/>
              <a:t>disponibles</a:t>
            </a:r>
            <a:r>
              <a:rPr dirty="0"/>
              <a:t> ?</a:t>
            </a:r>
            <a:r>
              <a:rPr lang="fr-FR" dirty="0"/>
              <a:t> Oui</a:t>
            </a:r>
            <a:endParaRPr dirty="0"/>
          </a:p>
          <a:p>
            <a:pPr algn="l">
              <a:spcAft>
                <a:spcPts val="100"/>
              </a:spcAft>
              <a:defRPr sz="400" b="0">
                <a:solidFill>
                  <a:srgbClr val="2D2D2D"/>
                </a:solidFill>
                <a:latin typeface="Comfortaa"/>
              </a:defRPr>
            </a:pPr>
            <a:endParaRPr dirty="0"/>
          </a:p>
          <a:p>
            <a:pPr algn="l">
              <a:spcAft>
                <a:spcPts val="400"/>
              </a:spcAft>
              <a:defRPr sz="1200" b="0">
                <a:solidFill>
                  <a:srgbClr val="2D2D2D"/>
                </a:solidFill>
                <a:latin typeface="Comfortaa"/>
              </a:defRPr>
            </a:pPr>
            <a:r>
              <a:rPr dirty="0" err="1"/>
              <a:t>Température</a:t>
            </a:r>
            <a:r>
              <a:rPr dirty="0"/>
              <a:t>, </a:t>
            </a:r>
            <a:r>
              <a:rPr dirty="0" err="1"/>
              <a:t>humidité</a:t>
            </a:r>
            <a:r>
              <a:rPr dirty="0"/>
              <a:t> :</a:t>
            </a:r>
          </a:p>
          <a:p>
            <a:pPr algn="l">
              <a:spcAft>
                <a:spcPts val="400"/>
              </a:spcAft>
              <a:defRPr sz="1200" b="0">
                <a:solidFill>
                  <a:srgbClr val="2D2D2D"/>
                </a:solidFill>
                <a:latin typeface="Comfortaa"/>
              </a:defRPr>
            </a:pPr>
            <a:r>
              <a:rPr dirty="0"/>
              <a:t>format et </a:t>
            </a:r>
            <a:r>
              <a:rPr dirty="0" err="1"/>
              <a:t>fréquence</a:t>
            </a:r>
            <a:r>
              <a:rPr dirty="0"/>
              <a:t> ?</a:t>
            </a:r>
          </a:p>
          <a:p>
            <a:pPr algn="l">
              <a:spcAft>
                <a:spcPts val="100"/>
              </a:spcAft>
              <a:defRPr sz="400" b="0">
                <a:solidFill>
                  <a:srgbClr val="2D2D2D"/>
                </a:solidFill>
                <a:latin typeface="Comfortaa"/>
              </a:defRPr>
            </a:pPr>
            <a:endParaRPr dirty="0"/>
          </a:p>
          <a:p>
            <a:pPr algn="l">
              <a:spcAft>
                <a:spcPts val="400"/>
              </a:spcAft>
              <a:defRPr sz="1200" b="0">
                <a:solidFill>
                  <a:srgbClr val="2D2D2D"/>
                </a:solidFill>
                <a:latin typeface="Comfortaa"/>
              </a:defRPr>
            </a:pPr>
            <a:r>
              <a:rPr dirty="0"/>
              <a:t>Observations </a:t>
            </a:r>
            <a:r>
              <a:rPr dirty="0" err="1"/>
              <a:t>comportementales</a:t>
            </a:r>
            <a:r>
              <a:rPr dirty="0"/>
              <a:t> :</a:t>
            </a:r>
          </a:p>
          <a:p>
            <a:pPr algn="l">
              <a:spcAft>
                <a:spcPts val="400"/>
              </a:spcAft>
              <a:defRPr sz="1200" b="0">
                <a:solidFill>
                  <a:srgbClr val="2D2D2D"/>
                </a:solidFill>
                <a:latin typeface="Comfortaa"/>
              </a:defRPr>
            </a:pPr>
            <a:r>
              <a:rPr dirty="0" err="1"/>
              <a:t>éthogramme</a:t>
            </a:r>
            <a:r>
              <a:rPr dirty="0"/>
              <a:t> </a:t>
            </a:r>
            <a:r>
              <a:rPr dirty="0" err="1"/>
              <a:t>codé</a:t>
            </a:r>
            <a:r>
              <a:rPr dirty="0"/>
              <a:t> ?</a:t>
            </a:r>
          </a:p>
        </p:txBody>
      </p:sp>
      <p:sp>
        <p:nvSpPr>
          <p:cNvPr id="5" name="TextBox 4"/>
          <p:cNvSpPr txBox="1"/>
          <p:nvPr/>
        </p:nvSpPr>
        <p:spPr>
          <a:xfrm>
            <a:off x="5029200" y="1828800"/>
            <a:ext cx="3474720" cy="2743200"/>
          </a:xfrm>
          <a:prstGeom prst="rect">
            <a:avLst/>
          </a:prstGeom>
          <a:noFill/>
        </p:spPr>
        <p:txBody>
          <a:bodyPr wrap="square">
            <a:spAutoFit/>
          </a:bodyPr>
          <a:lstStyle/>
          <a:p>
            <a:pPr algn="l">
              <a:spcAft>
                <a:spcPts val="500"/>
              </a:spcAft>
              <a:defRPr sz="1400" b="1">
                <a:solidFill>
                  <a:srgbClr val="0070C0"/>
                </a:solidFill>
                <a:latin typeface="Comfortaa"/>
              </a:defRPr>
            </a:pPr>
            <a:r>
              <a:t>Sur le projet</a:t>
            </a:r>
          </a:p>
          <a:p>
            <a:pPr algn="l">
              <a:spcAft>
                <a:spcPts val="100"/>
              </a:spcAft>
              <a:defRPr sz="400" b="0">
                <a:solidFill>
                  <a:srgbClr val="2D2D2D"/>
                </a:solidFill>
                <a:latin typeface="Comfortaa"/>
              </a:defRPr>
            </a:pPr>
            <a:endParaRPr/>
          </a:p>
          <a:p>
            <a:pPr algn="l">
              <a:spcAft>
                <a:spcPts val="400"/>
              </a:spcAft>
              <a:defRPr sz="1200" b="0">
                <a:solidFill>
                  <a:srgbClr val="2D2D2D"/>
                </a:solidFill>
                <a:latin typeface="Comfortaa"/>
              </a:defRPr>
            </a:pPr>
            <a:r>
              <a:t>Objectif explicatif</a:t>
            </a:r>
          </a:p>
          <a:p>
            <a:pPr algn="l">
              <a:spcAft>
                <a:spcPts val="400"/>
              </a:spcAft>
              <a:defRPr sz="1200" b="0">
                <a:solidFill>
                  <a:srgbClr val="2D2D2D"/>
                </a:solidFill>
                <a:latin typeface="Comfortaa"/>
              </a:defRPr>
            </a:pPr>
            <a:r>
              <a:t>ou prédictif ?</a:t>
            </a:r>
          </a:p>
          <a:p>
            <a:pPr algn="l">
              <a:spcAft>
                <a:spcPts val="100"/>
              </a:spcAft>
              <a:defRPr sz="400" b="0">
                <a:solidFill>
                  <a:srgbClr val="2D2D2D"/>
                </a:solidFill>
                <a:latin typeface="Comfortaa"/>
              </a:defRPr>
            </a:pPr>
            <a:endParaRPr/>
          </a:p>
          <a:p>
            <a:pPr algn="l">
              <a:spcAft>
                <a:spcPts val="400"/>
              </a:spcAft>
              <a:defRPr sz="1200" b="0">
                <a:solidFill>
                  <a:srgbClr val="2D2D2D"/>
                </a:solidFill>
                <a:latin typeface="Comfortaa"/>
              </a:defRPr>
            </a:pPr>
            <a:r>
              <a:t>Public cible du notebook ?</a:t>
            </a:r>
          </a:p>
          <a:p>
            <a:pPr algn="l">
              <a:spcAft>
                <a:spcPts val="100"/>
              </a:spcAft>
              <a:defRPr sz="400" b="0">
                <a:solidFill>
                  <a:srgbClr val="2D2D2D"/>
                </a:solidFill>
                <a:latin typeface="Comfortaa"/>
              </a:defRPr>
            </a:pPr>
            <a:endParaRPr/>
          </a:p>
          <a:p>
            <a:pPr algn="l">
              <a:spcAft>
                <a:spcPts val="400"/>
              </a:spcAft>
              <a:defRPr sz="1200" b="0">
                <a:solidFill>
                  <a:srgbClr val="2D2D2D"/>
                </a:solidFill>
                <a:latin typeface="Comfortaa"/>
              </a:defRPr>
            </a:pPr>
            <a:r>
              <a:t>Priorités de l'équipe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_bg.jpg"/>
          <p:cNvPicPr>
            <a:picLocks noChangeAspect="1"/>
          </p:cNvPicPr>
          <p:nvPr/>
        </p:nvPicPr>
        <p:blipFill>
          <a:blip r:embed="rId3"/>
          <a:stretch>
            <a:fillRect/>
          </a:stretch>
        </p:blipFill>
        <p:spPr>
          <a:xfrm>
            <a:off x="0" y="0"/>
            <a:ext cx="9144000" cy="5143500"/>
          </a:xfrm>
          <a:prstGeom prst="rect">
            <a:avLst/>
          </a:prstGeom>
        </p:spPr>
      </p:pic>
      <p:sp>
        <p:nvSpPr>
          <p:cNvPr id="3" name="TextBox 2"/>
          <p:cNvSpPr txBox="1"/>
          <p:nvPr/>
        </p:nvSpPr>
        <p:spPr>
          <a:xfrm>
            <a:off x="731520" y="2377440"/>
            <a:ext cx="7680960" cy="640080"/>
          </a:xfrm>
          <a:prstGeom prst="rect">
            <a:avLst/>
          </a:prstGeom>
          <a:noFill/>
        </p:spPr>
        <p:txBody>
          <a:bodyPr wrap="square">
            <a:spAutoFit/>
          </a:bodyPr>
          <a:lstStyle/>
          <a:p>
            <a:pPr algn="ctr">
              <a:defRPr sz="2800" b="1">
                <a:solidFill>
                  <a:srgbClr val="2D2D2D"/>
                </a:solidFill>
                <a:latin typeface="Comfortaa"/>
              </a:defRPr>
            </a:pPr>
            <a:r>
              <a:t>Merci !</a:t>
            </a:r>
          </a:p>
        </p:txBody>
      </p:sp>
      <p:sp>
        <p:nvSpPr>
          <p:cNvPr id="4" name="TextBox 3"/>
          <p:cNvSpPr txBox="1"/>
          <p:nvPr/>
        </p:nvSpPr>
        <p:spPr>
          <a:xfrm>
            <a:off x="731520" y="3017520"/>
            <a:ext cx="7680960" cy="365760"/>
          </a:xfrm>
          <a:prstGeom prst="rect">
            <a:avLst/>
          </a:prstGeom>
          <a:noFill/>
        </p:spPr>
        <p:txBody>
          <a:bodyPr wrap="square">
            <a:spAutoFit/>
          </a:bodyPr>
          <a:lstStyle/>
          <a:p>
            <a:pPr algn="ctr">
              <a:defRPr sz="1400" b="0">
                <a:solidFill>
                  <a:srgbClr val="777777"/>
                </a:solidFill>
                <a:latin typeface="Comfortaa"/>
              </a:defRPr>
            </a:pPr>
            <a:r>
              <a:t>Questions et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1532</Words>
  <Application>Microsoft Macintosh PowerPoint</Application>
  <PresentationFormat>Affichage à l'écran (16:9)</PresentationFormat>
  <Paragraphs>203</Paragraphs>
  <Slides>17</Slides>
  <Notes>17</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17</vt:i4>
      </vt:variant>
    </vt:vector>
  </HeadingPairs>
  <TitlesOfParts>
    <vt:vector size="20"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Barry, Aliou</cp:lastModifiedBy>
  <cp:revision>2</cp:revision>
  <dcterms:created xsi:type="dcterms:W3CDTF">2013-01-27T09:14:16Z</dcterms:created>
  <dcterms:modified xsi:type="dcterms:W3CDTF">2026-04-13T15:38:29Z</dcterms:modified>
  <cp:category/>
</cp:coreProperties>
</file>